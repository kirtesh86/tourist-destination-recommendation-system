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35c1054c4a4ae9" /><Relationship Type="http://schemas.openxmlformats.org/officeDocument/2006/relationships/extended-properties" Target="/docProps/app.xml" Id="R87ebc91053064832" /><Relationship Type="http://schemas.openxmlformats.org/officeDocument/2006/relationships/officeDocument" Target="/ppt/presentation.xml" Id="R54d950b1b07a4b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3e701fd7b34704"/>
  </p:sldMasterIdLst>
  <p:notesMasterIdLst>
    <p:notesMasterId xmlns:r="http://schemas.openxmlformats.org/officeDocument/2006/relationships" r:id="Rb90c6af2a72d4e9f"/>
  </p:notesMasterIdLst>
  <p:sldIdLst>
    <p:sldId xmlns:r="http://schemas.openxmlformats.org/officeDocument/2006/relationships" id="256" r:id="Rb7d0776ad4914931"/>
    <p:sldId xmlns:r="http://schemas.openxmlformats.org/officeDocument/2006/relationships" id="257" r:id="R918a2b543ef1400c"/>
    <p:sldId xmlns:r="http://schemas.openxmlformats.org/officeDocument/2006/relationships" id="258" r:id="R5376c93f00724642"/>
    <p:sldId xmlns:r="http://schemas.openxmlformats.org/officeDocument/2006/relationships" id="259" r:id="Rd692aea97cdb44d2"/>
    <p:sldId xmlns:r="http://schemas.openxmlformats.org/officeDocument/2006/relationships" id="260" r:id="Rb5541f0a6a614f08"/>
    <p:sldId xmlns:r="http://schemas.openxmlformats.org/officeDocument/2006/relationships" id="261" r:id="R3544e1401a004304"/>
    <p:sldId xmlns:r="http://schemas.openxmlformats.org/officeDocument/2006/relationships" id="262" r:id="R8b68ee97eda74d70"/>
    <p:sldId xmlns:r="http://schemas.openxmlformats.org/officeDocument/2006/relationships" id="263" r:id="R33beca4bf6524f63"/>
    <p:sldId xmlns:r="http://schemas.openxmlformats.org/officeDocument/2006/relationships" id="264" r:id="R3aadbf3711ac4d59"/>
    <p:sldId xmlns:r="http://schemas.openxmlformats.org/officeDocument/2006/relationships" id="265" r:id="R1513b448e7064c4d"/>
    <p:sldId xmlns:r="http://schemas.openxmlformats.org/officeDocument/2006/relationships" id="266" r:id="Rc968d9819d404907"/>
    <p:sldId xmlns:r="http://schemas.openxmlformats.org/officeDocument/2006/relationships" id="267" r:id="R68daf4d709d347c6"/>
    <p:sldId xmlns:r="http://schemas.openxmlformats.org/officeDocument/2006/relationships" id="268" r:id="Rd2fa993484974886"/>
    <p:sldId xmlns:r="http://schemas.openxmlformats.org/officeDocument/2006/relationships" id="269" r:id="R40fe8524bad64b08"/>
    <p:sldId xmlns:r="http://schemas.openxmlformats.org/officeDocument/2006/relationships" id="270" r:id="R402fc4fdee1a4486"/>
    <p:sldId xmlns:r="http://schemas.openxmlformats.org/officeDocument/2006/relationships" id="271" r:id="R11ea0b0c48734941"/>
    <p:sldId xmlns:r="http://schemas.openxmlformats.org/officeDocument/2006/relationships" id="272" r:id="R2bc57c58e7ba4c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e552f287784d90" /><Relationship Type="http://schemas.openxmlformats.org/officeDocument/2006/relationships/slideMaster" Target="/ppt/slideMasters/slideMaster1.xml" Id="Re33e701fd7b34704" /><Relationship Type="http://schemas.openxmlformats.org/officeDocument/2006/relationships/notesMaster" Target="/ppt/notesMasters/notesMaster1.xml" Id="Rb90c6af2a72d4e9f" /><Relationship Type="http://schemas.openxmlformats.org/officeDocument/2006/relationships/presProps" Target="/ppt/presProps.xml" Id="R27c774356d52443e" /><Relationship Type="http://schemas.openxmlformats.org/officeDocument/2006/relationships/tableStyles" Target="/ppt/tableStyles.xml" Id="R645a365e1cfc48be" /><Relationship Type="http://schemas.openxmlformats.org/officeDocument/2006/relationships/slide" Target="/ppt/slides/slide1.xml" Id="Rb7d0776ad4914931" /><Relationship Type="http://schemas.openxmlformats.org/officeDocument/2006/relationships/slide" Target="/ppt/slides/slide2.xml" Id="R918a2b543ef1400c" /><Relationship Type="http://schemas.openxmlformats.org/officeDocument/2006/relationships/slide" Target="/ppt/slides/slide3.xml" Id="R5376c93f00724642" /><Relationship Type="http://schemas.openxmlformats.org/officeDocument/2006/relationships/slide" Target="/ppt/slides/slide4.xml" Id="Rd692aea97cdb44d2" /><Relationship Type="http://schemas.openxmlformats.org/officeDocument/2006/relationships/slide" Target="/ppt/slides/slide5.xml" Id="Rb5541f0a6a614f08" /><Relationship Type="http://schemas.openxmlformats.org/officeDocument/2006/relationships/slide" Target="/ppt/slides/slide6.xml" Id="R3544e1401a004304" /><Relationship Type="http://schemas.openxmlformats.org/officeDocument/2006/relationships/slide" Target="/ppt/slides/slide7.xml" Id="R8b68ee97eda74d70" /><Relationship Type="http://schemas.openxmlformats.org/officeDocument/2006/relationships/slide" Target="/ppt/slides/slide8.xml" Id="R33beca4bf6524f63" /><Relationship Type="http://schemas.openxmlformats.org/officeDocument/2006/relationships/slide" Target="/ppt/slides/slide9.xml" Id="R3aadbf3711ac4d59" /><Relationship Type="http://schemas.openxmlformats.org/officeDocument/2006/relationships/slide" Target="/ppt/slides/slide10.xml" Id="R1513b448e7064c4d" /><Relationship Type="http://schemas.openxmlformats.org/officeDocument/2006/relationships/slide" Target="/ppt/slides/slide11.xml" Id="Rc968d9819d404907" /><Relationship Type="http://schemas.openxmlformats.org/officeDocument/2006/relationships/slide" Target="/ppt/slides/slide12.xml" Id="R68daf4d709d347c6" /><Relationship Type="http://schemas.openxmlformats.org/officeDocument/2006/relationships/slide" Target="/ppt/slides/slide13.xml" Id="Rd2fa993484974886" /><Relationship Type="http://schemas.openxmlformats.org/officeDocument/2006/relationships/slide" Target="/ppt/slides/slide14.xml" Id="R40fe8524bad64b08" /><Relationship Type="http://schemas.openxmlformats.org/officeDocument/2006/relationships/slide" Target="/ppt/slides/slide15.xml" Id="R402fc4fdee1a4486" /><Relationship Type="http://schemas.openxmlformats.org/officeDocument/2006/relationships/slide" Target="/ppt/slides/slide16.xml" Id="R11ea0b0c48734941" /><Relationship Type="http://schemas.openxmlformats.org/officeDocument/2006/relationships/slide" Target="/ppt/slides/slide17.xml" Id="R2bc57c58e7ba4c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990a4771194b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26e6d03a9a40b5" /><Relationship Type="http://schemas.openxmlformats.org/officeDocument/2006/relationships/notesMaster" Target="/ppt/notesMasters/notesMaster1.xml" Id="R57bafd306f84428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913d0690c94699" /><Relationship Type="http://schemas.openxmlformats.org/officeDocument/2006/relationships/notesMaster" Target="/ppt/notesMasters/notesMaster1.xml" Id="Rf56bceab2ae243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5f30e25f834456" /><Relationship Type="http://schemas.openxmlformats.org/officeDocument/2006/relationships/notesMaster" Target="/ppt/notesMasters/notesMaster1.xml" Id="R02ab91c7875648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b2a17886244625" /><Relationship Type="http://schemas.openxmlformats.org/officeDocument/2006/relationships/notesMaster" Target="/ppt/notesMasters/notesMaster1.xml" Id="R471d7b14eee34a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24a271e2b749bb" /><Relationship Type="http://schemas.openxmlformats.org/officeDocument/2006/relationships/notesMaster" Target="/ppt/notesMasters/notesMaster1.xml" Id="Ra1c7a5b7693549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dd39d0a98044ee" /><Relationship Type="http://schemas.openxmlformats.org/officeDocument/2006/relationships/notesMaster" Target="/ppt/notesMasters/notesMaster1.xml" Id="Rb911b550276243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537f5a17d54504" /><Relationship Type="http://schemas.openxmlformats.org/officeDocument/2006/relationships/notesMaster" Target="/ppt/notesMasters/notesMaster1.xml" Id="Rd5e43423100948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16160d41e34669" /><Relationship Type="http://schemas.openxmlformats.org/officeDocument/2006/relationships/notesMaster" Target="/ppt/notesMasters/notesMaster1.xml" Id="Rc135c160a98a46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98bf3582c944ce" /><Relationship Type="http://schemas.openxmlformats.org/officeDocument/2006/relationships/notesMaster" Target="/ppt/notesMasters/notesMaster1.xml" Id="Rd566bcee80544c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451260f73345bb" /><Relationship Type="http://schemas.openxmlformats.org/officeDocument/2006/relationships/notesMaster" Target="/ppt/notesMasters/notesMaster1.xml" Id="Rae87f57a131049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fa13eae84646a2" /><Relationship Type="http://schemas.openxmlformats.org/officeDocument/2006/relationships/notesMaster" Target="/ppt/notesMasters/notesMaster1.xml" Id="Rb438c28c8fa443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af6caa7d134133" /><Relationship Type="http://schemas.openxmlformats.org/officeDocument/2006/relationships/notesMaster" Target="/ppt/notesMasters/notesMaster1.xml" Id="Rdbacebb5b6b446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6c42f37b57430b" /><Relationship Type="http://schemas.openxmlformats.org/officeDocument/2006/relationships/notesMaster" Target="/ppt/notesMasters/notesMaster1.xml" Id="R56528145426b41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515dea48c6d45e9" /><Relationship Type="http://schemas.openxmlformats.org/officeDocument/2006/relationships/notesMaster" Target="/ppt/notesMasters/notesMaster1.xml" Id="R32b85aae74a04bb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9b5f2a9af464955" /><Relationship Type="http://schemas.openxmlformats.org/officeDocument/2006/relationships/notesMaster" Target="/ppt/notesMasters/notesMaster1.xml" Id="R33cd62c6c62a468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0a469a8b7fa49b5" /><Relationship Type="http://schemas.openxmlformats.org/officeDocument/2006/relationships/notesMaster" Target="/ppt/notesMasters/notesMaster1.xml" Id="R616f9706195a4c5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9d7efda63fa40a9" /><Relationship Type="http://schemas.openxmlformats.org/officeDocument/2006/relationships/notesMaster" Target="/ppt/notesMasters/notesMaster1.xml" Id="R6464e2dd0d9e4e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title and scope. Dataset figures source: Worldwide Travel Cities dataset [Kaggle].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based on the project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Objectives based on implemented application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figures source: Furkan Ima, Worldwide Travel Cities: Ratings and Climate, Kaggle.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calculated from worldwide_travel_cities.csv in the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User-input controls from app.py.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Algorithm source: scikit-learn NearestNeighbors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Scaling source: scikit-learn StandardScaler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derived from app.py. External services: Open-Meteo and Frankfurter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Libraries and tools verified from requirements.txt and app.py.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Experimental design from the project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calculated from the scaled KNN diagnostic profiles documented in the project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Application features from app.py.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Limitations documented in README.md and DATA_SOURCES.md.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scope from the project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Summary of implemented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References: Kaggle dataset, scikit-learn docs, Streamlit docs, Frankfurter, Open-Meteo, and Recommender Systems Handbook.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8416148dff489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864be8a0ad481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dda7683e2747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52a807094d484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6c836f874a4a9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b7a3176bd40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F20A99-85A3-48BC-B14C-D95B4A86AD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1C9D0B-DD5B-49AA-A016-2B8F4EA4B4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C39B003-DAF2-45AE-9FE3-A7A9B7831A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684A42-830E-470B-803B-EDED99D122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3F95BF9-B482-493E-B650-6F5506409F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D042A86-D7B3-4688-9AEC-185DEF5ED9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89142F6-9FB6-4711-88D7-CCBFDA272B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7CC17DE-0251-4C0D-8AAF-EC777B4726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0FB1D7-5FAD-4411-AFCA-00F0C2AD6F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0CA57D-3F88-4B81-90D5-8AE3B20BC3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6e9851298043a6" /><Relationship Type="http://schemas.openxmlformats.org/officeDocument/2006/relationships/slideLayout" Target="/ppt/slideLayouts/slideLayout1.xml" Id="Rbc6a1605c90f487b" /><Relationship Type="http://schemas.openxmlformats.org/officeDocument/2006/relationships/slideLayout" Target="/ppt/slideLayouts/slideLayout2.xml" Id="R1cbfcb9f342f4098" /><Relationship Type="http://schemas.openxmlformats.org/officeDocument/2006/relationships/slideLayout" Target="/ppt/slideLayouts/slideLayout3.xml" Id="Rc45d72658be546b8" /><Relationship Type="http://schemas.openxmlformats.org/officeDocument/2006/relationships/slideLayout" Target="/ppt/slideLayouts/slideLayout4.xml" Id="R6f54520607cf4cee" /><Relationship Type="http://schemas.openxmlformats.org/officeDocument/2006/relationships/slideLayout" Target="/ppt/slideLayouts/slideLayout5.xml" Id="R6ccbbb24db4046aa" /><Relationship Type="http://schemas.openxmlformats.org/officeDocument/2006/relationships/slideLayout" Target="/ppt/slideLayouts/slideLayout6.xml" Id="R0cd5210a191b4c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6a1605c90f487b"/>
    <p:sldLayoutId xmlns:r="http://schemas.openxmlformats.org/officeDocument/2006/relationships" id="2147483650" r:id="R1cbfcb9f342f4098"/>
    <p:sldLayoutId xmlns:r="http://schemas.openxmlformats.org/officeDocument/2006/relationships" id="2147483651" r:id="Rc45d72658be546b8"/>
    <p:sldLayoutId xmlns:r="http://schemas.openxmlformats.org/officeDocument/2006/relationships" id="2147483652" r:id="R6f54520607cf4cee"/>
    <p:sldLayoutId xmlns:r="http://schemas.openxmlformats.org/officeDocument/2006/relationships" id="2147483653" r:id="R6ccbbb24db4046aa"/>
    <p:sldLayoutId xmlns:r="http://schemas.openxmlformats.org/officeDocument/2006/relationships" id="2147483654" r:id="R0cd5210a191b4c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a8523ea45e4b12" /><Relationship Type="http://schemas.openxmlformats.org/officeDocument/2006/relationships/notesSlide" Target="/ppt/notesSlides/notesSlide1.xml" Id="R605a37f70d074c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624230720f4646" /><Relationship Type="http://schemas.openxmlformats.org/officeDocument/2006/relationships/notesSlide" Target="/ppt/notesSlides/notesSlide2.xml" Id="Rbc525f6078124c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f1a41ef1e34ce4" /><Relationship Type="http://schemas.openxmlformats.org/officeDocument/2006/relationships/notesSlide" Target="/ppt/notesSlides/notesSlide3.xml" Id="Rac3fb2cc303844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22f2d07eee4567" /><Relationship Type="http://schemas.openxmlformats.org/officeDocument/2006/relationships/notesSlide" Target="/ppt/notesSlides/notesSlide4.xml" Id="Rf2142ee379904d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0a70ff551d4585" /><Relationship Type="http://schemas.openxmlformats.org/officeDocument/2006/relationships/chart" Target="/ppt/slides/charts/chart1.xml" Id="R0d105ed1bdbe4e4c" /><Relationship Type="http://schemas.openxmlformats.org/officeDocument/2006/relationships/notesSlide" Target="/ppt/notesSlides/notesSlide5.xml" Id="Rc51e172aa2904e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1580eec73c4638" /><Relationship Type="http://schemas.openxmlformats.org/officeDocument/2006/relationships/notesSlide" Target="/ppt/notesSlides/notesSlide6.xml" Id="R8b7a8891f7dd45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32a80026c14fc3" /><Relationship Type="http://schemas.openxmlformats.org/officeDocument/2006/relationships/notesSlide" Target="/ppt/notesSlides/notesSlide7.xml" Id="R7b7bc052ec4245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795f22e5ad41a0" /><Relationship Type="http://schemas.openxmlformats.org/officeDocument/2006/relationships/notesSlide" Target="/ppt/notesSlides/notesSlide8.xml" Id="R3b66b507c93d44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b31af6cb1143f7" /><Relationship Type="http://schemas.openxmlformats.org/officeDocument/2006/relationships/notesSlide" Target="/ppt/notesSlides/notesSlide9.xml" Id="Rbf9b3e906d244f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16cb0a9dc04dd4" /><Relationship Type="http://schemas.openxmlformats.org/officeDocument/2006/relationships/notesSlide" Target="/ppt/notesSlides/notesSlide10.xml" Id="Rb0867e65e93e49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90aa6ae949427e" /><Relationship Type="http://schemas.openxmlformats.org/officeDocument/2006/relationships/notesSlide" Target="/ppt/notesSlides/notesSlide11.xml" Id="R88d287487d2e48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7c2e82c86b4f99" /><Relationship Type="http://schemas.openxmlformats.org/officeDocument/2006/relationships/chart" Target="/ppt/slides/charts/chart2.xml" Id="Rfb2abb88e8a142f4" /><Relationship Type="http://schemas.openxmlformats.org/officeDocument/2006/relationships/notesSlide" Target="/ppt/notesSlides/notesSlide12.xml" Id="R89fb9795b2694c0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b2935da47a4b7f" /><Relationship Type="http://schemas.openxmlformats.org/officeDocument/2006/relationships/notesSlide" Target="/ppt/notesSlides/notesSlide13.xml" Id="R42130c95dc854d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fb1a6c16964371" /><Relationship Type="http://schemas.openxmlformats.org/officeDocument/2006/relationships/notesSlide" Target="/ppt/notesSlides/notesSlide14.xml" Id="R834cccd5dab040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4589c2bfa04a86" /><Relationship Type="http://schemas.openxmlformats.org/officeDocument/2006/relationships/notesSlide" Target="/ppt/notesSlides/notesSlide15.xml" Id="R90e7c3c212f642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3af4ef73ed4d83" /><Relationship Type="http://schemas.openxmlformats.org/officeDocument/2006/relationships/notesSlide" Target="/ppt/notesSlides/notesSlide16.xml" Id="R9021a951f7254bf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005d5146b94452" /><Relationship Type="http://schemas.openxmlformats.org/officeDocument/2006/relationships/notesSlide" Target="/ppt/notesSlides/notesSlide17.xml" Id="R933c2443a79941d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Cities</c:v>
          </c:tx>
          <c:spPr>
            <a:solidFill xmlns:a="http://schemas.openxmlformats.org/drawingml/2006/main">
              <a:srgbClr val="187563"/>
            </a:solidFill>
          </c:spPr>
          <c:invertIfNegative val="0"/>
          <c:cat>
            <c:strRef>
              <c:f>'Chart Data'!$A$2:$A$8</c:f>
              <c:strCache>
                <c:ptCount val="7"/>
                <c:pt idx="0">
                  <c:v>Africa</c:v>
                </c:pt>
                <c:pt idx="1">
                  <c:v>Asia</c:v>
                </c:pt>
                <c:pt idx="2">
                  <c:v>Europe</c:v>
                </c:pt>
                <c:pt idx="3">
                  <c:v>Middle East</c:v>
                </c:pt>
                <c:pt idx="4">
                  <c:v>North America</c:v>
                </c:pt>
                <c:pt idx="5">
                  <c:v>Oceania</c:v>
                </c:pt>
                <c:pt idx="6">
                  <c:v>South America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63</c:v>
                </c:pt>
                <c:pt idx="1">
                  <c:v>99</c:v>
                </c:pt>
                <c:pt idx="2">
                  <c:v>177</c:v>
                </c:pt>
                <c:pt idx="3">
                  <c:v>11</c:v>
                </c:pt>
                <c:pt idx="4">
                  <c:v>104</c:v>
                </c:pt>
                <c:pt idx="5">
                  <c:v>51</c:v>
                </c:pt>
                <c:pt idx="6">
                  <c:v>55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5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Mean top-5 distance</c:v>
          </c:tx>
          <c:spPr>
            <a:solidFill xmlns:a="http://schemas.openxmlformats.org/drawingml/2006/main">
              <a:srgbClr val="187563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Culture seeker</c:v>
                </c:pt>
                <c:pt idx="1">
                  <c:v>Nature adventurer</c:v>
                </c:pt>
                <c:pt idx="2">
                  <c:v>Wellness traveller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2.299</c:v>
                </c:pt>
                <c:pt idx="1">
                  <c:v>2.048</c:v>
                </c:pt>
                <c:pt idx="2">
                  <c:v>4.356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5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B0744-3475-4CA1-8DC8-2B7FF54B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CFEBDD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CFEBDD"/>
                </a:solidFill>
              </a:defRPr>
            </a:pPr>
            <a:r>
              <a:rPr sz="1125" b="1">
                <a:solidFill>
                  <a:srgbClr val="CFEBDD"/>
                </a:solidFill>
              </a:rPr>
              <a:t>WAYFINDER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DE00D-D0A7-42B4-8FBD-D3A14292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619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Tourist Destination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Recommendation System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Using KNN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A4E31-116B-4633-ACF5-169D89A9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DCEDE5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DCEDE5"/>
                </a:solidFill>
              </a:defRPr>
            </a:pPr>
            <a:r>
              <a:rPr sz="1575" b="0">
                <a:solidFill>
                  <a:srgbClr val="DCEDE5"/>
                </a:solidFill>
              </a:rPr>
              <a:t>A content-based travel planner that matches traveller preferences to global city profiles.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DB0BD-A06F-480B-AF23-849636C9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CFEBDD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FEBDD"/>
                </a:solidFill>
              </a:defRPr>
            </a:pPr>
            <a:r>
              <a:rPr sz="1200" b="0">
                <a:solidFill>
                  <a:srgbClr val="CFEBDD"/>
                </a:solidFill>
              </a:rPr>
              <a:t>Machine Learning Project | Python • Pandas • scikit-learn • Streamlit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9DB09-4688-4993-91F3-B9EDCF2F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52950"/>
            <a:ext cx="3095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560 city profiles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167 countries</a:t>
            </a:r>
          </a:p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5 recommendations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4A893-EB24-4940-A5CE-DEF9473D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6000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0665F"/>
                </a:solidFill>
              </a:defRPr>
            </a:pPr>
            <a:r>
              <a:rPr sz="750" b="0">
                <a:solidFill>
                  <a:srgbClr val="50665F"/>
                </a:solidFill>
              </a:rPr>
              <a:t>Wayfinder | Tourist Destination Recommendation System Using KNN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A2B84-A892-40D9-95A0-AB2EFB67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187563"/>
                </a:solidFill>
              </a:defRPr>
            </a:pPr>
            <a:r>
              <a:rPr sz="825" b="1">
                <a:solidFill>
                  <a:srgbClr val="1875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987028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D3D904-E612-4D9D-AD93-5546016F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3D35"/>
                </a:solidFill>
              </a:defRPr>
            </a:pPr>
            <a:r>
              <a:rPr sz="2400" b="1">
                <a:solidFill>
                  <a:srgbClr val="143D35"/>
                </a:solidFill>
              </a:rPr>
              <a:t>The travel discovery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79080-9811-4434-90A3-1ED366F2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429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Travellers must balance practical limits with personal interests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CC18D-FD71-4EA7-8408-2BA7A78C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82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FEB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A97D3-DDC5-49A6-BFB3-6FDD3458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6000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0665F"/>
                </a:solidFill>
              </a:defRPr>
            </a:pPr>
            <a:r>
              <a:rPr sz="750" b="0">
                <a:solidFill>
                  <a:srgbClr val="50665F"/>
                </a:solidFill>
              </a:rPr>
              <a:t>Wayfinder | Tourist Destination Recommendation System Using KNN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BF345-C1E8-4949-ADF3-8BF13140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187563"/>
                </a:solidFill>
              </a:defRPr>
            </a:pPr>
            <a:r>
              <a:rPr sz="825" b="1">
                <a:solidFill>
                  <a:srgbClr val="187563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2C4BD-7602-437E-821E-AFF346DF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581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43D35"/>
                </a:solidFill>
              </a:defRPr>
            </a:pPr>
            <a:r>
              <a:rPr sz="1875" b="1">
                <a:solidFill>
                  <a:srgbClr val="143D35"/>
                </a:solidFill>
              </a:rPr>
              <a:t>A single search rarely combines budget, available days, location, and travel style into one transparent ranking.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AD6F4-1B7C-408B-A1B6-08985E8C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87563"/>
                </a:solidFill>
              </a:defRPr>
            </a:pPr>
            <a:r>
              <a:rPr sz="1350" b="1">
                <a:solidFill>
                  <a:srgbClr val="187563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CF238-90C6-49A3-95CF-5621DB73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62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3D35"/>
                </a:solidFill>
              </a:defRPr>
            </a:pPr>
            <a:r>
              <a:rPr sz="1350" b="1">
                <a:solidFill>
                  <a:srgbClr val="143D35"/>
                </a:solidFill>
              </a:rPr>
              <a:t>Budget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5526B-8160-490C-AA71-CF6347F0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622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A total trip amount in the traveller's selected currency.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8781C-5DC5-4E07-B652-FD041C0D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8229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E180C6-CC88-4CBB-8620-4F93CEFF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87563"/>
                </a:solidFill>
              </a:defRPr>
            </a:pPr>
            <a:r>
              <a:rPr sz="1350" b="1">
                <a:solidFill>
                  <a:srgbClr val="187563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34A32-BA67-4A1E-886B-8703D85E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48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3D35"/>
                </a:solidFill>
              </a:defRPr>
            </a:pPr>
            <a:r>
              <a:rPr sz="1350" b="1">
                <a:solidFill>
                  <a:srgbClr val="143D35"/>
                </a:solidFill>
              </a:rPr>
              <a:t>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E80F2-DDA0-4DC1-84DD-831570B8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480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A day trip, weekend, short trip, week, or longer stay.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8B38D-B9D3-47CB-A25F-7C1E90B4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8229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95B09E-934C-46A9-9921-EFA9B789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87563"/>
                </a:solidFill>
              </a:defRPr>
            </a:pPr>
            <a:r>
              <a:rPr sz="1350" b="1">
                <a:solidFill>
                  <a:srgbClr val="187563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A4A7ED-82AA-40B3-AA7B-8533A85E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33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3D35"/>
                </a:solidFill>
              </a:defRPr>
            </a:pPr>
            <a:r>
              <a:rPr sz="1350" b="1">
                <a:solidFill>
                  <a:srgbClr val="143D35"/>
                </a:solidFill>
              </a:rPr>
              <a:t>Place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552589-A2D7-4E4E-B558-301AB478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338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A preferred region or country, if one is already known.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A45182-7C59-45B6-AFD8-475A9A76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91050"/>
            <a:ext cx="8229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04D4A7-5E9B-4578-9079-F51EA2AA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87563"/>
                </a:solidFill>
              </a:defRPr>
            </a:pPr>
            <a:r>
              <a:rPr sz="1350" b="1">
                <a:solidFill>
                  <a:srgbClr val="187563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E81BDB-56DE-4D6C-84A5-E36384CA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9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3D35"/>
                </a:solidFill>
              </a:defRPr>
            </a:pPr>
            <a:r>
              <a:rPr sz="1350" b="1">
                <a:solidFill>
                  <a:srgbClr val="143D35"/>
                </a:solidFill>
              </a:rPr>
              <a:t>Interests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C3A883-8611-4C67-A5E7-C32680AE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Culture, nature, adventure, food, urban exploration, and wellness.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B1E2E0-61A6-4E3B-B574-8459B24C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82296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DAED5C-3A34-49F5-AE85-E2DA7E62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4307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87563"/>
                </a:solidFill>
              </a:defRPr>
            </a:pPr>
            <a:r>
              <a:rPr sz="1125" b="1">
                <a:solidFill>
                  <a:srgbClr val="187563"/>
                </a:solidFill>
              </a:rPr>
              <a:t>Expected 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DB9377-587D-4FBA-851B-9DD42A3B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43125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43D35"/>
                </a:solidFill>
              </a:defRPr>
            </a:pPr>
            <a:r>
              <a:rPr sz="1650" b="1">
                <a:solidFill>
                  <a:srgbClr val="143D35"/>
                </a:solidFill>
              </a:rPr>
              <a:t>Five city matches with a map, suggested stay, a currency estimate, and direct destination links.</a:t>
            </a:r>
          </a:p>
        </p:txBody>
      </p:sp>
    </p:spTree>
    <p:extLst>
      <p:ext uri="{BB962C8B-B14F-4D97-AF65-F5344CB8AC3E}">
        <p14:creationId xmlns:p14="http://schemas.microsoft.com/office/powerpoint/2010/main" val="17720425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0788B2-DC33-48FC-8A83-4EAE04A6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3D35"/>
                </a:solidFill>
              </a:defRPr>
            </a:pPr>
            <a:r>
              <a:rPr sz="2400" b="1">
                <a:solidFill>
                  <a:srgbClr val="143D35"/>
                </a:solidFill>
              </a:rPr>
              <a:t>Project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BDB73-6B9A-4362-9A69-AEC73464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429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Five measurable goals shaped the system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75260-B1B9-44E9-BB96-3506DAF0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82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FEB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67108-9198-4C61-995B-D29A543B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6000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0665F"/>
                </a:solidFill>
              </a:defRPr>
            </a:pPr>
            <a:r>
              <a:rPr sz="750" b="0">
                <a:solidFill>
                  <a:srgbClr val="50665F"/>
                </a:solidFill>
              </a:rPr>
              <a:t>Wayfinder | Tourist Destination Recommendation System Using KNN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55835-CE8F-4784-BAC7-5B8C38FF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187563"/>
                </a:solidFill>
              </a:defRPr>
            </a:pPr>
            <a:r>
              <a:rPr sz="825" b="1">
                <a:solidFill>
                  <a:srgbClr val="187563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AB149-DD05-4A2B-979A-82C7430B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8B45C"/>
                </a:solidFill>
              </a:defRPr>
            </a:pPr>
            <a:r>
              <a:rPr sz="1350" b="1">
                <a:solidFill>
                  <a:srgbClr val="E8B45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2F982-3AAA-426C-B61B-F4D39C52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5716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43D35"/>
                </a:solidFill>
              </a:defRPr>
            </a:pPr>
            <a:r>
              <a:rPr sz="1500" b="1">
                <a:solidFill>
                  <a:srgbClr val="143D35"/>
                </a:solidFill>
              </a:rPr>
              <a:t>Accept essential trip inputs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54C3A5-0FDB-416E-BCDB-0D11D17D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859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Budget, days, region, country, and six interest ratings.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AE034-4D06-4901-A91E-39961A5A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102774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1A038-DE17-4F82-A4BE-77C40A4A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8B45C"/>
                </a:solidFill>
              </a:defRPr>
            </a:pPr>
            <a:r>
              <a:rPr sz="1350" b="1">
                <a:solidFill>
                  <a:srgbClr val="E8B45C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36721-0C24-4D18-B4F5-32EC8D6B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384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43D35"/>
                </a:solidFill>
              </a:defRPr>
            </a:pPr>
            <a:r>
              <a:rPr sz="1500" b="1">
                <a:solidFill>
                  <a:srgbClr val="143D35"/>
                </a:solidFill>
              </a:rPr>
              <a:t>Rank similar destinations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E6F03-B9C6-4B14-822F-CE8FA5C7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5272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Return up to five nearest profiles with KNN.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C4128-3A68-452B-9232-FEF057A6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02774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44A230-3C29-49F6-9338-A865714F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8B45C"/>
                </a:solidFill>
              </a:defRPr>
            </a:pPr>
            <a:r>
              <a:rPr sz="1350" b="1">
                <a:solidFill>
                  <a:srgbClr val="E8B45C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5DDD36-F6CA-4B72-B593-FC157E20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0517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43D35"/>
                </a:solidFill>
              </a:defRPr>
            </a:pPr>
            <a:r>
              <a:rPr sz="1500" b="1">
                <a:solidFill>
                  <a:srgbClr val="143D35"/>
                </a:solidFill>
              </a:rPr>
              <a:t>Scale the feature space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314D7D-DAEA-4943-9C0E-7257AEAD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195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Apply StandardScaler before Euclidean distance.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ED735-6138-4368-A2C7-3490272E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102774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958B7-814D-45D9-A5B1-323D8043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8B45C"/>
                </a:solidFill>
              </a:defRPr>
            </a:pPr>
            <a:r>
              <a:rPr sz="1350" b="1">
                <a:solidFill>
                  <a:srgbClr val="E8B45C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D458B5-1C56-4D51-88A2-A693C808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7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43D35"/>
                </a:solidFill>
              </a:defRPr>
            </a:pPr>
            <a:r>
              <a:rPr sz="1500" b="1">
                <a:solidFill>
                  <a:srgbClr val="143D35"/>
                </a:solidFill>
              </a:rPr>
              <a:t>Support decisions after ranking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4BE5F9-AAC8-4209-9C6D-A6928784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86275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Show map, cost estimate, stay length, and details.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385F5D-D4DD-41AE-8C6F-A6F71623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102774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72B402-3E0A-438D-8BDC-DD1ABF94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38725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8B45C"/>
                </a:solidFill>
              </a:defRPr>
            </a:pPr>
            <a:r>
              <a:rPr sz="1350" b="1">
                <a:solidFill>
                  <a:srgbClr val="E8B45C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919032-187C-4502-A828-EDED9579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387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43D35"/>
                </a:solidFill>
              </a:defRPr>
            </a:pPr>
            <a:r>
              <a:rPr sz="1500" b="1">
                <a:solidFill>
                  <a:srgbClr val="143D35"/>
                </a:solidFill>
              </a:rPr>
              <a:t>Keep plans reusable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795BD1-26A2-4EAB-97BB-3D8B7ED2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530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Save favourites, compare places, export, and share settings.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B0CFC3-C587-44CC-B182-1E67269F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43575"/>
            <a:ext cx="102774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360860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0B2785-43B8-46A4-BB48-4FAEEF95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3D35"/>
                </a:solidFill>
              </a:defRPr>
            </a:pPr>
            <a:r>
              <a:rPr sz="2400" b="1">
                <a:solidFill>
                  <a:srgbClr val="143D35"/>
                </a:solidFill>
              </a:rPr>
              <a:t>Dataset at a glance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3772B-77B6-4086-876C-A622EC13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429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Worldwide Travel Cities dataset used as the recommendation catalogue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74B70-E39D-47CB-9691-576C8642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82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FEB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15A80-4C86-483C-838F-9F6F4E04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6000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0665F"/>
                </a:solidFill>
              </a:defRPr>
            </a:pPr>
            <a:r>
              <a:rPr sz="750" b="0">
                <a:solidFill>
                  <a:srgbClr val="50665F"/>
                </a:solidFill>
              </a:rPr>
              <a:t>Wayfinder | Tourist Destination Recommendation System Using KNN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6A005-4920-4FD9-96F3-B97952FC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187563"/>
                </a:solidFill>
              </a:defRPr>
            </a:pPr>
            <a:r>
              <a:rPr sz="825" b="1">
                <a:solidFill>
                  <a:srgbClr val="187563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C5F45-94E2-4FAB-8253-E0B2B3F0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00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7563"/>
                </a:solidFill>
              </a:defRPr>
            </a:pPr>
            <a:r>
              <a:rPr sz="3600" b="1">
                <a:solidFill>
                  <a:srgbClr val="187563"/>
                </a:solidFill>
              </a:rPr>
              <a:t>560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F3524-E04E-4C7C-9467-73783BD6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65F"/>
                </a:solidFill>
              </a:defRPr>
            </a:pPr>
            <a:r>
              <a:rPr sz="1350" b="0">
                <a:solidFill>
                  <a:srgbClr val="50665F"/>
                </a:solidFill>
              </a:rPr>
              <a:t>city profiles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C4DB6-E79F-40C6-AFFB-9D8591E0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66875"/>
            <a:ext cx="152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00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7563"/>
                </a:solidFill>
              </a:defRPr>
            </a:pPr>
            <a:r>
              <a:rPr sz="3600" b="1">
                <a:solidFill>
                  <a:srgbClr val="187563"/>
                </a:solidFill>
              </a:rPr>
              <a:t>167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BFF98-59B9-40E6-99F6-9F3EE1D1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86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65F"/>
                </a:solidFill>
              </a:defRPr>
            </a:pPr>
            <a:r>
              <a:rPr sz="1350" b="0">
                <a:solidFill>
                  <a:srgbClr val="50665F"/>
                </a:solidFill>
              </a:rPr>
              <a:t>countries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1955E-DCAA-48C0-841C-1A2075BF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66875"/>
            <a:ext cx="85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00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7563"/>
                </a:solidFill>
              </a:defRPr>
            </a:pPr>
            <a:r>
              <a:rPr sz="3600" b="1">
                <a:solidFill>
                  <a:srgbClr val="187563"/>
                </a:solidFill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40012-8B4E-4E41-A8A2-03544239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860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65F"/>
                </a:solidFill>
              </a:defRPr>
            </a:pPr>
            <a:r>
              <a:rPr sz="1350" b="0">
                <a:solidFill>
                  <a:srgbClr val="50665F"/>
                </a:solidFill>
              </a:rPr>
              <a:t>regions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215D2-18AA-43EE-AAF6-6BB2FB68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66875"/>
            <a:ext cx="114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600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7563"/>
                </a:solidFill>
              </a:defRPr>
            </a:pPr>
            <a:r>
              <a:rPr sz="3600" b="1">
                <a:solidFill>
                  <a:srgbClr val="187563"/>
                </a:solidFill>
              </a:rPr>
              <a:t>19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F7A52-ADBA-403C-B652-4357D411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86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65F"/>
                </a:solidFill>
              </a:defRPr>
            </a:pPr>
            <a:r>
              <a:rPr sz="1350" b="0">
                <a:solidFill>
                  <a:srgbClr val="50665F"/>
                </a:solidFill>
              </a:rPr>
              <a:t>source columns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FBAB9-C12D-463F-84A4-21D5F210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10191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FEB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3A08B-07C1-4194-A236-F9293DF7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3D35"/>
                </a:solidFill>
              </a:defRPr>
            </a:pPr>
            <a:r>
              <a:rPr sz="1275" b="1">
                <a:solidFill>
                  <a:srgbClr val="143D35"/>
                </a:solidFill>
              </a:rPr>
              <a:t>Identity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FBA2AC-B610-4D6F-B111-8EA5D416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432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City, country, region, description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58665-AB16-4435-94C5-2B398FF8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57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3D35"/>
                </a:solidFill>
              </a:defRPr>
            </a:pPr>
            <a:r>
              <a:rPr sz="1275" b="1">
                <a:solidFill>
                  <a:srgbClr val="143D35"/>
                </a:solidFill>
              </a:rPr>
              <a:t>Location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C8E4C6-F2D0-4FEE-9A74-3B7F9C8B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Latitude and longitude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A55736-98E9-4023-90F6-F7B4BC9E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3D35"/>
                </a:solidFill>
              </a:defRPr>
            </a:pPr>
            <a:r>
              <a:rPr sz="1275" b="1">
                <a:solidFill>
                  <a:srgbClr val="143D35"/>
                </a:solidFill>
              </a:rPr>
              <a:t>Planning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1C96F-CDF0-4D30-AFC6-F2C4ED4E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719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Ideal durations and budget category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DC7904-6928-4E21-8A50-BA1DEC77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3D35"/>
                </a:solidFill>
              </a:defRPr>
            </a:pPr>
            <a:r>
              <a:rPr sz="1275" b="1">
                <a:solidFill>
                  <a:srgbClr val="143D35"/>
                </a:solidFill>
              </a:rPr>
              <a:t>Interest scores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E2137-9AFF-4175-A5A8-76EE5C29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863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Culture, adventure, nature, beaches, nightlife, cuisine, wellness, urban, seclusion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5A8C8F-D049-4671-B10A-A6D97D52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3D35"/>
                </a:solidFill>
              </a:defRPr>
            </a:pPr>
            <a:r>
              <a:rPr sz="1275" b="1">
                <a:solidFill>
                  <a:srgbClr val="143D35"/>
                </a:solidFill>
              </a:rPr>
              <a:t>Climate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AEBAC8-4B88-44F0-9E61-445E2652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006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Monthly average temperature metadata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836B64-619A-4340-BDD5-0C48A92E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0665F"/>
                </a:solidFill>
              </a:defRPr>
            </a:pPr>
            <a:r>
              <a:rPr sz="825" b="0">
                <a:solidFill>
                  <a:srgbClr val="50665F"/>
                </a:solidFill>
              </a:rPr>
              <a:t>Source: Furkan Ima, Worldwide Travel Cities: Ratings and Climate, Kaggle.</a:t>
            </a:r>
          </a:p>
        </p:txBody>
      </p:sp>
    </p:spTree>
    <p:extLst>
      <p:ext uri="{BB962C8B-B14F-4D97-AF65-F5344CB8AC3E}">
        <p14:creationId xmlns:p14="http://schemas.microsoft.com/office/powerpoint/2010/main" val="7897192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AE947C-1718-4435-943F-49838FE9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3D35"/>
                </a:solidFill>
              </a:defRPr>
            </a:pPr>
            <a:r>
              <a:rPr sz="2400" b="1">
                <a:solidFill>
                  <a:srgbClr val="143D35"/>
                </a:solidFill>
              </a:rPr>
              <a:t>Catalogue distribution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53FAD-EB47-49DA-A52E-76C8752D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429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Europe has the largest representation; mid-range cities dominate the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09A20-0063-423F-8E94-EAAB4ADC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82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FEB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BD58F-E3CA-4365-8085-45D1C624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6000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0665F"/>
                </a:solidFill>
              </a:defRPr>
            </a:pPr>
            <a:r>
              <a:rPr sz="750" b="0">
                <a:solidFill>
                  <a:srgbClr val="50665F"/>
                </a:solidFill>
              </a:rPr>
              <a:t>Wayfinder | Tourist Destination Recommendation System Using KNN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1F03E-6987-4BA1-BA5F-40E314E7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187563"/>
                </a:solidFill>
              </a:defRPr>
            </a:pPr>
            <a:r>
              <a:rPr sz="825" b="1">
                <a:solidFill>
                  <a:srgbClr val="187563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C7B9A-2161-4E2C-A92A-46E4A756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43D35"/>
                </a:solidFill>
              </a:defRPr>
            </a:pPr>
            <a:r>
              <a:rPr sz="1500" b="1">
                <a:solidFill>
                  <a:srgbClr val="143D35"/>
                </a:solidFill>
              </a:rPr>
              <a:t>City profiles by region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C7288E10-BAEE-4CB8-B8B5-99760644E2F3}"/>
              </a:ext>
            </a:extLst>
          </p:cNvPr>
          <p:cNvGraphicFramePr/>
          <p:nvPr/>
        </p:nvGraphicFramePr>
        <p:xfrm>
          <a:off xmlns:a="http://schemas.openxmlformats.org/drawingml/2006/main" x="762000" y="1952625"/>
          <a:ext xmlns:a="http://schemas.openxmlformats.org/drawingml/2006/main" cx="59055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105ed1bdbe4e4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03D06-8E74-4DE5-9339-E110BAD5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716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43D35"/>
                </a:solidFill>
              </a:defRPr>
            </a:pPr>
            <a:r>
              <a:rPr sz="1500" b="1">
                <a:solidFill>
                  <a:srgbClr val="143D35"/>
                </a:solidFill>
              </a:rPr>
              <a:t>Budget category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621F3-6D59-41A7-AF88-B2213BAC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383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3D35"/>
                </a:solidFill>
              </a:defRPr>
            </a:pPr>
            <a:r>
              <a:rPr sz="1350" b="1">
                <a:solidFill>
                  <a:srgbClr val="143D35"/>
                </a:solidFill>
              </a:rPr>
              <a:t>Mid-range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3BBC1D-A40C-4461-9C6D-D2F64FA5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05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87563"/>
                </a:solidFill>
              </a:defRPr>
            </a:pPr>
            <a:r>
              <a:rPr sz="2400" b="1">
                <a:solidFill>
                  <a:srgbClr val="187563"/>
                </a:solidFill>
              </a:rPr>
              <a:t>339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8733B-E03C-4D35-8594-43637BD9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952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60.5%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B7823-043C-44BA-B000-C95ED3CE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0375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9552C-C795-4257-8138-05A27F88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908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3D35"/>
                </a:solidFill>
              </a:defRPr>
            </a:pPr>
            <a:r>
              <a:rPr sz="1350" b="1">
                <a:solidFill>
                  <a:srgbClr val="143D35"/>
                </a:solidFill>
              </a:rPr>
              <a:t>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EC6C5-CAB3-4F81-81D7-C81ED8B4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575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E8B45C"/>
                </a:solidFill>
              </a:defRPr>
            </a:pPr>
            <a:r>
              <a:rPr sz="2400" b="1">
                <a:solidFill>
                  <a:srgbClr val="E8B45C"/>
                </a:solidFill>
              </a:rPr>
              <a:t>145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FFDEC-374B-4924-BF14-77176AB2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952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25.9%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A9EAC-3015-467C-976F-7B265B2F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52875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BBD2F5-4EE5-454A-9BD8-14691B85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433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3D35"/>
                </a:solidFill>
              </a:defRPr>
            </a:pPr>
            <a:r>
              <a:rPr sz="1350" b="1">
                <a:solidFill>
                  <a:srgbClr val="143D35"/>
                </a:solidFill>
              </a:rPr>
              <a:t>Luxury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A5046D-382C-4810-9972-D05F09B0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100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D26A5C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D26A5C"/>
                </a:solidFill>
              </a:defRPr>
            </a:pPr>
            <a:r>
              <a:rPr sz="2400" b="1">
                <a:solidFill>
                  <a:srgbClr val="D26A5C"/>
                </a:solidFill>
              </a:rPr>
              <a:t>76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C81985-7027-478E-8F69-8B328FDF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14850"/>
            <a:ext cx="952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13.6%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5C4707-9233-4FD9-B283-C8AEE352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05375"/>
            <a:ext cx="3333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A7C578-EE86-47B6-8665-E4D5C4D3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Dataset coverage can influence which profiles appear after a region or budget filter.</a:t>
            </a:r>
          </a:p>
        </p:txBody>
      </p:sp>
    </p:spTree>
    <p:extLst>
      <p:ext uri="{BB962C8B-B14F-4D97-AF65-F5344CB8AC3E}">
        <p14:creationId xmlns:p14="http://schemas.microsoft.com/office/powerpoint/2010/main" val="14886491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A23621-94F4-43CC-8996-1BB604BB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3D35"/>
                </a:solidFill>
              </a:defRPr>
            </a:pPr>
            <a:r>
              <a:rPr sz="2400" b="1">
                <a:solidFill>
                  <a:srgbClr val="143D35"/>
                </a:solidFill>
              </a:rPr>
              <a:t>Traveller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15C98-0C17-4B3B-AA83-5C9445F3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429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The interface keeps input controls understandable while preserving a rich feature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7688C-6083-45E4-B61C-4919C6F1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82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FEB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976BE-DC07-473C-B1D9-0A5BA94C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6000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0665F"/>
                </a:solidFill>
              </a:defRPr>
            </a:pPr>
            <a:r>
              <a:rPr sz="750" b="0">
                <a:solidFill>
                  <a:srgbClr val="50665F"/>
                </a:solidFill>
              </a:rPr>
              <a:t>Wayfinder | Tourist Destination Recommendation System Using KNN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A95A4-2720-4A03-B14A-2C276893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187563"/>
                </a:solidFill>
              </a:defRPr>
            </a:pPr>
            <a:r>
              <a:rPr sz="825" b="1">
                <a:solidFill>
                  <a:srgbClr val="187563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A9D34-EA94-4B00-9BC1-44D58F42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7563"/>
                </a:solidFill>
              </a:defRPr>
            </a:pPr>
            <a:r>
              <a:rPr sz="1650" b="1">
                <a:solidFill>
                  <a:srgbClr val="187563"/>
                </a:solidFill>
              </a:rPr>
              <a:t>Practical filters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08C10-A539-4694-8F73-6260A4C1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6002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7563"/>
                </a:solidFill>
              </a:defRPr>
            </a:pPr>
            <a:r>
              <a:rPr sz="1650" b="1">
                <a:solidFill>
                  <a:srgbClr val="187563"/>
                </a:solidFill>
              </a:rPr>
              <a:t>Preference ratings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F1A6B-C5FC-4BCB-81FF-77B6A9AF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7563"/>
                </a:solidFill>
              </a:defRPr>
            </a:pPr>
            <a:r>
              <a:rPr sz="1575" b="1">
                <a:solidFill>
                  <a:srgbClr val="187563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80C6F-F96F-4984-9B00-EEC01827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43125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3D35"/>
                </a:solidFill>
              </a:defRPr>
            </a:pPr>
            <a:r>
              <a:rPr sz="1350" b="1">
                <a:solidFill>
                  <a:srgbClr val="143D35"/>
                </a:solidFill>
              </a:rPr>
              <a:t>Budget and currency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2443F6-DFE1-48F5-B43F-36C69723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65F"/>
                </a:solidFill>
              </a:defRPr>
            </a:pPr>
            <a:r>
              <a:rPr sz="1050" b="0">
                <a:solidFill>
                  <a:srgbClr val="50665F"/>
                </a:solidFill>
              </a:rPr>
              <a:t>Uses a live conversion when the service is available.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6692E-3B0E-4AF6-9577-B4250C42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7563"/>
                </a:solidFill>
              </a:defRPr>
            </a:pPr>
            <a:r>
              <a:rPr sz="1575" b="1">
                <a:solidFill>
                  <a:srgbClr val="187563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29C147-4424-456D-A203-5B08683B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3D35"/>
                </a:solidFill>
              </a:defRPr>
            </a:pPr>
            <a:r>
              <a:rPr sz="1350" b="1">
                <a:solidFill>
                  <a:srgbClr val="143D35"/>
                </a:solidFill>
              </a:rPr>
              <a:t>Days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FF147-4E97-4EC4-8F43-7738A4A1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0425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65F"/>
                </a:solidFill>
              </a:defRPr>
            </a:pPr>
            <a:r>
              <a:rPr sz="1050" b="0">
                <a:solidFill>
                  <a:srgbClr val="50665F"/>
                </a:solidFill>
              </a:rPr>
              <a:t>Filters profile tags such as weekend or one week.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3D8B59-F679-4B74-AC31-6A4E1D95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7563"/>
                </a:solidFill>
              </a:defRPr>
            </a:pPr>
            <a:r>
              <a:rPr sz="1575" b="1">
                <a:solidFill>
                  <a:srgbClr val="187563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A0F6C8-0CF8-41D1-88F1-D6ABA9A6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43375"/>
            <a:ext cx="462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43D35"/>
                </a:solidFill>
              </a:defRPr>
            </a:pPr>
            <a:r>
              <a:rPr sz="1350" b="1">
                <a:solidFill>
                  <a:srgbClr val="143D35"/>
                </a:solidFill>
              </a:rPr>
              <a:t>Region and country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521563-334A-490D-9822-D7DAB612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65F"/>
                </a:solidFill>
              </a:defRPr>
            </a:pPr>
            <a:r>
              <a:rPr sz="1050" b="0">
                <a:solidFill>
                  <a:srgbClr val="50665F"/>
                </a:solidFill>
              </a:rPr>
              <a:t>Narrows the catalogue before the KNN query.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B72AC3-5634-4947-A5B2-730C70A0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E8B45C"/>
                </a:solidFill>
              </a:defRPr>
            </a:pPr>
            <a:r>
              <a:rPr sz="1275" b="1">
                <a:solidFill>
                  <a:srgbClr val="E8B45C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32491B-D35D-4C69-8B8E-9A712FF3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43D35"/>
                </a:solidFill>
              </a:defRPr>
            </a:pPr>
            <a:r>
              <a:rPr sz="1200" b="1">
                <a:solidFill>
                  <a:srgbClr val="143D35"/>
                </a:solidFill>
              </a:rPr>
              <a:t>Cultural Immersion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1411A-D2C2-4662-AC23-D3F288B9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E8B45C"/>
                </a:solidFill>
              </a:defRPr>
            </a:pPr>
            <a:r>
              <a:rPr sz="1275" b="1">
                <a:solidFill>
                  <a:srgbClr val="E8B45C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C99119-796B-4B23-AF7B-E5D5C432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907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43D35"/>
                </a:solidFill>
              </a:defRPr>
            </a:pPr>
            <a:r>
              <a:rPr sz="1200" b="1">
                <a:solidFill>
                  <a:srgbClr val="143D35"/>
                </a:solidFill>
              </a:rPr>
              <a:t>Nature and Wildlife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36412A-90A7-41D0-B543-CE7FDF0E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43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E8B45C"/>
                </a:solidFill>
              </a:defRPr>
            </a:pPr>
            <a:r>
              <a:rPr sz="1275" b="1">
                <a:solidFill>
                  <a:srgbClr val="E8B45C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2C87B9-CCF5-40E0-9EDE-7BDC8EE6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43D35"/>
                </a:solidFill>
              </a:defRPr>
            </a:pPr>
            <a:r>
              <a:rPr sz="1200" b="1">
                <a:solidFill>
                  <a:srgbClr val="143D35"/>
                </a:solidFill>
              </a:rPr>
              <a:t>Adventure and Thrill Sports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F2302C-5A01-4A83-A62C-FF1E9189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E8B45C"/>
                </a:solidFill>
              </a:defRPr>
            </a:pPr>
            <a:r>
              <a:rPr sz="1275" b="1">
                <a:solidFill>
                  <a:srgbClr val="E8B45C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D5101C-8CEB-4A5E-834A-DC8912CA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432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43D35"/>
                </a:solidFill>
              </a:defRPr>
            </a:pPr>
            <a:r>
              <a:rPr sz="1200" b="1">
                <a:solidFill>
                  <a:srgbClr val="143D35"/>
                </a:solidFill>
              </a:rPr>
              <a:t>Food and Culinary Tourism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2B4165-9372-41B1-9821-61BCC1A7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95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E8B45C"/>
                </a:solidFill>
              </a:defRPr>
            </a:pPr>
            <a:r>
              <a:rPr sz="1275" b="1">
                <a:solidFill>
                  <a:srgbClr val="E8B45C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19858E-CC4D-4BD3-AAD2-3C0E7EF4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957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43D35"/>
                </a:solidFill>
              </a:defRPr>
            </a:pPr>
            <a:r>
              <a:rPr sz="1200" b="1">
                <a:solidFill>
                  <a:srgbClr val="143D35"/>
                </a:solidFill>
              </a:rPr>
              <a:t>Urban Exploration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D343B3-CB2E-43E8-A414-41AD63C5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E8B45C"/>
                </a:solidFill>
              </a:defRPr>
            </a:pPr>
            <a:r>
              <a:rPr sz="1275" b="1">
                <a:solidFill>
                  <a:srgbClr val="E8B45C"/>
                </a:solidFill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DABCDF-0A3D-4395-9D88-6570B636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0957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43D35"/>
                </a:solidFill>
              </a:defRPr>
            </a:pPr>
            <a:r>
              <a:rPr sz="1200" b="1">
                <a:solidFill>
                  <a:srgbClr val="143D35"/>
                </a:solidFill>
              </a:rPr>
              <a:t>Wellness and Slow Travel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936EC2-9894-4AA6-BA60-92E4ED6D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2863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Each slider has a 0–5 range. Weighted rules expand the six sliders into the dataset's nine interest dimensions.</a:t>
            </a:r>
          </a:p>
        </p:txBody>
      </p:sp>
    </p:spTree>
    <p:extLst>
      <p:ext uri="{BB962C8B-B14F-4D97-AF65-F5344CB8AC3E}">
        <p14:creationId xmlns:p14="http://schemas.microsoft.com/office/powerpoint/2010/main" val="11218858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6E082B-A1D6-409C-ADFD-26E2A4A4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3D35"/>
                </a:solidFill>
              </a:defRPr>
            </a:pPr>
            <a:r>
              <a:rPr sz="2400" b="1">
                <a:solidFill>
                  <a:srgbClr val="143D35"/>
                </a:solidFill>
              </a:rPr>
              <a:t>KNN recommendation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F3503-5E17-4CAF-811F-76868FA9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429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Filtering reduces the candidate pool; scaling and distance ranking produce the top five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25CFF-323E-472E-816F-12846C08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82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FEB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3D4D0-274E-43E4-B9C7-83D498CA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6000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0665F"/>
                </a:solidFill>
              </a:defRPr>
            </a:pPr>
            <a:r>
              <a:rPr sz="750" b="0">
                <a:solidFill>
                  <a:srgbClr val="50665F"/>
                </a:solidFill>
              </a:rPr>
              <a:t>Wayfinder | Tourist Destination Recommendation System Using KNN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43EDA-A80F-4A1F-9109-401117EA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187563"/>
                </a:solidFill>
              </a:defRPr>
            </a:pPr>
            <a:r>
              <a:rPr sz="825" b="1">
                <a:solidFill>
                  <a:srgbClr val="187563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2B239-B9AB-4896-8625-32F8BB16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752600" cy="1952625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D364D-9E5F-430B-B188-C99CAD15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E8B45C"/>
                </a:solidFill>
              </a:defRPr>
            </a:pPr>
            <a:r>
              <a:rPr sz="1650" b="1">
                <a:solidFill>
                  <a:srgbClr val="E8B45C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51E18-165B-4A76-BB55-2FBE65B4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43D35"/>
                </a:solidFill>
              </a:defRPr>
            </a:pPr>
            <a:r>
              <a:rPr sz="1425" b="1">
                <a:solidFill>
                  <a:srgbClr val="143D35"/>
                </a:solidFill>
              </a:rPr>
              <a:t>Read city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DB3E8-F9ED-4EDD-9ADE-50ABFC32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65F"/>
                </a:solidFill>
              </a:defRPr>
            </a:pPr>
            <a:r>
              <a:rPr sz="1050" b="0">
                <a:solidFill>
                  <a:srgbClr val="50665F"/>
                </a:solidFill>
              </a:rPr>
              <a:t>Validate required columns and prepare numeric interest scores.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C95E8-61F7-4D0E-9EC9-7090F4AF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48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87563"/>
                </a:solidFill>
              </a:defRPr>
            </a:pPr>
            <a:r>
              <a:rPr sz="1725" b="1">
                <a:solidFill>
                  <a:srgbClr val="187563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6B9A4-8E2C-43A3-9AEE-67B1C3C8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1752600" cy="1952625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08C1A5-CB9E-44AB-9F74-41B9DF5E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288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E8B45C"/>
                </a:solidFill>
              </a:defRPr>
            </a:pPr>
            <a:r>
              <a:rPr sz="1650" b="1">
                <a:solidFill>
                  <a:srgbClr val="E8B45C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9C61A-7934-49A0-8D7A-7AD0E29F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05125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43D35"/>
                </a:solidFill>
              </a:defRPr>
            </a:pPr>
            <a:r>
              <a:rPr sz="1425" b="1">
                <a:solidFill>
                  <a:srgbClr val="143D35"/>
                </a:solidFill>
              </a:rPr>
              <a:t>Apply filters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C3D26-3F59-4BDC-9B7F-40DAAA2D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81375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65F"/>
                </a:solidFill>
              </a:defRPr>
            </a:pPr>
            <a:r>
              <a:rPr sz="1050" b="0">
                <a:solidFill>
                  <a:srgbClr val="50665F"/>
                </a:solidFill>
              </a:rPr>
              <a:t>Use budget category, days, region, and country.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06EB6A-B68E-4588-9CCB-1A436BE6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48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87563"/>
                </a:solidFill>
              </a:defRPr>
            </a:pPr>
            <a:r>
              <a:rPr sz="1725" b="1">
                <a:solidFill>
                  <a:srgbClr val="187563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6BAAD-D4BD-406E-B562-0C7E398B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752600" cy="1952625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A4D4B9-B783-430E-82E6-78AD2B5E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288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E8B45C"/>
                </a:solidFill>
              </a:defRPr>
            </a:pPr>
            <a:r>
              <a:rPr sz="1650" b="1">
                <a:solidFill>
                  <a:srgbClr val="E8B45C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F4577F-33AC-4EE0-A26B-5D87AA11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05125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43D35"/>
                </a:solidFill>
              </a:defRPr>
            </a:pPr>
            <a:r>
              <a:rPr sz="1425" b="1">
                <a:solidFill>
                  <a:srgbClr val="143D35"/>
                </a:solidFill>
              </a:rPr>
              <a:t>Expand preferences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26273-E46C-4D8C-A4A2-3476A9C3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81375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65F"/>
                </a:solidFill>
              </a:defRPr>
            </a:pPr>
            <a:r>
              <a:rPr sz="1050" b="0">
                <a:solidFill>
                  <a:srgbClr val="50665F"/>
                </a:solidFill>
              </a:rPr>
              <a:t>Map six UI controls to nine dataset dimensions.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500597-0907-490F-B151-2D7E761E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48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87563"/>
                </a:solidFill>
              </a:defRPr>
            </a:pPr>
            <a:r>
              <a:rPr sz="1725" b="1">
                <a:solidFill>
                  <a:srgbClr val="187563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C27EB4-ABBC-4B77-BBCF-E8AC2919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38375"/>
            <a:ext cx="1752600" cy="1952625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1C4747-31FD-4189-9B2D-80BA0FB3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288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E8B45C"/>
                </a:solidFill>
              </a:defRPr>
            </a:pPr>
            <a:r>
              <a:rPr sz="1650" b="1">
                <a:solidFill>
                  <a:srgbClr val="E8B45C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2CF188-F8A8-45BC-9251-B1E92ACF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05125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43D35"/>
                </a:solidFill>
              </a:defRPr>
            </a:pPr>
            <a:r>
              <a:rPr sz="1425" b="1">
                <a:solidFill>
                  <a:srgbClr val="143D35"/>
                </a:solidFill>
              </a:rPr>
              <a:t>Standardise features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C6B6B1-43DB-4D38-A7DB-419CD97E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81375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65F"/>
                </a:solidFill>
              </a:defRPr>
            </a:pPr>
            <a:r>
              <a:rPr sz="1050" b="0">
                <a:solidFill>
                  <a:srgbClr val="50665F"/>
                </a:solidFill>
              </a:rPr>
              <a:t>Fit StandardScaler to the filtered candidate matrix.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277729-61C3-4C4B-AE7A-45CA4832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480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87563"/>
                </a:solidFill>
              </a:defRPr>
            </a:pPr>
            <a:r>
              <a:rPr sz="1725" b="1">
                <a:solidFill>
                  <a:srgbClr val="187563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C869C5-B32F-461B-BB93-988B23E0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38375"/>
            <a:ext cx="1752600" cy="1952625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C7FF07-4229-4F59-8ED4-0F6C7862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28875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650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E8B45C"/>
                </a:solidFill>
              </a:defRPr>
            </a:pPr>
            <a:r>
              <a:rPr sz="1650" b="1">
                <a:solidFill>
                  <a:srgbClr val="E8B45C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826D8C-5F16-4CC4-89F8-E3E98F48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05125"/>
            <a:ext cx="140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43D35"/>
                </a:solidFill>
              </a:defRPr>
            </a:pPr>
            <a:r>
              <a:rPr sz="1425" b="1">
                <a:solidFill>
                  <a:srgbClr val="143D35"/>
                </a:solidFill>
              </a:rPr>
              <a:t>Retrieve neighbours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770F83-7088-4942-8304-F5F8B163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81375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65F"/>
                </a:solidFill>
              </a:defRPr>
            </a:pPr>
            <a:r>
              <a:rPr sz="1050" b="0">
                <a:solidFill>
                  <a:srgbClr val="50665F"/>
                </a:solidFill>
              </a:rPr>
              <a:t>Use Euclidean KNN and return the closest five records.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03B4A5-645F-4822-A02C-8E204151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43D35"/>
                </a:solidFill>
              </a:defRPr>
            </a:pPr>
            <a:r>
              <a:rPr sz="1500" b="1">
                <a:solidFill>
                  <a:srgbClr val="143D35"/>
                </a:solidFill>
              </a:rPr>
              <a:t>Distance measures similarity after scaling. A lower distance signals that a city profile is closer to the travel preferences selected.</a:t>
            </a:r>
          </a:p>
        </p:txBody>
      </p:sp>
    </p:spTree>
    <p:extLst>
      <p:ext uri="{BB962C8B-B14F-4D97-AF65-F5344CB8AC3E}">
        <p14:creationId xmlns:p14="http://schemas.microsoft.com/office/powerpoint/2010/main" val="15956476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FD042E-A07E-41EB-B275-E0B92F47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3D35"/>
                </a:solidFill>
              </a:defRPr>
            </a:pPr>
            <a:r>
              <a:rPr sz="2400" b="1">
                <a:solidFill>
                  <a:srgbClr val="143D35"/>
                </a:solidFill>
              </a:rPr>
              <a:t>Why StandardScaler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BD28D-5BFA-4CE8-83F4-CA0DF1ED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429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The KNN distance calculation should give every interest dimension comparable influence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2DC75-1E18-49C1-8A94-26112606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82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FEB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3A8D5-190F-4BD1-AD7A-EB337C93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6000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0665F"/>
                </a:solidFill>
              </a:defRPr>
            </a:pPr>
            <a:r>
              <a:rPr sz="750" b="0">
                <a:solidFill>
                  <a:srgbClr val="50665F"/>
                </a:solidFill>
              </a:rPr>
              <a:t>Wayfinder | Tourist Destination Recommendation System Using KNN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27429-4423-4A60-97CA-19DA676E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187563"/>
                </a:solidFill>
              </a:defRPr>
            </a:pPr>
            <a:r>
              <a:rPr sz="825" b="1">
                <a:solidFill>
                  <a:srgbClr val="187563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538C4-9E69-463A-9C77-F70F1EB1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3D35"/>
                </a:solidFill>
              </a:defRPr>
            </a:pPr>
            <a:r>
              <a:rPr sz="1575" b="1">
                <a:solidFill>
                  <a:srgbClr val="143D35"/>
                </a:solidFill>
              </a:rPr>
              <a:t>Raw feature values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094BF-8C5E-45B6-BF6F-8C827E10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352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3D35"/>
                </a:solidFill>
              </a:defRPr>
            </a:pPr>
            <a:r>
              <a:rPr sz="1575" b="1">
                <a:solidFill>
                  <a:srgbClr val="143D35"/>
                </a:solidFill>
              </a:rPr>
              <a:t>Scaled feature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8AC36-B32D-41BA-899A-47DABEA5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38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3D35"/>
                </a:solidFill>
              </a:defRPr>
            </a:pPr>
            <a:r>
              <a:rPr sz="1275" b="1">
                <a:solidFill>
                  <a:srgbClr val="143D35"/>
                </a:solidFill>
              </a:rPr>
              <a:t>Culture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AA3A0-AA02-4AE6-97F0-ED226968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65F"/>
                </a:solidFill>
              </a:defRPr>
            </a:pPr>
            <a:r>
              <a:rPr sz="1200" b="0">
                <a:solidFill>
                  <a:srgbClr val="50665F"/>
                </a:solidFill>
              </a:rPr>
              <a:t>0–5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7510C-A55E-4B0F-BB55-95C1C6CE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62225"/>
            <a:ext cx="3190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34F96-EEC1-4394-A8BB-02A3E2BA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19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3D35"/>
                </a:solidFill>
              </a:defRPr>
            </a:pPr>
            <a:r>
              <a:rPr sz="1275" b="1">
                <a:solidFill>
                  <a:srgbClr val="143D35"/>
                </a:solidFill>
              </a:rPr>
              <a:t>Adventure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066A64-E871-4812-8B80-A3C8A614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194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65F"/>
                </a:solidFill>
              </a:defRPr>
            </a:pPr>
            <a:r>
              <a:rPr sz="1200" b="0">
                <a:solidFill>
                  <a:srgbClr val="50665F"/>
                </a:solidFill>
              </a:rPr>
              <a:t>0–5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51466-B46C-4A00-BF2C-3EDEA121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3190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8C485-5DB4-4D6C-951B-1BA91DDB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004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3D35"/>
                </a:solidFill>
              </a:defRPr>
            </a:pPr>
            <a:r>
              <a:rPr sz="1275" b="1">
                <a:solidFill>
                  <a:srgbClr val="143D35"/>
                </a:solidFill>
              </a:rPr>
              <a:t>Nature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9F8152-3455-466F-B98F-F12456FC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0042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65F"/>
                </a:solidFill>
              </a:defRPr>
            </a:pPr>
            <a:r>
              <a:rPr sz="1200" b="0">
                <a:solidFill>
                  <a:srgbClr val="50665F"/>
                </a:solidFill>
              </a:rPr>
              <a:t>0–5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B615E-9E2A-4607-A74A-B4DF9F33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24275"/>
            <a:ext cx="3190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A948EE-7ADD-41CD-9365-1C5582BB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814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3D35"/>
                </a:solidFill>
              </a:defRPr>
            </a:pPr>
            <a:r>
              <a:rPr sz="1275" b="1">
                <a:solidFill>
                  <a:srgbClr val="143D35"/>
                </a:solidFill>
              </a:rPr>
              <a:t>Urban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B6231C-1CA0-471E-9A9F-81F6B56B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814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65F"/>
                </a:solidFill>
              </a:defRPr>
            </a:pPr>
            <a:r>
              <a:rPr sz="1200" b="0">
                <a:solidFill>
                  <a:srgbClr val="50665F"/>
                </a:solidFill>
              </a:rPr>
              <a:t>0–5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E7B079-B07C-4653-9E86-5C1D06A1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05300"/>
            <a:ext cx="3190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596780-1CFE-41D1-A0E3-68E54B7F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38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3D35"/>
                </a:solidFill>
              </a:defRPr>
            </a:pPr>
            <a:r>
              <a:rPr sz="1275" b="1">
                <a:solidFill>
                  <a:srgbClr val="143D35"/>
                </a:solidFill>
              </a:rPr>
              <a:t>Culture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27F9F2-F386-4BA2-9535-C810560D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38375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65F"/>
                </a:solidFill>
              </a:defRPr>
            </a:pPr>
            <a:r>
              <a:rPr sz="1200" b="0">
                <a:solidFill>
                  <a:srgbClr val="50665F"/>
                </a:solidFill>
              </a:rPr>
              <a:t>mean 0, variance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4C6E0E-3554-403B-B428-8F031CB82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62225"/>
            <a:ext cx="3714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1395E1-1794-4F20-9259-69DD8A78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19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3D35"/>
                </a:solidFill>
              </a:defRPr>
            </a:pPr>
            <a:r>
              <a:rPr sz="1275" b="1">
                <a:solidFill>
                  <a:srgbClr val="143D35"/>
                </a:solidFill>
              </a:rPr>
              <a:t>Adventure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C0224C-AE0D-4277-9823-EB0C3FE6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194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65F"/>
                </a:solidFill>
              </a:defRPr>
            </a:pPr>
            <a:r>
              <a:rPr sz="1200" b="0">
                <a:solidFill>
                  <a:srgbClr val="50665F"/>
                </a:solidFill>
              </a:rPr>
              <a:t>mean 0, variance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FE3E07-2D70-44AA-A245-E3A5ACFE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3714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7AE523-9991-405C-A257-281C4178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004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3D35"/>
                </a:solidFill>
              </a:defRPr>
            </a:pPr>
            <a:r>
              <a:rPr sz="1275" b="1">
                <a:solidFill>
                  <a:srgbClr val="143D35"/>
                </a:solidFill>
              </a:rPr>
              <a:t>Nature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28F72D-9135-4548-8899-C3EDA6FC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00425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65F"/>
                </a:solidFill>
              </a:defRPr>
            </a:pPr>
            <a:r>
              <a:rPr sz="1200" b="0">
                <a:solidFill>
                  <a:srgbClr val="50665F"/>
                </a:solidFill>
              </a:rPr>
              <a:t>mean 0, variance 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74991E-CED5-484F-A61C-22203B89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24275"/>
            <a:ext cx="3714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56607B-DE3E-4EB9-AA0C-522D1308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814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3D35"/>
                </a:solidFill>
              </a:defRPr>
            </a:pPr>
            <a:r>
              <a:rPr sz="1275" b="1">
                <a:solidFill>
                  <a:srgbClr val="143D35"/>
                </a:solidFill>
              </a:rPr>
              <a:t>Urban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50DE07-BD90-4AAF-A4DA-7FAF992B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98145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65F"/>
                </a:solidFill>
              </a:defRPr>
            </a:pPr>
            <a:r>
              <a:rPr sz="1200" b="0">
                <a:solidFill>
                  <a:srgbClr val="50665F"/>
                </a:solidFill>
              </a:rPr>
              <a:t>mean 0, variance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13EC23-FFAA-41BF-BED0-04FE1D4F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05300"/>
            <a:ext cx="37147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DF0A15-4276-4511-95C5-F853FC4E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87563"/>
                </a:solidFill>
              </a:defRPr>
            </a:pPr>
            <a:r>
              <a:rPr sz="1725" b="1">
                <a:solidFill>
                  <a:srgbClr val="187563"/>
                </a:solidFill>
              </a:rPr>
              <a:t>StandardScaler removes the mean and scales each feature to unit variance before the Euclidean distance query.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334F02-64AF-448C-B7B8-AF39C949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0665F"/>
                </a:solidFill>
              </a:defRPr>
            </a:pPr>
            <a:r>
              <a:rPr sz="1200" b="1">
                <a:solidFill>
                  <a:srgbClr val="50665F"/>
                </a:solidFill>
              </a:rPr>
              <a:t>This keeps the KNN pipeline consistent when the available candidate set changes after filtering.</a:t>
            </a:r>
          </a:p>
        </p:txBody>
      </p:sp>
    </p:spTree>
    <p:extLst>
      <p:ext uri="{BB962C8B-B14F-4D97-AF65-F5344CB8AC3E}">
        <p14:creationId xmlns:p14="http://schemas.microsoft.com/office/powerpoint/2010/main" val="9807952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43125E-4DDD-4922-8006-C0B43B3F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3D35"/>
                </a:solidFill>
              </a:defRPr>
            </a:pPr>
            <a:r>
              <a:rPr sz="2400" b="1">
                <a:solidFill>
                  <a:srgbClr val="143D35"/>
                </a:solidFill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87599-D9F6-4256-A78D-F8A87ECC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429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A small Streamlit application connects the dataset, ML pipeline, and decision-support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AC2E4-1AF8-426C-B62F-73C265DA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82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FEB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45B50-2A90-4492-922D-AA1A4C70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6000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0665F"/>
                </a:solidFill>
              </a:defRPr>
            </a:pPr>
            <a:r>
              <a:rPr sz="750" b="0">
                <a:solidFill>
                  <a:srgbClr val="50665F"/>
                </a:solidFill>
              </a:rPr>
              <a:t>Wayfinder | Tourist Destination Recommendation System Using KNN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FE277-9AA7-4DDC-B162-D71A6493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187563"/>
                </a:solidFill>
              </a:defRPr>
            </a:pPr>
            <a:r>
              <a:rPr sz="825" b="1">
                <a:solidFill>
                  <a:srgbClr val="187563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8561C-BB51-4792-B68B-14C349A5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1809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76F6E-65BD-431A-804F-8A613520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622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43D35"/>
                </a:solidFill>
              </a:defRPr>
            </a:pPr>
            <a:r>
              <a:rPr sz="1425" b="1">
                <a:solidFill>
                  <a:srgbClr val="143D35"/>
                </a:solidFill>
              </a:rPr>
              <a:t>Streamlit interface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B70DC-4A16-4161-A861-8A6FB2DF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622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563"/>
                </a:solidFill>
              </a:defRPr>
            </a:pPr>
            <a:r>
              <a:rPr sz="2100" b="1">
                <a:solidFill>
                  <a:srgbClr val="187563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38FE6-9ED5-4894-AF49-1BBB8FF6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1809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55C4C-7025-4713-B390-342522A1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622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43D35"/>
                </a:solidFill>
              </a:defRPr>
            </a:pPr>
            <a:r>
              <a:rPr sz="1425" b="1">
                <a:solidFill>
                  <a:srgbClr val="143D35"/>
                </a:solidFill>
              </a:rPr>
              <a:t>Pandas data loader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967F5-70ED-4E28-8E85-1BF10E90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5622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E8B45C"/>
                </a:solidFill>
              </a:defRPr>
            </a:pPr>
            <a:r>
              <a:rPr sz="2100" b="1">
                <a:solidFill>
                  <a:srgbClr val="E8B45C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52F86-2529-45B9-9B82-8B51F4A5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86000"/>
            <a:ext cx="1809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339638-9552-4D05-A3C6-8EFFE2A0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622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43D35"/>
                </a:solidFill>
              </a:defRPr>
            </a:pPr>
            <a:r>
              <a:rPr sz="1425" b="1">
                <a:solidFill>
                  <a:srgbClr val="143D35"/>
                </a:solidFill>
              </a:rPr>
              <a:t>KNN pipeline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92BD60-F7B9-451B-A48B-A498BDEE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622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D26A5C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D26A5C"/>
                </a:solidFill>
              </a:defRPr>
            </a:pPr>
            <a:r>
              <a:rPr sz="2100" b="1">
                <a:solidFill>
                  <a:srgbClr val="D26A5C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ED276-74FB-4890-88BC-2EAC48C4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1809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679F0F-7A57-4136-8D05-57F18ED5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622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43D35"/>
                </a:solidFill>
              </a:defRPr>
            </a:pPr>
            <a:r>
              <a:rPr sz="1425" b="1">
                <a:solidFill>
                  <a:srgbClr val="143D35"/>
                </a:solidFill>
              </a:rPr>
              <a:t>Recommendations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BC50B8-0132-4162-9BAA-30CAFBDB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3D35"/>
                </a:solidFill>
              </a:defRPr>
            </a:pPr>
            <a:r>
              <a:rPr sz="1275" b="1">
                <a:solidFill>
                  <a:srgbClr val="143D35"/>
                </a:solidFill>
              </a:rPr>
              <a:t>Map and Google Maps link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DF9420-F543-4283-AD59-F075E74A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95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Coordinates from CSV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C6F7C1-3A70-4FF6-AB8B-E2D620F5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95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3D35"/>
                </a:solidFill>
              </a:defRPr>
            </a:pPr>
            <a:r>
              <a:rPr sz="1275" b="1">
                <a:solidFill>
                  <a:srgbClr val="143D35"/>
                </a:solidFill>
              </a:rPr>
              <a:t>Weather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F7210E-5411-41A9-88DE-906575EB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95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Open-Meteo forecast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E0B29A-F59E-4B8E-8198-8ABD97E1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3D35"/>
                </a:solidFill>
              </a:defRPr>
            </a:pPr>
            <a:r>
              <a:rPr sz="1275" b="1">
                <a:solidFill>
                  <a:srgbClr val="143D35"/>
                </a:solidFill>
              </a:rPr>
              <a:t>Currency conversion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BE50BA-C358-45DC-B873-8EE3ADC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762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Frankfurter exchange-rate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0E2858-534A-40B6-8886-3FC80F77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3D35"/>
                </a:solidFill>
              </a:defRPr>
            </a:pPr>
            <a:r>
              <a:rPr sz="1275" b="1">
                <a:solidFill>
                  <a:srgbClr val="143D35"/>
                </a:solidFill>
              </a:rPr>
              <a:t>Exports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ED4AE2-32F9-40BF-BAEB-FB37C334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62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CSV and PDF favourites</a:t>
            </a:r>
          </a:p>
        </p:txBody>
      </p:sp>
    </p:spTree>
    <p:extLst>
      <p:ext uri="{BB962C8B-B14F-4D97-AF65-F5344CB8AC3E}">
        <p14:creationId xmlns:p14="http://schemas.microsoft.com/office/powerpoint/2010/main" val="1570009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A2D2D1-1EF6-433C-B75C-54B5186F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3D35"/>
                </a:solidFill>
              </a:defRPr>
            </a:pPr>
            <a:r>
              <a:rPr sz="2400" b="1">
                <a:solidFill>
                  <a:srgbClr val="143D35"/>
                </a:solidFill>
              </a:rPr>
              <a:t>Implementation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ED34E-6CEC-4080-82D3-BC4E7B0E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429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The system uses standard Python libraries and an unsupervised neighbour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C00ED-6339-4449-803E-C0ACB6DE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82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FEB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2305A-E89D-4371-8CA4-84193B66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6000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0665F"/>
                </a:solidFill>
              </a:defRPr>
            </a:pPr>
            <a:r>
              <a:rPr sz="750" b="0">
                <a:solidFill>
                  <a:srgbClr val="50665F"/>
                </a:solidFill>
              </a:rPr>
              <a:t>Wayfinder | Tourist Destination Recommendation System Using KNN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81E9D-5960-4874-AE08-352FF0E5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187563"/>
                </a:solidFill>
              </a:defRPr>
            </a:pPr>
            <a:r>
              <a:rPr sz="825" b="1">
                <a:solidFill>
                  <a:srgbClr val="187563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36874-87D7-485E-8056-5BC30E50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2428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7563"/>
                </a:solidFill>
              </a:defRPr>
            </a:pPr>
            <a:r>
              <a:rPr sz="1425" b="1">
                <a:solidFill>
                  <a:srgbClr val="187563"/>
                </a:solidFill>
              </a:rPr>
              <a:t>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A654A-765F-4148-8BA3-EB48360B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192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65F"/>
                </a:solidFill>
              </a:defRPr>
            </a:pPr>
            <a:r>
              <a:rPr sz="1275" b="0">
                <a:solidFill>
                  <a:srgbClr val="50665F"/>
                </a:solidFill>
              </a:rPr>
              <a:t>Core language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B00B3-C978-4844-9125-1426A55A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71675"/>
            <a:ext cx="94773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1E8CB-2D39-46B9-8D39-99BA79FF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28850"/>
            <a:ext cx="2428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7563"/>
                </a:solidFill>
              </a:defRPr>
            </a:pPr>
            <a:r>
              <a:rPr sz="1425" b="1">
                <a:solidFill>
                  <a:srgbClr val="187563"/>
                </a:solidFill>
              </a:rPr>
              <a:t>Pandas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EE945-DF71-44CD-9874-F1837B60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288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65F"/>
                </a:solidFill>
              </a:defRPr>
            </a:pPr>
            <a:r>
              <a:rPr sz="1275" b="0">
                <a:solidFill>
                  <a:srgbClr val="50665F"/>
                </a:solidFill>
              </a:rPr>
              <a:t>CSV loading, validation, filtering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F0935-9CBF-4CDA-A39E-5D7F6D8D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81275"/>
            <a:ext cx="94773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5ACEA-AB25-43F8-B42F-40E4F181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38450"/>
            <a:ext cx="2428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7563"/>
                </a:solidFill>
              </a:defRPr>
            </a:pPr>
            <a:r>
              <a:rPr sz="1425" b="1">
                <a:solidFill>
                  <a:srgbClr val="187563"/>
                </a:solidFill>
              </a:rPr>
              <a:t>scikit-learn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70B33-68CE-4F1E-9CC1-A505E208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384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65F"/>
                </a:solidFill>
              </a:defRPr>
            </a:pPr>
            <a:r>
              <a:rPr sz="1275" b="0">
                <a:solidFill>
                  <a:srgbClr val="50665F"/>
                </a:solidFill>
              </a:rPr>
              <a:t>StandardScaler and NearestNeighbors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40CAA8-9A56-4593-85D0-17251BA8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94773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06FE1-848C-40ED-9DC5-A629DB6D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48050"/>
            <a:ext cx="2428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7563"/>
                </a:solidFill>
              </a:defRPr>
            </a:pPr>
            <a:r>
              <a:rPr sz="1425" b="1">
                <a:solidFill>
                  <a:srgbClr val="187563"/>
                </a:solidFill>
              </a:rPr>
              <a:t>Streamlit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7640AC-8A54-4DA5-955B-5CFB1F3B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480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65F"/>
                </a:solidFill>
              </a:defRPr>
            </a:pPr>
            <a:r>
              <a:rPr sz="1275" b="0">
                <a:solidFill>
                  <a:srgbClr val="50665F"/>
                </a:solidFill>
              </a:rPr>
              <a:t>Interactive web interface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CBE137-48F2-4976-8958-D037244B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00475"/>
            <a:ext cx="94773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B63FD-C79B-45E8-BC76-C19A423E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57650"/>
            <a:ext cx="2428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7563"/>
                </a:solidFill>
              </a:defRPr>
            </a:pPr>
            <a:r>
              <a:rPr sz="1425" b="1">
                <a:solidFill>
                  <a:srgbClr val="187563"/>
                </a:solidFill>
              </a:rPr>
              <a:t>ReportLab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3BA6F3-6FE8-479B-9E4F-65CF04D9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576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65F"/>
                </a:solidFill>
              </a:defRPr>
            </a:pPr>
            <a:r>
              <a:rPr sz="1275" b="0">
                <a:solidFill>
                  <a:srgbClr val="50665F"/>
                </a:solidFill>
              </a:rPr>
              <a:t>PDF export for saved favourites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D73506-2B0C-4D19-8FE0-685912E2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94773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2A3DAD-4329-462F-B57C-BCCF6392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2428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7563"/>
                </a:solidFill>
              </a:defRPr>
            </a:pPr>
            <a:r>
              <a:rPr sz="1425" b="1">
                <a:solidFill>
                  <a:srgbClr val="187563"/>
                </a:solidFill>
              </a:rPr>
              <a:t>Open-Meteo / Frankfurter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C189DD-5354-4830-A2CD-830FAEE8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6725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65F"/>
                </a:solidFill>
              </a:defRPr>
            </a:pPr>
            <a:r>
              <a:rPr sz="1275" b="0">
                <a:solidFill>
                  <a:srgbClr val="50665F"/>
                </a:solidFill>
              </a:rPr>
              <a:t>Forecasts and exchange-rate conversion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7AF1EC-CBF1-4B4D-90F6-C768C4BE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19675"/>
            <a:ext cx="94773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6E7055-199F-4185-A6D9-9AA0A895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768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43D35"/>
                </a:solidFill>
              </a:defRPr>
            </a:pPr>
            <a:r>
              <a:rPr sz="1425" b="1">
                <a:solidFill>
                  <a:srgbClr val="143D35"/>
                </a:solidFill>
              </a:rPr>
              <a:t>Model setting: n_neighbors = min(5, number of filtered candidates), Euclidean distance.</a:t>
            </a:r>
          </a:p>
        </p:txBody>
      </p:sp>
    </p:spTree>
    <p:extLst>
      <p:ext uri="{BB962C8B-B14F-4D97-AF65-F5344CB8AC3E}">
        <p14:creationId xmlns:p14="http://schemas.microsoft.com/office/powerpoint/2010/main" val="12595734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157E55-8C33-46C6-802D-F2461621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3D35"/>
                </a:solidFill>
              </a:defRPr>
            </a:pPr>
            <a:r>
              <a:rPr sz="2400" b="1">
                <a:solidFill>
                  <a:srgbClr val="143D35"/>
                </a:solidFill>
              </a:rPr>
              <a:t>Experimental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3F001-4A7B-425A-AE04-98579247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429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The project evaluates unsupervised retrieval with reproducible diagnostic profiles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1FB5D-D0D3-4F7F-AC27-C8E4AC3E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82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FEB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2FBF6-17C9-4AB6-8396-2B301FCE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6000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0665F"/>
                </a:solidFill>
              </a:defRPr>
            </a:pPr>
            <a:r>
              <a:rPr sz="750" b="0">
                <a:solidFill>
                  <a:srgbClr val="50665F"/>
                </a:solidFill>
              </a:rPr>
              <a:t>Wayfinder | Tourist Destination Recommendation System Using KNN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7BEF7-A578-4224-80F4-AD0E4F52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187563"/>
                </a:solidFill>
              </a:defRPr>
            </a:pPr>
            <a:r>
              <a:rPr sz="825" b="1">
                <a:solidFill>
                  <a:srgbClr val="187563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36B9F-43F6-4A2E-B297-D1DFA3EA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43D35"/>
                </a:solidFill>
              </a:defRPr>
            </a:pPr>
            <a:r>
              <a:rPr sz="1725" b="1">
                <a:solidFill>
                  <a:srgbClr val="143D35"/>
                </a:solidFill>
              </a:rPr>
              <a:t>Why no train-test split?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5A832-8248-4005-8248-AA1DC7EE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457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0665F"/>
                </a:solidFill>
              </a:defRPr>
            </a:pPr>
            <a:r>
              <a:rPr sz="1350" b="0">
                <a:solidFill>
                  <a:srgbClr val="50665F"/>
                </a:solidFill>
              </a:rPr>
              <a:t>The dataset has no user relevance labels or target variable. KNN retrieves similar feature profiles rather than predicting a class or numeric outcome.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69E8E-961E-4D00-BAD8-26CCDCBA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43D35"/>
                </a:solidFill>
              </a:defRPr>
            </a:pPr>
            <a:r>
              <a:rPr sz="1725" b="1">
                <a:solidFill>
                  <a:srgbClr val="143D35"/>
                </a:solidFill>
              </a:rPr>
              <a:t>Diagnostic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69EAA-1519-49D9-8025-1F7D345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71700"/>
            <a:ext cx="1619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43D35"/>
                </a:solidFill>
              </a:defRPr>
            </a:pPr>
            <a:r>
              <a:rPr sz="1200" b="1">
                <a:solidFill>
                  <a:srgbClr val="143D35"/>
                </a:solidFill>
              </a:rPr>
              <a:t>Candidate pool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A3FE9-429F-46DC-90D4-A04E36E0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717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560 valid city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52679-A93D-4D6F-81CF-36E045D1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24150"/>
            <a:ext cx="1619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43D35"/>
                </a:solidFill>
              </a:defRPr>
            </a:pPr>
            <a:r>
              <a:rPr sz="1200" b="1">
                <a:solidFill>
                  <a:srgbClr val="143D35"/>
                </a:solidFill>
              </a:rPr>
              <a:t>Profiles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EB2C5E-C9FF-41D9-B98E-44979DE4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241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Culture seeker, nature adventurer, wellness traveller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2B0E7-C8FA-4962-AC11-138E6D91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76600"/>
            <a:ext cx="1619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43D35"/>
                </a:solidFill>
              </a:defRPr>
            </a:pPr>
            <a:r>
              <a:rPr sz="1200" b="1">
                <a:solidFill>
                  <a:srgbClr val="143D35"/>
                </a:solidFill>
              </a:rPr>
              <a:t>Features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92625D-40DA-421E-8816-B99BEB20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766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Nine standardised interest scores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7CF598-3971-4B07-B292-393C57AA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29050"/>
            <a:ext cx="1619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43D35"/>
                </a:solidFill>
              </a:defRPr>
            </a:pPr>
            <a:r>
              <a:rPr sz="1200" b="1">
                <a:solidFill>
                  <a:srgbClr val="143D35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140650-5996-4401-A392-145E0236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290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Top-five distance and actual returned destinations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535864-EB80-4C6A-B495-3763D658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87563"/>
                </a:solidFill>
              </a:defRPr>
            </a:pPr>
            <a:r>
              <a:rPr sz="1500" b="1">
                <a:solidFill>
                  <a:srgbClr val="187563"/>
                </a:solidFill>
              </a:rPr>
              <a:t>A smaller mean top-five distance indicates a closer match to the profile. It does not represent a probability or a satisfaction score.</a:t>
            </a:r>
          </a:p>
        </p:txBody>
      </p:sp>
    </p:spTree>
    <p:extLst>
      <p:ext uri="{BB962C8B-B14F-4D97-AF65-F5344CB8AC3E}">
        <p14:creationId xmlns:p14="http://schemas.microsoft.com/office/powerpoint/2010/main" val="8519346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4B6E0A-8B6F-42F7-9746-F612892D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3D35"/>
                </a:solidFill>
              </a:defRPr>
            </a:pPr>
            <a:r>
              <a:rPr sz="2400" b="1">
                <a:solidFill>
                  <a:srgbClr val="143D35"/>
                </a:solidFill>
              </a:rPr>
              <a:t>Experimental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6B00D-2103-4BCD-B1B9-25115FF1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429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Nature and adventure preferences had the closest matches in this catalogue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DB828-D6DE-479B-A5A6-BC75B981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82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FEB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2AD08-F390-4D59-AD2B-CA93E64F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6000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0665F"/>
                </a:solidFill>
              </a:defRPr>
            </a:pPr>
            <a:r>
              <a:rPr sz="750" b="0">
                <a:solidFill>
                  <a:srgbClr val="50665F"/>
                </a:solidFill>
              </a:rPr>
              <a:t>Wayfinder | Tourist Destination Recommendation System Using KNN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BE6EC-9726-4154-9EDB-1A9B071C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187563"/>
                </a:solidFill>
              </a:defRPr>
            </a:pPr>
            <a:r>
              <a:rPr sz="825" b="1">
                <a:solidFill>
                  <a:srgbClr val="187563"/>
                </a:solidFill>
              </a:rPr>
              <a:t>12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86C6824-44B7-4C6F-B7AA-680DAE4CEF96}"/>
              </a:ext>
            </a:extLst>
          </p:cNvPr>
          <p:cNvGraphicFramePr/>
          <p:nvPr/>
        </p:nvGraphicFramePr>
        <p:xfrm>
          <a:off xmlns:a="http://schemas.openxmlformats.org/drawingml/2006/main" x="762000" y="1762125"/>
          <a:ext xmlns:a="http://schemas.openxmlformats.org/drawingml/2006/main" cx="5810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2abb88e8a142f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A4103-5868-43F9-BA91-F67F0346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43D35"/>
                </a:solidFill>
              </a:defRPr>
            </a:pPr>
            <a:r>
              <a:rPr sz="1500" b="1">
                <a:solidFill>
                  <a:srgbClr val="143D35"/>
                </a:solidFill>
              </a:rPr>
              <a:t>Representative nearest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2DB75-C4B7-4DD7-8F2C-373EEEED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3D35"/>
                </a:solidFill>
              </a:defRPr>
            </a:pPr>
            <a:r>
              <a:rPr sz="1275" b="1">
                <a:solidFill>
                  <a:srgbClr val="143D35"/>
                </a:solidFill>
              </a:rPr>
              <a:t>Culture seeker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29C45-BC7C-4233-B0AB-1ACA9513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3362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87563"/>
                </a:solidFill>
              </a:defRPr>
            </a:pPr>
            <a:r>
              <a:rPr sz="1275" b="1">
                <a:solidFill>
                  <a:srgbClr val="187563"/>
                </a:solidFill>
              </a:rPr>
              <a:t>2.299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B4ED9C-DA01-4A35-8DFE-BEF7B51C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2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Dhaka, Bangladesh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01B6D3-6166-447F-92C0-17840F7E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24175"/>
            <a:ext cx="342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EFB0E-1802-4C59-AC48-BEEBFE23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99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3D35"/>
                </a:solidFill>
              </a:defRPr>
            </a:pPr>
            <a:r>
              <a:rPr sz="1275" b="1">
                <a:solidFill>
                  <a:srgbClr val="143D35"/>
                </a:solidFill>
              </a:rPr>
              <a:t>Nature adventurer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C37BB-0D7C-440D-B466-D05FE209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0992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87563"/>
                </a:solidFill>
              </a:defRPr>
            </a:pPr>
            <a:r>
              <a:rPr sz="1275" b="1">
                <a:solidFill>
                  <a:srgbClr val="187563"/>
                </a:solidFill>
              </a:rPr>
              <a:t>2.048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0895CA-CF12-4A01-964A-923160B3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052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Svalbard, Norway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B1158-CAC3-4F49-9C8B-4F7E6F21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00475"/>
            <a:ext cx="342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487C7-E034-4911-8464-0C6CADED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862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43D35"/>
                </a:solidFill>
              </a:defRPr>
            </a:pPr>
            <a:r>
              <a:rPr sz="1275" b="1">
                <a:solidFill>
                  <a:srgbClr val="143D35"/>
                </a:solidFill>
              </a:rPr>
              <a:t>Wellness traveller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DC36F9-0433-4889-BB22-72EFDA6B4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8622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87563"/>
                </a:solidFill>
              </a:defRPr>
            </a:pPr>
            <a:r>
              <a:rPr sz="1275" b="1">
                <a:solidFill>
                  <a:srgbClr val="187563"/>
                </a:solidFill>
              </a:rPr>
              <a:t>4.356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53A070-34AC-4E97-835C-16BCD7DC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Saaremaa Island, Estonia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17D5A-BBD3-4CB6-9627-B74D3E15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76775"/>
            <a:ext cx="342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7E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85E424-C9F1-4458-B162-FE2EFBAD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65F"/>
                </a:solidFill>
              </a:defRPr>
            </a:pPr>
            <a:r>
              <a:rPr sz="1200" b="0">
                <a:solidFill>
                  <a:srgbClr val="50665F"/>
                </a:solidFill>
              </a:rPr>
              <a:t>The wellness profile had the highest distance, suggesting weaker coverage for that preference combination in the source catalogue.</a:t>
            </a:r>
          </a:p>
        </p:txBody>
      </p:sp>
    </p:spTree>
    <p:extLst>
      <p:ext uri="{BB962C8B-B14F-4D97-AF65-F5344CB8AC3E}">
        <p14:creationId xmlns:p14="http://schemas.microsoft.com/office/powerpoint/2010/main" val="7624769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7E4F38-1FBC-4DFA-813D-70B973FF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3D35"/>
                </a:solidFill>
              </a:defRPr>
            </a:pPr>
            <a:r>
              <a:rPr sz="2400" b="1">
                <a:solidFill>
                  <a:srgbClr val="143D35"/>
                </a:solidFill>
              </a:rPr>
              <a:t>Recommendation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6B8A7-68AB-4036-B5F2-9D3526CB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429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The app turns a KNN ranking into useful planning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83349-0A6F-454F-9E91-E7F2BCC8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82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FEB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BB2F9-D539-4DC7-89F6-FAC724DF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6000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0665F"/>
                </a:solidFill>
              </a:defRPr>
            </a:pPr>
            <a:r>
              <a:rPr sz="750" b="0">
                <a:solidFill>
                  <a:srgbClr val="50665F"/>
                </a:solidFill>
              </a:rPr>
              <a:t>Wayfinder | Tourist Destination Recommendation System Using KNN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40CEF-5424-4E7B-A79F-9A078F35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187563"/>
                </a:solidFill>
              </a:defRPr>
            </a:pPr>
            <a:r>
              <a:rPr sz="825" b="1">
                <a:solidFill>
                  <a:srgbClr val="187563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99102-0AF4-48D6-B2A0-9368223C1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8B45C"/>
                </a:solidFill>
              </a:defRPr>
            </a:pPr>
            <a:r>
              <a:rPr sz="1350" b="1">
                <a:solidFill>
                  <a:srgbClr val="E8B45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8F097-40D0-4A45-8A48-C8FFC367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D35"/>
                </a:solidFill>
              </a:defRPr>
            </a:pPr>
            <a:r>
              <a:rPr sz="1950" b="1">
                <a:solidFill>
                  <a:srgbClr val="143D35"/>
                </a:solidFill>
              </a:rPr>
              <a:t>Results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0DE88-2C43-4B97-82DC-6B290D76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65F"/>
                </a:solidFill>
              </a:defRPr>
            </a:pPr>
            <a:r>
              <a:rPr sz="1275" b="0">
                <a:solidFill>
                  <a:srgbClr val="50665F"/>
                </a:solidFill>
              </a:rPr>
              <a:t>City, country, description, suggested stay, distance, and a planning estimate.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068BB-2E15-401C-86A5-82114955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CFEB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FE8DB-7F35-4343-BD33-3A26B922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8B45C"/>
                </a:solidFill>
              </a:defRPr>
            </a:pPr>
            <a:r>
              <a:rPr sz="1350" b="1">
                <a:solidFill>
                  <a:srgbClr val="E8B45C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A1582-C287-4694-A216-3CEED36A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D35"/>
                </a:solidFill>
              </a:defRPr>
            </a:pPr>
            <a:r>
              <a:rPr sz="1950" b="1">
                <a:solidFill>
                  <a:srgbClr val="143D35"/>
                </a:solidFill>
              </a:rPr>
              <a:t>Explore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7F953-0BB9-44CD-A9D5-023365AF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813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65F"/>
                </a:solidFill>
              </a:defRPr>
            </a:pPr>
            <a:r>
              <a:rPr sz="1275" b="0">
                <a:solidFill>
                  <a:srgbClr val="50665F"/>
                </a:solidFill>
              </a:rPr>
              <a:t>Interactive map, Google Maps location, details link, and live weather forecast.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823D72-D156-48B6-8FA8-08ABB9AF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95750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CFEB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6C412-66D5-42DC-A51D-3F54DCA8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8B45C"/>
                </a:solidFill>
              </a:defRPr>
            </a:pPr>
            <a:r>
              <a:rPr sz="1350" b="1">
                <a:solidFill>
                  <a:srgbClr val="E8B45C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7DD6C1-DD7A-4E4F-B77E-8262F2A9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95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D35"/>
                </a:solidFill>
              </a:defRPr>
            </a:pPr>
            <a:r>
              <a:rPr sz="1950" b="1">
                <a:solidFill>
                  <a:srgbClr val="143D35"/>
                </a:solidFill>
              </a:rPr>
              <a:t>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B6DF33-C99A-40D6-AC47-0419419B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0665F"/>
                </a:solidFill>
              </a:defRPr>
            </a:pPr>
            <a:r>
              <a:rPr sz="1275" b="0">
                <a:solidFill>
                  <a:srgbClr val="50665F"/>
                </a:solidFill>
              </a:rPr>
              <a:t>Cost breakdown, favourites, CSV/PDF exports, comparison, and shareable settings.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CC66ED-B9F3-458F-923E-5919AA85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95750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CFEB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63FDE-1DA2-4B7D-A536-58785E72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43D35"/>
                </a:solidFill>
              </a:defRPr>
            </a:pPr>
            <a:r>
              <a:rPr sz="1575" b="1">
                <a:solidFill>
                  <a:srgbClr val="143D35"/>
                </a:solidFill>
              </a:rPr>
              <a:t>Cost values are clearly labelled as planning estimates. The source provides budget categories, not live hotel, flight, or booking prices.</a:t>
            </a:r>
          </a:p>
        </p:txBody>
      </p:sp>
    </p:spTree>
    <p:extLst>
      <p:ext uri="{BB962C8B-B14F-4D97-AF65-F5344CB8AC3E}">
        <p14:creationId xmlns:p14="http://schemas.microsoft.com/office/powerpoint/2010/main" val="6735960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7DF0F5-D95D-4813-9606-2476F4C6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3D35"/>
                </a:solidFill>
              </a:defRPr>
            </a:pPr>
            <a:r>
              <a:rPr sz="2400" b="1">
                <a:solidFill>
                  <a:srgbClr val="143D35"/>
                </a:solidFill>
              </a:rPr>
              <a:t>Strengths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AABEC-E095-4AA4-8F6D-A0C8E5492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429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The project provides transparent discovery support while keeping data limits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4370C-209E-458F-99C8-4221C989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82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FEB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3AC86-0C59-4DBF-A69A-24E3E3FD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6000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0665F"/>
                </a:solidFill>
              </a:defRPr>
            </a:pPr>
            <a:r>
              <a:rPr sz="750" b="0">
                <a:solidFill>
                  <a:srgbClr val="50665F"/>
                </a:solidFill>
              </a:rPr>
              <a:t>Wayfinder | Tourist Destination Recommendation System Using KNN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F03BB-5872-4D43-9A20-07A8CA3A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187563"/>
                </a:solidFill>
              </a:defRPr>
            </a:pPr>
            <a:r>
              <a:rPr sz="825" b="1">
                <a:solidFill>
                  <a:srgbClr val="187563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13490-0626-478C-A820-ECBC3A95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87563"/>
                </a:solidFill>
              </a:defRPr>
            </a:pPr>
            <a:r>
              <a:rPr sz="1725" b="1">
                <a:solidFill>
                  <a:srgbClr val="187563"/>
                </a:solidFill>
              </a:rPr>
              <a:t>Strengths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50D1D-CEC6-4CC2-A6DE-075C31B3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7563"/>
                </a:solidFill>
              </a:defRPr>
            </a:pPr>
            <a:r>
              <a:rPr sz="1575" b="1">
                <a:solidFill>
                  <a:srgbClr val="187563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1F3B9-2CB5-4EBF-BF91-E828C591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FABE3-BE9A-4E5C-A2D9-B66D6CB7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47925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65F"/>
                </a:solidFill>
              </a:defRPr>
            </a:pPr>
            <a:r>
              <a:rPr sz="1050" b="0">
                <a:solidFill>
                  <a:srgbClr val="50665F"/>
                </a:solidFill>
              </a:rPr>
              <a:t>Clear user inputs and visible KNN distance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8B3D2-BA4C-43E5-97EF-7AC08B5B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7563"/>
                </a:solidFill>
              </a:defRPr>
            </a:pPr>
            <a:r>
              <a:rPr sz="1575" b="1">
                <a:solidFill>
                  <a:srgbClr val="187563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25AEB-A54B-4622-8F15-72E6102E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6C198-40C2-47AF-99AE-131B4EF6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95625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65F"/>
                </a:solidFill>
              </a:defRPr>
            </a:pPr>
            <a:r>
              <a:rPr sz="1050" b="0">
                <a:solidFill>
                  <a:srgbClr val="50665F"/>
                </a:solidFill>
              </a:rPr>
              <a:t>StandardScaler used before Euclidean distance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2B7E2-5A64-41B5-B420-F8954221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7563"/>
                </a:solidFill>
              </a:defRPr>
            </a:pPr>
            <a:r>
              <a:rPr sz="1575" b="1">
                <a:solidFill>
                  <a:srgbClr val="187563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AB16AA-6A39-4C92-ADF2-3C53BF50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8557D-19F2-4CE6-A861-D72F33FD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65F"/>
                </a:solidFill>
              </a:defRPr>
            </a:pPr>
            <a:r>
              <a:rPr sz="1050" b="0">
                <a:solidFill>
                  <a:srgbClr val="50665F"/>
                </a:solidFill>
              </a:rPr>
              <a:t>Small catalogue supports fast interactive queries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9B2307-A691-49AA-B168-FC60FB59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7563"/>
                </a:solidFill>
              </a:defRPr>
            </a:pPr>
            <a:r>
              <a:rPr sz="1575" b="1">
                <a:solidFill>
                  <a:srgbClr val="187563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BE2262-833D-4BEB-9B95-B9F29FCD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434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F59958-8D99-4483-9049-24022AF6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91025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65F"/>
                </a:solidFill>
              </a:defRPr>
            </a:pPr>
            <a:r>
              <a:rPr sz="1050" b="0">
                <a:solidFill>
                  <a:srgbClr val="50665F"/>
                </a:solidFill>
              </a:rPr>
              <a:t>Map, weather, favourites, exports, and comparison add practical value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6EDF57-E4EB-47AA-B9F9-22A013CA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1">
                <a:solidFill>
                  <a:srgbClr val="D26A5C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D26A5C"/>
                </a:solidFill>
              </a:defRPr>
            </a:pPr>
            <a:r>
              <a:rPr sz="1725" b="1">
                <a:solidFill>
                  <a:srgbClr val="D26A5C"/>
                </a:solidFill>
              </a:rPr>
              <a:t>Limitations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364F1-0ADA-4D5C-85D2-577C4720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7563"/>
                </a:solidFill>
              </a:defRPr>
            </a:pPr>
            <a:r>
              <a:rPr sz="1575" b="1">
                <a:solidFill>
                  <a:srgbClr val="187563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F8A9A-9EB4-4136-8F6B-D34F0F36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90750"/>
            <a:ext cx="424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089063-825C-4161-84E6-8A2625E6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47925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65F"/>
                </a:solidFill>
              </a:defRPr>
            </a:pPr>
            <a:r>
              <a:rPr sz="1050" b="0">
                <a:solidFill>
                  <a:srgbClr val="50665F"/>
                </a:solidFill>
              </a:rPr>
              <a:t>Interest scores are publisher-provided rather than validated user ratings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C0EE38-7A4B-42CE-A0FE-A64EC0B6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384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7563"/>
                </a:solidFill>
              </a:defRPr>
            </a:pPr>
            <a:r>
              <a:rPr sz="1575" b="1">
                <a:solidFill>
                  <a:srgbClr val="187563"/>
                </a:solidFill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DA7C3E-352A-4166-B72B-71698F3E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38450"/>
            <a:ext cx="424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5A2447-636F-4A32-B3D5-21C7F43A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95625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65F"/>
                </a:solidFill>
              </a:defRPr>
            </a:pPr>
            <a:r>
              <a:rPr sz="1050" b="0">
                <a:solidFill>
                  <a:srgbClr val="50665F"/>
                </a:solidFill>
              </a:rPr>
              <a:t>Budget categories cannot produce booking-accurate costs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A0CF46-F8F9-47DA-81BC-5A94AA4B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86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7563"/>
                </a:solidFill>
              </a:defRPr>
            </a:pPr>
            <a:r>
              <a:rPr sz="1575" b="1">
                <a:solidFill>
                  <a:srgbClr val="187563"/>
                </a:solidFill>
              </a:rPr>
              <a:t>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26EC0D-B348-4CA9-8B33-9A714FD6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86150"/>
            <a:ext cx="424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14D7BF-A499-4B79-8DAC-FCA9D0C3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43325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65F"/>
                </a:solidFill>
              </a:defRPr>
            </a:pPr>
            <a:r>
              <a:rPr sz="1050" b="0">
                <a:solidFill>
                  <a:srgbClr val="50665F"/>
                </a:solidFill>
              </a:rPr>
              <a:t>Coverage varies by region and travel style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84E5A0-E2D5-44D8-AADE-2C239194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7563"/>
                </a:solidFill>
              </a:defRPr>
            </a:pPr>
            <a:r>
              <a:rPr sz="1575" b="1">
                <a:solidFill>
                  <a:srgbClr val="187563"/>
                </a:solidFill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B17186-5397-49AF-9DD7-57BFA035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33850"/>
            <a:ext cx="424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42637D-98E0-4EB7-96D7-1103E7F2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91025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0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0665F"/>
                </a:solidFill>
              </a:defRPr>
            </a:pPr>
            <a:r>
              <a:rPr sz="1050" b="0">
                <a:solidFill>
                  <a:srgbClr val="50665F"/>
                </a:solidFill>
              </a:rPr>
              <a:t>No user feedback labels for precision, recall, or satisfaction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916132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81699F-6759-456D-AE61-437D76F6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3D35"/>
                </a:solidFill>
              </a:defRPr>
            </a:pPr>
            <a:r>
              <a:rPr sz="2400" b="1">
                <a:solidFill>
                  <a:srgbClr val="143D35"/>
                </a:solidFill>
              </a:rPr>
              <a:t>Future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9716F3-2337-4ADD-B411-DF15D66B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429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A production version needs verified live data and relevance feedback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DAB21-4431-4CFF-87F4-A580C5D8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82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FEB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F89BB-7A3C-47AA-9058-A90A2328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6000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0665F"/>
                </a:solidFill>
              </a:defRPr>
            </a:pPr>
            <a:r>
              <a:rPr sz="750" b="0">
                <a:solidFill>
                  <a:srgbClr val="50665F"/>
                </a:solidFill>
              </a:rPr>
              <a:t>Wayfinder | Tourist Destination Recommendation System Using KNN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648AD-B124-46B1-9072-66BDA81A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187563"/>
                </a:solidFill>
              </a:defRPr>
            </a:pPr>
            <a:r>
              <a:rPr sz="825" b="1">
                <a:solidFill>
                  <a:srgbClr val="187563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AEE5A-1311-4D94-B8F1-0017920D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8B45C"/>
                </a:solidFill>
              </a:defRPr>
            </a:pPr>
            <a:r>
              <a:rPr sz="1350" b="1">
                <a:solidFill>
                  <a:srgbClr val="E8B45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85444-5C06-4EBC-BE31-80ADDEC8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14500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43D35"/>
                </a:solidFill>
              </a:defRPr>
            </a:pPr>
            <a:r>
              <a:rPr sz="1500" b="1">
                <a:solidFill>
                  <a:srgbClr val="143D35"/>
                </a:solidFill>
              </a:rPr>
              <a:t>Verified travel costs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5E217-D66E-47D3-975E-F662F3D6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669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65F"/>
                </a:solidFill>
              </a:defRPr>
            </a:pPr>
            <a:r>
              <a:rPr sz="1200" b="0">
                <a:solidFill>
                  <a:srgbClr val="50665F"/>
                </a:solidFill>
              </a:rPr>
              <a:t>Add route, dates, exchange rate, hotel, and activity providers.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74B72-856B-401A-9C03-A85B24B1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8B45C"/>
                </a:solidFill>
              </a:defRPr>
            </a:pPr>
            <a:r>
              <a:rPr sz="1350" b="1">
                <a:solidFill>
                  <a:srgbClr val="E8B45C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26858-23BE-413F-8E80-D8BA247F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67000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43D35"/>
                </a:solidFill>
              </a:defRPr>
            </a:pPr>
            <a:r>
              <a:rPr sz="1500" b="1">
                <a:solidFill>
                  <a:srgbClr val="143D35"/>
                </a:solidFill>
              </a:rPr>
              <a:t>Personalised ranking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C189D-B629-40F9-AA12-CE050269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194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65F"/>
                </a:solidFill>
              </a:defRPr>
            </a:pPr>
            <a:r>
              <a:rPr sz="1200" b="0">
                <a:solidFill>
                  <a:srgbClr val="50665F"/>
                </a:solidFill>
              </a:rPr>
              <a:t>Use consent-based history and explicit feedback to build a hybrid recommender.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2B37A-9EE5-4D3D-BBAB-A289EFC9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8B45C"/>
                </a:solidFill>
              </a:defRPr>
            </a:pPr>
            <a:r>
              <a:rPr sz="1350" b="1">
                <a:solidFill>
                  <a:srgbClr val="E8B45C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4143C-FD31-46CA-B01F-3DCB676D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43D35"/>
                </a:solidFill>
              </a:defRPr>
            </a:pPr>
            <a:r>
              <a:rPr sz="1500" b="1">
                <a:solidFill>
                  <a:srgbClr val="143D35"/>
                </a:solidFill>
              </a:rPr>
              <a:t>Quality 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D609A-E255-4F99-81E3-097428DC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719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65F"/>
                </a:solidFill>
              </a:defRPr>
            </a:pPr>
            <a:r>
              <a:rPr sz="1200" b="0">
                <a:solidFill>
                  <a:srgbClr val="50665F"/>
                </a:solidFill>
              </a:rPr>
              <a:t>Collect relevance judgments and measure ranking quality with held-out feedback.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5E80B-5E76-4E1A-9D76-09E895E6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E8B45C"/>
                </a:solidFill>
              </a:defRPr>
            </a:pPr>
            <a:r>
              <a:rPr sz="1350" b="1">
                <a:solidFill>
                  <a:srgbClr val="E8B45C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3198C-2989-4A88-A382-FFB3FF5D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333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43D35"/>
                </a:solidFill>
              </a:defRPr>
            </a:pPr>
            <a:r>
              <a:rPr sz="1500" b="1">
                <a:solidFill>
                  <a:srgbClr val="143D35"/>
                </a:solidFill>
              </a:rPr>
              <a:t>Destination information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C18A7A-9864-4D29-82EF-B8BB8AEA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24425"/>
            <a:ext cx="809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65F"/>
                </a:solidFill>
              </a:defRPr>
            </a:pPr>
            <a:r>
              <a:rPr sz="1200" b="0">
                <a:solidFill>
                  <a:srgbClr val="50665F"/>
                </a:solidFill>
              </a:rPr>
              <a:t>Add official tourism sources, accessibility information, and multilingual content.</a:t>
            </a:r>
          </a:p>
        </p:txBody>
      </p:sp>
    </p:spTree>
    <p:extLst>
      <p:ext uri="{BB962C8B-B14F-4D97-AF65-F5344CB8AC3E}">
        <p14:creationId xmlns:p14="http://schemas.microsoft.com/office/powerpoint/2010/main" val="19906518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43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B7380-1AEC-4380-80D4-E306B1B4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8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0F6A1-366F-4F8D-A537-09CD9127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742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1">
                <a:solidFill>
                  <a:srgbClr val="DCEDE5"/>
                </a:solidFill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DCEDE5"/>
                </a:solidFill>
              </a:defRPr>
            </a:pPr>
            <a:r>
              <a:rPr sz="2025" b="1">
                <a:solidFill>
                  <a:srgbClr val="DCEDE5"/>
                </a:solidFill>
              </a:rPr>
              <a:t>Wayfinder demonstrates how a scaled KNN model can connect a traveller's preferences with a global city catalogue in a transparent, interactive format.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C35BD-4055-443F-8CE6-8312FEEC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E8B45C"/>
                </a:solidFill>
              </a:defRPr>
            </a:pPr>
            <a:r>
              <a:rPr sz="1275" b="1">
                <a:solidFill>
                  <a:srgbClr val="E8B45C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BD0D0-4C95-466E-BFF9-22F41EDF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560 city profiles filtered by practical travel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8190C-5F85-4156-9A5E-AEF83C60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E8B45C"/>
                </a:solidFill>
              </a:defRPr>
            </a:pPr>
            <a:r>
              <a:rPr sz="1275" b="1">
                <a:solidFill>
                  <a:srgbClr val="E8B45C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4A779-DA2E-44DC-82D6-E822FD24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290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Six travel styles expanded into nine KNN interest dimensions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0EFD7-551E-4C0E-8FA6-D0471C67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75" b="1">
                <a:solidFill>
                  <a:srgbClr val="E8B45C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E8B45C"/>
                </a:solidFill>
              </a:defRPr>
            </a:pPr>
            <a:r>
              <a:rPr sz="1275" b="1">
                <a:solidFill>
                  <a:srgbClr val="E8B45C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B4D1B-27F2-42BF-AA8B-BA60A873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425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Top five city matches returned with map, planning, and saving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4687B-C014-461C-8471-D8464436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1">
                <a:solidFill>
                  <a:srgbClr val="CFEBDD"/>
                </a:solidFill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FEBDD"/>
                </a:solidFill>
              </a:defRPr>
            </a:pPr>
            <a:r>
              <a:rPr sz="2100" b="1">
                <a:solidFill>
                  <a:srgbClr val="CFEBDD"/>
                </a:solidFill>
              </a:rPr>
              <a:t>Thank you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67679-405A-481E-B954-89B6DA9D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6000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0665F"/>
                </a:solidFill>
              </a:defRPr>
            </a:pPr>
            <a:r>
              <a:rPr sz="750" b="0">
                <a:solidFill>
                  <a:srgbClr val="50665F"/>
                </a:solidFill>
              </a:rPr>
              <a:t>Wayfinder | Tourist Destination Recommendation System Using KNN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7585FB-611B-466F-B546-D6D6C9E6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187563"/>
                </a:solidFill>
              </a:defRPr>
            </a:pPr>
            <a:r>
              <a:rPr sz="825" b="1">
                <a:solidFill>
                  <a:srgbClr val="187563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433654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B0067-A8C1-4CDE-946B-189EC854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1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3D35"/>
                </a:solidFill>
              </a:defRPr>
            </a:pPr>
            <a:r>
              <a:rPr sz="2400" b="1">
                <a:solidFill>
                  <a:srgbClr val="143D35"/>
                </a:solidFill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E426C-02E5-42E1-9600-328EBB31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4297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125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0665F"/>
                </a:solidFill>
              </a:defRPr>
            </a:pPr>
            <a:r>
              <a:rPr sz="1125" b="0">
                <a:solidFill>
                  <a:srgbClr val="50665F"/>
                </a:solidFill>
              </a:rPr>
              <a:t>Data and technical documentation used in the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FACB2-1BB1-4665-BA20-2DC6BD51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782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CFEB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EF691-64FF-48FF-9AB1-4B41D00E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96050"/>
            <a:ext cx="6000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75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0665F"/>
                </a:solidFill>
              </a:defRPr>
            </a:pPr>
            <a:r>
              <a:rPr sz="750" b="0">
                <a:solidFill>
                  <a:srgbClr val="50665F"/>
                </a:solidFill>
              </a:rPr>
              <a:t>Wayfinder | Tourist Destination Recommendation System Using KNN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7CDD1-4629-4164-A281-1C51ED1E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67475"/>
            <a:ext cx="3619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825" b="1">
                <a:solidFill>
                  <a:srgbClr val="187563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187563"/>
                </a:solidFill>
              </a:defRPr>
            </a:pPr>
            <a:r>
              <a:rPr sz="825" b="1">
                <a:solidFill>
                  <a:srgbClr val="187563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13EBB-0ECF-4EBA-A064-FFAC2470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43D35"/>
                </a:solidFill>
              </a:defRPr>
            </a:pPr>
            <a:r>
              <a:rPr sz="1200" b="0">
                <a:solidFill>
                  <a:srgbClr val="143D35"/>
                </a:solidFill>
              </a:rPr>
              <a:t>[1] Furkan Ima. Worldwide Travel Cities: Ratings and Climate. Kaggle dataset.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9651FE-C8E7-41DF-ABF4-1B2B5F72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43D35"/>
                </a:solidFill>
              </a:defRPr>
            </a:pPr>
            <a:r>
              <a:rPr sz="1200" b="0">
                <a:solidFill>
                  <a:srgbClr val="143D35"/>
                </a:solidFill>
              </a:rPr>
              <a:t>[2] scikit-learn developers. NearestNeighbors documentation.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14AA2-7830-4E43-B222-2A933616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43D35"/>
                </a:solidFill>
              </a:defRPr>
            </a:pPr>
            <a:r>
              <a:rPr sz="1200" b="0">
                <a:solidFill>
                  <a:srgbClr val="143D35"/>
                </a:solidFill>
              </a:rPr>
              <a:t>[3] scikit-learn developers. StandardScaler documentation.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F939F-32EE-4E2B-993F-AAE86FDB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43D35"/>
                </a:solidFill>
              </a:defRPr>
            </a:pPr>
            <a:r>
              <a:rPr sz="1200" b="0">
                <a:solidFill>
                  <a:srgbClr val="143D35"/>
                </a:solidFill>
              </a:rPr>
              <a:t>[4] Streamlit documentation.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9375B-CD37-4A77-B22F-72E24426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43D35"/>
                </a:solidFill>
              </a:defRPr>
            </a:pPr>
            <a:r>
              <a:rPr sz="1200" b="0">
                <a:solidFill>
                  <a:srgbClr val="143D35"/>
                </a:solidFill>
              </a:rPr>
              <a:t>[5] Frankfurter. Foreign exchange rates API.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ED497-4590-44E7-9265-A4D51709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43D35"/>
                </a:solidFill>
              </a:defRPr>
            </a:pPr>
            <a:r>
              <a:rPr sz="1200" b="0">
                <a:solidFill>
                  <a:srgbClr val="143D35"/>
                </a:solidFill>
              </a:rPr>
              <a:t>[6] Open-Meteo. Weather Forecast API.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2F8775-2C4A-4C51-AFB6-DE926CC4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143D35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43D35"/>
                </a:solidFill>
              </a:defRPr>
            </a:pPr>
            <a:r>
              <a:rPr sz="1200" b="0">
                <a:solidFill>
                  <a:srgbClr val="143D35"/>
                </a:solidFill>
              </a:rPr>
              <a:t>[7] F. Ricci, L. Rokach, and B. Shapira. Recommender Systems Handbook, 3rd ed., Springer, 2022.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CC4DA-9DCB-4652-95B7-DCABDEB5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200" b="0">
                <a:solidFill>
                  <a:srgbClr val="50665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65F"/>
                </a:solidFill>
              </a:defRPr>
            </a:pPr>
            <a:r>
              <a:rPr sz="1200" b="0">
                <a:solidFill>
                  <a:srgbClr val="50665F"/>
                </a:solidFill>
              </a:rPr>
              <a:t>Project report, code, dataset, and source notes are included in the submitted project folder.</a:t>
            </a:r>
          </a:p>
        </p:txBody>
      </p:sp>
    </p:spTree>
    <p:extLst>
      <p:ext uri="{BB962C8B-B14F-4D97-AF65-F5344CB8AC3E}">
        <p14:creationId xmlns:p14="http://schemas.microsoft.com/office/powerpoint/2010/main" val="19900470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2026-10-14T18:05:50.7680000Z</dcterms:created>
  <dcterms:modified xsi:type="dcterms:W3CDTF">2026-10-14T18:05:50.7680000Z</dcterms:modified>
</coreProperties>
</file>