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475" autoAdjust="0"/>
  </p:normalViewPr>
  <p:slideViewPr>
    <p:cSldViewPr snapToGrid="0">
      <p:cViewPr varScale="1">
        <p:scale>
          <a:sx n="84" d="100"/>
          <a:sy n="84" d="100"/>
        </p:scale>
        <p:origin x="62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Destinations</c:v>
          </c:tx>
          <c:spPr>
            <a:solidFill>
              <a:srgbClr val="2D6651"/>
            </a:solidFill>
          </c:spPr>
          <c:invertIfNegative val="1"/>
          <c:dLbls>
            <c:spPr>
              <a:noFill/>
              <a:ln>
                <a:noFill/>
              </a:ln>
              <a:effectLst/>
            </c:spPr>
            <c:txPr>
              <a:bodyPr anchorCtr="1"/>
              <a:lstStyle/>
              <a:p>
                <a:pPr>
                  <a:defRPr sz="1425" b="1">
                    <a:solidFill>
                      <a:srgbClr val="18382E"/>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North India</c:v>
                </c:pt>
                <c:pt idx="1">
                  <c:v>South India</c:v>
                </c:pt>
                <c:pt idx="2">
                  <c:v>West India</c:v>
                </c:pt>
                <c:pt idx="3">
                  <c:v>East and Northeast India</c:v>
                </c:pt>
              </c:strCache>
            </c:strRef>
          </c:cat>
          <c:val>
            <c:numRef>
              <c:f>'Chart Data'!$B$2:$B$5</c:f>
              <c:numCache>
                <c:formatCode>General</c:formatCode>
                <c:ptCount val="4"/>
                <c:pt idx="0">
                  <c:v>13</c:v>
                </c:pt>
                <c:pt idx="1">
                  <c:v>12</c:v>
                </c:pt>
                <c:pt idx="2">
                  <c:v>5</c:v>
                </c:pt>
                <c:pt idx="3">
                  <c:v>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D9A-492A-97D0-7BC4AE4EF5DC}"/>
            </c:ext>
          </c:extLst>
        </c:ser>
        <c:dLbls>
          <c:dLblPos val="outEnd"/>
          <c:showLegendKey val="0"/>
          <c:showVal val="1"/>
          <c:showCatName val="0"/>
          <c:showSerName val="0"/>
          <c:showPercent val="0"/>
          <c:showBubbleSize val="0"/>
        </c:dLbls>
        <c:gapWidth val="72"/>
        <c:axId val="48650112"/>
        <c:axId val="48672768"/>
      </c:barChart>
      <c:catAx>
        <c:axId val="48650112"/>
        <c:scaling>
          <c:orientation val="minMax"/>
        </c:scaling>
        <c:delete val="0"/>
        <c:axPos val="l"/>
        <c:majorGridlines>
          <c:spPr>
            <a:ln w="9525">
              <a:solidFill>
                <a:srgbClr val="D8E1DA"/>
              </a:solidFill>
              <a:prstDash val="solid"/>
            </a:ln>
          </c:spPr>
        </c:majorGridlines>
        <c:numFmt formatCode="General" sourceLinked="1"/>
        <c:majorTickMark val="none"/>
        <c:minorTickMark val="none"/>
        <c:tickLblPos val="nextTo"/>
        <c:spPr>
          <a:ln w="9525">
            <a:solidFill>
              <a:srgbClr val="D8E1DA"/>
            </a:solidFill>
            <a:prstDash val="solid"/>
          </a:ln>
        </c:spPr>
        <c:txPr>
          <a:bodyPr anchorCtr="1"/>
          <a:lstStyle/>
          <a:p>
            <a:pPr>
              <a:defRPr sz="1350">
                <a:solidFill>
                  <a:srgbClr val="65766D"/>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8E1DA"/>
            </a:solidFill>
            <a:prstDash val="solid"/>
          </a:ln>
        </c:spPr>
        <c:txPr>
          <a:bodyPr anchorCtr="1"/>
          <a:lstStyle/>
          <a:p>
            <a:pPr>
              <a:defRPr sz="1350">
                <a:solidFill>
                  <a:srgbClr val="18382E"/>
                </a:solidFill>
                <a:latin typeface="Arial"/>
                <a:ea typeface="Arial"/>
                <a:cs typeface="Arial"/>
              </a:defRPr>
            </a:pPr>
            <a:endParaRPr lang="en-US"/>
          </a:p>
        </c:txPr>
        <c:crossAx val="48650112"/>
        <c:crosses val="autoZero"/>
        <c:crossBetween val="between"/>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Traveler</c:v>
          </c:tx>
          <c:spPr>
            <a:solidFill>
              <a:srgbClr val="E9784D"/>
            </a:solidFill>
          </c:spPr>
          <c:invertIfNegative val="1"/>
          <c:dLbls>
            <c:spPr>
              <a:noFill/>
              <a:ln>
                <a:noFill/>
              </a:ln>
              <a:effectLst/>
            </c:spPr>
            <c:txPr>
              <a:bodyPr anchorCtr="1"/>
              <a:lstStyle/>
              <a:p>
                <a:pPr>
                  <a:defRPr sz="1350" b="1">
                    <a:solidFill>
                      <a:srgbClr val="18382E"/>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Nature</c:v>
                </c:pt>
                <c:pt idx="1">
                  <c:v>Beach</c:v>
                </c:pt>
                <c:pt idx="2">
                  <c:v>Adventure</c:v>
                </c:pt>
                <c:pt idx="3">
                  <c:v>Culture</c:v>
                </c:pt>
              </c:strCache>
            </c:strRef>
          </c:cat>
          <c:val>
            <c:numRef>
              <c:f>'Chart Data'!$B$2:$B$5</c:f>
              <c:numCache>
                <c:formatCode>General</c:formatCode>
                <c:ptCount val="4"/>
                <c:pt idx="0">
                  <c:v>7</c:v>
                </c:pt>
                <c:pt idx="1">
                  <c:v>4</c:v>
                </c:pt>
                <c:pt idx="2">
                  <c:v>6</c:v>
                </c:pt>
                <c:pt idx="3">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C96-4447-A0BE-45237637CFCE}"/>
            </c:ext>
          </c:extLst>
        </c:ser>
        <c:ser>
          <c:idx val="1"/>
          <c:order val="1"/>
          <c:tx>
            <c:v>Shimla</c:v>
          </c:tx>
          <c:spPr>
            <a:solidFill>
              <a:srgbClr val="2D6651"/>
            </a:solidFill>
          </c:spPr>
          <c:invertIfNegative val="1"/>
          <c:dLbls>
            <c:spPr>
              <a:noFill/>
              <a:ln>
                <a:noFill/>
              </a:ln>
              <a:effectLst/>
            </c:spPr>
            <c:txPr>
              <a:bodyPr anchorCtr="1"/>
              <a:lstStyle/>
              <a:p>
                <a:pPr>
                  <a:defRPr sz="1350" b="1">
                    <a:solidFill>
                      <a:srgbClr val="18382E"/>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Nature</c:v>
                </c:pt>
                <c:pt idx="1">
                  <c:v>Beach</c:v>
                </c:pt>
                <c:pt idx="2">
                  <c:v>Adventure</c:v>
                </c:pt>
                <c:pt idx="3">
                  <c:v>Culture</c:v>
                </c:pt>
              </c:strCache>
            </c:strRef>
          </c:cat>
          <c:val>
            <c:numRef>
              <c:f>'Chart Data'!$D$2:$D$5</c:f>
              <c:numCache>
                <c:formatCode>General</c:formatCode>
                <c:ptCount val="4"/>
                <c:pt idx="0">
                  <c:v>9</c:v>
                </c:pt>
                <c:pt idx="1">
                  <c:v>1</c:v>
                </c:pt>
                <c:pt idx="2">
                  <c:v>6</c:v>
                </c:pt>
                <c:pt idx="3">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C96-4447-A0BE-45237637CFCE}"/>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l"/>
        <c:majorGridlines>
          <c:spPr>
            <a:ln w="9525">
              <a:solidFill>
                <a:srgbClr val="D8E1DA"/>
              </a:solidFill>
              <a:prstDash val="solid"/>
            </a:ln>
          </c:spPr>
        </c:majorGridlines>
        <c:numFmt formatCode="General" sourceLinked="1"/>
        <c:majorTickMark val="none"/>
        <c:minorTickMark val="none"/>
        <c:tickLblPos val="nextTo"/>
        <c:spPr>
          <a:ln w="9525">
            <a:solidFill>
              <a:srgbClr val="D8E1DA"/>
            </a:solidFill>
            <a:prstDash val="solid"/>
          </a:ln>
        </c:spPr>
        <c:txPr>
          <a:bodyPr anchorCtr="1"/>
          <a:lstStyle/>
          <a:p>
            <a:pPr>
              <a:defRPr sz="1275">
                <a:solidFill>
                  <a:srgbClr val="65766D"/>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8E1DA"/>
            </a:solidFill>
            <a:prstDash val="solid"/>
          </a:ln>
        </c:spPr>
        <c:txPr>
          <a:bodyPr anchorCtr="1"/>
          <a:lstStyle/>
          <a:p>
            <a:pPr>
              <a:defRPr sz="1500">
                <a:solidFill>
                  <a:srgbClr val="18382E"/>
                </a:solidFill>
                <a:latin typeface="Arial"/>
                <a:ea typeface="Arial"/>
                <a:cs typeface="Arial"/>
              </a:defRPr>
            </a:pPr>
            <a:endParaRPr lang="en-US"/>
          </a:p>
        </c:txPr>
        <c:crossAx val="48650112"/>
        <c:crosses val="autoZero"/>
        <c:crossBetween val="between"/>
      </c:valAx>
      <c:spPr>
        <a:noFill/>
        <a:ln w="0">
          <a:noFill/>
          <a:prstDash val="solid"/>
        </a:ln>
      </c:spPr>
    </c:plotArea>
    <c:legend>
      <c:legendPos val="b"/>
      <c:overlay val="0"/>
      <c:txPr>
        <a:bodyPr anchorCtr="1"/>
        <a:lstStyle/>
        <a:p>
          <a:pPr>
            <a:defRPr sz="1350">
              <a:solidFill>
                <a:srgbClr val="65766D"/>
              </a:solidFill>
              <a:latin typeface="Arial"/>
              <a:ea typeface="Arial"/>
              <a:cs typeface="Arial"/>
            </a:defRPr>
          </a:pPr>
          <a:endParaRPr lang="en-US"/>
        </a:p>
      </c:txPr>
    </c:legend>
    <c:plotVisOnly val="1"/>
    <c:dispBlanksAs val="zero"/>
    <c:showDLblsOverMax val="1"/>
  </c:chart>
  <c:spPr>
    <a:no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1 — Tourist Destination Recommendation System Using KNN</a:t>
            </a:r>
          </a:p>
          <a:p>
            <a:r>
              <a:rPr lang="en-IN" dirty="0"/>
              <a:t>“Good morning everyone. My project is a Tourist Destination Recommendation System that uses the K-Nearest </a:t>
            </a:r>
            <a:r>
              <a:rPr lang="en-IN" dirty="0" err="1"/>
              <a:t>Neighbors</a:t>
            </a:r>
            <a:r>
              <a:rPr lang="en-IN" dirty="0"/>
              <a:t> algorithm, or KNN. It compares a </a:t>
            </a:r>
            <a:r>
              <a:rPr lang="en-IN" dirty="0" err="1"/>
              <a:t>traveler’s</a:t>
            </a:r>
            <a:r>
              <a:rPr lang="en-IN" dirty="0"/>
              <a:t> budget, trip length, and interests with example destination profiles, then suggests the five closest matches. I’ll explain the data, how the algorithm works, and how the app presents its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2 — Project objective</a:t>
            </a:r>
          </a:p>
          <a:p>
            <a:r>
              <a:rPr lang="en-IN" dirty="0"/>
              <a:t>“Choosing a destination involves more than one thing. A </a:t>
            </a:r>
            <a:r>
              <a:rPr lang="en-IN" dirty="0" err="1"/>
              <a:t>traveler</a:t>
            </a:r>
            <a:r>
              <a:rPr lang="en-IN" dirty="0"/>
              <a:t> may have a budget and a limited number of days, but they also have personal interests. This project combines those preferences and compares them with the destinations in its dataset. The result is a ranked shortlist. It’s a learning project, so it doesn’t provide live prices or book trips.”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3 — The </a:t>
            </a:r>
            <a:r>
              <a:rPr lang="en-IN" b="1" dirty="0" err="1"/>
              <a:t>traveler</a:t>
            </a:r>
            <a:r>
              <a:rPr lang="en-IN" b="1" dirty="0"/>
              <a:t> profile</a:t>
            </a:r>
          </a:p>
          <a:p>
            <a:r>
              <a:rPr lang="en-IN" dirty="0"/>
              <a:t>“The app builds a </a:t>
            </a:r>
            <a:r>
              <a:rPr lang="en-IN" dirty="0" err="1"/>
              <a:t>traveler</a:t>
            </a:r>
            <a:r>
              <a:rPr lang="en-IN" dirty="0"/>
              <a:t> profile from six numeric inputs. Two describe the trip: budget and number of days. The other four are interest ratings for nature, beaches, adventure, and culture, each on a scale from one to ten. The example we’ll use has a budget of thirty thousand rupees, five days, and ratings of seven, four, six, and seven.”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4 — The destination dataset</a:t>
            </a:r>
          </a:p>
          <a:p>
            <a:r>
              <a:rPr lang="en-IN" dirty="0"/>
              <a:t>“The dataset contains 35 destination profiles. Their illustrative budgets range from fourteen thousand to fifty-eight thousand rupees, and their suggested stays range from two to eight days. The chart shows how many destinations belong to each region. North and South India account for 25 of the 35 entries, so the dataset has more coverage in those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5 — What each destination row contains</a:t>
            </a:r>
          </a:p>
          <a:p>
            <a:r>
              <a:rPr lang="en-IN" dirty="0"/>
              <a:t>“Each row contains a destination name, budget, duration, and four interest scores. For example, Shimla has a sample budget of twenty-six thousand rupees and a suggested stay of five days. Its interest scores are nine for nature, one for beaches, six for adventure, and seven for culture. State and region help with display and filtering, but they aren’t included in the distance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6 — Why the app standardizes its features</a:t>
            </a:r>
          </a:p>
          <a:p>
            <a:r>
              <a:rPr lang="en-IN" dirty="0"/>
              <a:t>“The inputs use different scales. Budget is measured in thousands of rupees, while interests range from one to ten. If we calculated distance directly from those raw values, budget could dominate the result. </a:t>
            </a:r>
            <a:r>
              <a:rPr lang="en-IN" dirty="0" err="1"/>
              <a:t>StandardScaler</a:t>
            </a:r>
            <a:r>
              <a:rPr lang="en-IN" dirty="0"/>
              <a:t> addresses this by subtracting each feature’s mean and dividing by its standard deviation. The app fits the scaler on the destination data, then uses that same scaler for the </a:t>
            </a:r>
            <a:r>
              <a:rPr lang="en-IN" dirty="0" err="1"/>
              <a:t>traveler</a:t>
            </a:r>
            <a:r>
              <a:rPr lang="en-IN"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7 — KNN is a nearest-profile search</a:t>
            </a:r>
          </a:p>
          <a:p>
            <a:r>
              <a:rPr lang="en-IN" dirty="0"/>
              <a:t>“The app uses scikit-</a:t>
            </a:r>
            <a:r>
              <a:rPr lang="en-IN" dirty="0" err="1"/>
              <a:t>learn’s</a:t>
            </a:r>
            <a:r>
              <a:rPr lang="en-IN" dirty="0"/>
              <a:t> </a:t>
            </a:r>
            <a:r>
              <a:rPr lang="en-IN" dirty="0" err="1"/>
              <a:t>NearestNeighbors</a:t>
            </a:r>
            <a:r>
              <a:rPr lang="en-IN" dirty="0"/>
              <a:t> with Euclidean distance and asks for five </a:t>
            </a:r>
            <a:r>
              <a:rPr lang="en-IN" dirty="0" err="1"/>
              <a:t>neighbors</a:t>
            </a:r>
            <a:r>
              <a:rPr lang="en-IN" dirty="0"/>
              <a:t>. You can think of each </a:t>
            </a:r>
            <a:r>
              <a:rPr lang="en-IN" dirty="0" err="1"/>
              <a:t>traveler</a:t>
            </a:r>
            <a:r>
              <a:rPr lang="en-IN" dirty="0"/>
              <a:t> and destination as a point described by six scaled values. The algorithm finds which destination points are closest. This implementation retrieves existing rows; it doesn’t learn destination categories or predict a class. A smaller distance means the profiles are closer.”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8 — Recommendation pipeline</a:t>
            </a:r>
          </a:p>
          <a:p>
            <a:r>
              <a:rPr lang="en-IN" dirty="0"/>
              <a:t>“First, the app reads the CSV and selects the six numeric features. It standardizes the destination profiles, then optionally narrows the candidates to one region. Next, it transforms the </a:t>
            </a:r>
            <a:r>
              <a:rPr lang="en-IN" dirty="0" err="1"/>
              <a:t>traveler’s</a:t>
            </a:r>
            <a:r>
              <a:rPr lang="en-IN" dirty="0"/>
              <a:t> profile using the same scaler and asks KNN for the nearest destinations. Finally, it displays the destination names, sample trip details, and distances. The region filter changes which destinations can be returned, but it doesn’t change the scaler.”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9 — Worked example: the default </a:t>
            </a:r>
            <a:r>
              <a:rPr lang="en-IN" b="1" dirty="0" err="1"/>
              <a:t>traveler</a:t>
            </a:r>
            <a:r>
              <a:rPr lang="en-IN" b="1" dirty="0"/>
              <a:t> profile</a:t>
            </a:r>
          </a:p>
          <a:p>
            <a:r>
              <a:rPr lang="en-IN" dirty="0"/>
              <a:t>“This table shows the app’s recommendations for the default profile: thirty thousand rupees, five days, and interest ratings of seven, four, six, and seven. With All India selected, Shimla ranks first at a distance of 1.21. Darjeeling is second, followed by Shillong, Kutch, and Sundarbans. These budgets and stays come from the sample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10 — What Shimla’s comparison explains</a:t>
            </a:r>
          </a:p>
          <a:p>
            <a:r>
              <a:rPr lang="en-IN" dirty="0"/>
              <a:t>“This chart compares the </a:t>
            </a:r>
            <a:r>
              <a:rPr lang="en-IN" dirty="0" err="1"/>
              <a:t>traveler’s</a:t>
            </a:r>
            <a:r>
              <a:rPr lang="en-IN" dirty="0"/>
              <a:t> four interest ratings with Shimla’s assigned scores. The nature ratings are fairly close: seven for the </a:t>
            </a:r>
            <a:r>
              <a:rPr lang="en-IN" dirty="0" err="1"/>
              <a:t>traveler</a:t>
            </a:r>
            <a:r>
              <a:rPr lang="en-IN" dirty="0"/>
              <a:t> and nine for Shimla. Adventure and culture match exactly in this example. The beach scores differ. This chart explains the interest part of the profile. Budget and days also affect the KNN distance, so the chart doesn’t explain the entire ranking by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11 — How to read a recommendation</a:t>
            </a:r>
          </a:p>
          <a:p>
            <a:r>
              <a:rPr lang="en-IN" dirty="0"/>
              <a:t>“A result shows the destination and location, its sample budget and suggested stay, its KNN distance, and an explanation of its interest scores. In this example, Shimla’s distance is 1.21. That number is a distance in standardized feature space. It isn’t a percentage, probability, or guarantee that the destination will suit every </a:t>
            </a:r>
            <a:r>
              <a:rPr lang="en-IN" dirty="0" err="1"/>
              <a:t>traveler</a:t>
            </a:r>
            <a:r>
              <a:rPr lang="en-IN" dirty="0"/>
              <a:t>. The budget is also a comparison, not a strict filter.”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12 — How the project is implemented</a:t>
            </a:r>
          </a:p>
          <a:p>
            <a:r>
              <a:rPr lang="en-IN" dirty="0"/>
              <a:t>“</a:t>
            </a:r>
            <a:r>
              <a:rPr lang="en-IN" dirty="0" err="1"/>
              <a:t>Streamlit</a:t>
            </a:r>
            <a:r>
              <a:rPr lang="en-IN" dirty="0"/>
              <a:t> provides the interactive form and displays the results. Pandas reads the CSV, and NumPy helps represent the </a:t>
            </a:r>
            <a:r>
              <a:rPr lang="en-IN" dirty="0" err="1"/>
              <a:t>traveler’s</a:t>
            </a:r>
            <a:r>
              <a:rPr lang="en-IN" dirty="0"/>
              <a:t> profile and locate matching rows. Scikit-learn supplies </a:t>
            </a:r>
            <a:r>
              <a:rPr lang="en-IN" dirty="0" err="1"/>
              <a:t>StandardScaler</a:t>
            </a:r>
            <a:r>
              <a:rPr lang="en-IN" dirty="0"/>
              <a:t> and </a:t>
            </a:r>
            <a:r>
              <a:rPr lang="en-IN" dirty="0" err="1"/>
              <a:t>NearestNeighbors</a:t>
            </a:r>
            <a:r>
              <a:rPr lang="en-IN" dirty="0"/>
              <a:t>. The file app.py coordinates these parts, while requirements.txt lists the package versions needed to run the 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13 — Limits of the current recommendation</a:t>
            </a:r>
          </a:p>
          <a:p>
            <a:r>
              <a:rPr lang="en-IN" dirty="0"/>
              <a:t>“The recommendations depend on a small dataset of 35 destinations. Its budgets and interest scores are illustrative, rather than live prices or verified reviews. The app doesn’t account for availability, season, travel time, or accessibility. It also doesn’t exclude a destination just because its sample budget is higher than the </a:t>
            </a:r>
            <a:r>
              <a:rPr lang="en-IN" dirty="0" err="1"/>
              <a:t>traveler’s</a:t>
            </a:r>
            <a:r>
              <a:rPr lang="en-IN" dirty="0"/>
              <a:t> budget. This is best understood as a transparent machine-learning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16 — Key takeaway</a:t>
            </a:r>
          </a:p>
          <a:p>
            <a:r>
              <a:rPr lang="en-IN" dirty="0"/>
              <a:t>“To summarize, the app converts six </a:t>
            </a:r>
            <a:r>
              <a:rPr lang="en-IN" dirty="0" err="1"/>
              <a:t>traveler</a:t>
            </a:r>
            <a:r>
              <a:rPr lang="en-IN" dirty="0"/>
              <a:t> inputs into a standardized profile, finds the five closest destination profiles with KNN, and shows results the user can inspect. The most important idea is that the distance is a measure of similarity within this sample dataset, not a promise of the perfect trip. Thank you. I’m happy to take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820"/>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19907" r="19907"/>
          <a:stretch>
            <a:fillRect/>
          </a:stretch>
        </p:blipFill>
        <p:spPr>
          <a:xfrm>
            <a:off x="6000750" y="0"/>
            <a:ext cx="6191250" cy="6858000"/>
          </a:xfrm>
          <a:prstGeom prst="rect">
            <a:avLst/>
          </a:prstGeom>
        </p:spPr>
      </p:pic>
      <p:sp>
        <p:nvSpPr>
          <p:cNvPr id="2" name="Rectangle 1">
            <a:extLst>
              <a:ext uri="{FF2B5EF4-FFF2-40B4-BE49-F238E27FC236}">
                <a16:creationId xmlns:a16="http://schemas.microsoft.com/office/drawing/2014/main" id="{62C30D58-6C92-4F09-89E7-002D1C7BC209}"/>
              </a:ext>
            </a:extLst>
          </p:cNvPr>
          <p:cNvSpPr>
            <a:spLocks noGrp="1"/>
          </p:cNvSpPr>
          <p:nvPr/>
        </p:nvSpPr>
        <p:spPr>
          <a:xfrm>
            <a:off x="0" y="0"/>
            <a:ext cx="6048375" cy="6858000"/>
          </a:xfrm>
          <a:prstGeom prst="rect">
            <a:avLst/>
          </a:prstGeom>
          <a:solidFill>
            <a:srgbClr val="112820"/>
          </a:solidFill>
          <a:ln w="0">
            <a:noFill/>
            <a:prstDash val="solid"/>
          </a:ln>
        </p:spPr>
        <p:txBody>
          <a:bodyPr/>
          <a:lstStyle/>
          <a:p>
            <a:endParaRPr lang="en-IN"/>
          </a:p>
        </p:txBody>
      </p:sp>
      <p:sp>
        <p:nvSpPr>
          <p:cNvPr id="3" name="Rectangle 2">
            <a:extLst>
              <a:ext uri="{FF2B5EF4-FFF2-40B4-BE49-F238E27FC236}">
                <a16:creationId xmlns:a16="http://schemas.microsoft.com/office/drawing/2014/main" id="{9627313F-2C44-49A0-A6AF-DEF720A8D14B}"/>
              </a:ext>
            </a:extLst>
          </p:cNvPr>
          <p:cNvSpPr>
            <a:spLocks noGrp="1"/>
          </p:cNvSpPr>
          <p:nvPr/>
        </p:nvSpPr>
        <p:spPr>
          <a:xfrm>
            <a:off x="685800" y="952500"/>
            <a:ext cx="4762500" cy="304800"/>
          </a:xfrm>
          <a:prstGeom prst="rect">
            <a:avLst/>
          </a:prstGeom>
          <a:noFill/>
          <a:ln w="0">
            <a:noFill/>
            <a:prstDash val="solid"/>
          </a:ln>
        </p:spPr>
        <p:txBody>
          <a:bodyPr wrap="square" lIns="0" tIns="0" rIns="0" bIns="0" anchor="t">
            <a:normAutofit/>
          </a:bodyPr>
          <a:lstStyle/>
          <a:p>
            <a:pPr algn="l">
              <a:defRPr sz="1350" b="1" i="0">
                <a:solidFill>
                  <a:srgbClr val="B9D9C5"/>
                </a:solidFill>
                <a:latin typeface="Arial"/>
                <a:ea typeface="Arial"/>
                <a:cs typeface="Arial"/>
              </a:defRPr>
            </a:pPr>
            <a:r>
              <a:rPr sz="1350" b="1" i="0">
                <a:solidFill>
                  <a:srgbClr val="B9D9C5"/>
                </a:solidFill>
                <a:latin typeface="Arial"/>
                <a:ea typeface="Arial"/>
                <a:cs typeface="Arial"/>
              </a:rPr>
              <a:t>MACHINE LEARNING PROJECT</a:t>
            </a:r>
          </a:p>
        </p:txBody>
      </p:sp>
      <p:sp>
        <p:nvSpPr>
          <p:cNvPr id="4" name="Rectangle 3">
            <a:extLst>
              <a:ext uri="{FF2B5EF4-FFF2-40B4-BE49-F238E27FC236}">
                <a16:creationId xmlns:a16="http://schemas.microsoft.com/office/drawing/2014/main" id="{73010BB5-1001-46CD-AFBA-A5F60A8A0264}"/>
              </a:ext>
            </a:extLst>
          </p:cNvPr>
          <p:cNvSpPr>
            <a:spLocks noGrp="1"/>
          </p:cNvSpPr>
          <p:nvPr/>
        </p:nvSpPr>
        <p:spPr>
          <a:xfrm>
            <a:off x="685800" y="1657350"/>
            <a:ext cx="4953000" cy="2305050"/>
          </a:xfrm>
          <a:prstGeom prst="rect">
            <a:avLst/>
          </a:prstGeom>
          <a:noFill/>
          <a:ln w="0">
            <a:noFill/>
            <a:prstDash val="solid"/>
          </a:ln>
        </p:spPr>
        <p:txBody>
          <a:bodyPr wrap="square" lIns="0" tIns="0" rIns="0" bIns="0" anchor="t">
            <a:normAutofit/>
          </a:bodyPr>
          <a:lstStyle/>
          <a:p>
            <a:pPr algn="l">
              <a:defRPr sz="4050" b="1" i="0">
                <a:solidFill>
                  <a:srgbClr val="FFFFFF"/>
                </a:solidFill>
                <a:latin typeface="Arial"/>
                <a:ea typeface="Arial"/>
                <a:cs typeface="Arial"/>
              </a:defRPr>
            </a:pPr>
            <a:r>
              <a:rPr sz="4050" b="1" i="0">
                <a:solidFill>
                  <a:srgbClr val="FFFFFF"/>
                </a:solidFill>
                <a:latin typeface="Arial"/>
                <a:ea typeface="Arial"/>
                <a:cs typeface="Arial"/>
              </a:rPr>
              <a:t>Tourist Destination</a:t>
            </a:r>
          </a:p>
          <a:p>
            <a:pPr algn="l">
              <a:defRPr sz="4050" b="1" i="0">
                <a:solidFill>
                  <a:srgbClr val="FFFFFF"/>
                </a:solidFill>
                <a:latin typeface="Arial"/>
                <a:ea typeface="Arial"/>
                <a:cs typeface="Arial"/>
              </a:defRPr>
            </a:pPr>
            <a:r>
              <a:rPr sz="4050" b="1" i="0">
                <a:solidFill>
                  <a:srgbClr val="FFFFFF"/>
                </a:solidFill>
                <a:latin typeface="Arial"/>
                <a:ea typeface="Arial"/>
                <a:cs typeface="Arial"/>
              </a:rPr>
              <a:t>Recommendation</a:t>
            </a:r>
          </a:p>
          <a:p>
            <a:pPr algn="l">
              <a:defRPr sz="4050" b="1" i="0">
                <a:solidFill>
                  <a:srgbClr val="FFFFFF"/>
                </a:solidFill>
                <a:latin typeface="Arial"/>
                <a:ea typeface="Arial"/>
                <a:cs typeface="Arial"/>
              </a:defRPr>
            </a:pPr>
            <a:r>
              <a:rPr sz="4050" b="1" i="0">
                <a:solidFill>
                  <a:srgbClr val="FFFFFF"/>
                </a:solidFill>
                <a:latin typeface="Arial"/>
                <a:ea typeface="Arial"/>
                <a:cs typeface="Arial"/>
              </a:rPr>
              <a:t>System Using KNN</a:t>
            </a:r>
          </a:p>
        </p:txBody>
      </p:sp>
      <p:sp>
        <p:nvSpPr>
          <p:cNvPr id="5" name="Rectangle 4">
            <a:extLst>
              <a:ext uri="{FF2B5EF4-FFF2-40B4-BE49-F238E27FC236}">
                <a16:creationId xmlns:a16="http://schemas.microsoft.com/office/drawing/2014/main" id="{103587DA-FCBF-4F49-9015-53E7089FDFCE}"/>
              </a:ext>
            </a:extLst>
          </p:cNvPr>
          <p:cNvSpPr>
            <a:spLocks noGrp="1"/>
          </p:cNvSpPr>
          <p:nvPr/>
        </p:nvSpPr>
        <p:spPr>
          <a:xfrm>
            <a:off x="704850" y="4248150"/>
            <a:ext cx="914400" cy="47625"/>
          </a:xfrm>
          <a:prstGeom prst="rect">
            <a:avLst/>
          </a:prstGeom>
          <a:solidFill>
            <a:srgbClr val="E9784D"/>
          </a:solidFill>
          <a:ln w="0">
            <a:noFill/>
            <a:prstDash val="solid"/>
          </a:ln>
        </p:spPr>
        <p:txBody>
          <a:bodyPr/>
          <a:lstStyle/>
          <a:p>
            <a:endParaRPr lang="en-IN"/>
          </a:p>
        </p:txBody>
      </p:sp>
      <p:sp>
        <p:nvSpPr>
          <p:cNvPr id="6" name="Rectangle 5">
            <a:extLst>
              <a:ext uri="{FF2B5EF4-FFF2-40B4-BE49-F238E27FC236}">
                <a16:creationId xmlns:a16="http://schemas.microsoft.com/office/drawing/2014/main" id="{8B638DF7-1736-4337-9B47-BEB90B708FF5}"/>
              </a:ext>
            </a:extLst>
          </p:cNvPr>
          <p:cNvSpPr>
            <a:spLocks noGrp="1"/>
          </p:cNvSpPr>
          <p:nvPr/>
        </p:nvSpPr>
        <p:spPr>
          <a:xfrm>
            <a:off x="704850" y="4552950"/>
            <a:ext cx="4476750" cy="666750"/>
          </a:xfrm>
          <a:prstGeom prst="rect">
            <a:avLst/>
          </a:prstGeom>
          <a:noFill/>
          <a:ln w="0">
            <a:noFill/>
            <a:prstDash val="solid"/>
          </a:ln>
        </p:spPr>
        <p:txBody>
          <a:bodyPr wrap="square" lIns="0" tIns="0" rIns="0" bIns="0" anchor="t">
            <a:normAutofit/>
          </a:bodyPr>
          <a:lstStyle/>
          <a:p>
            <a:pPr algn="l">
              <a:defRPr sz="2025" b="0" i="0">
                <a:solidFill>
                  <a:srgbClr val="E5EEE8"/>
                </a:solidFill>
                <a:latin typeface="Arial"/>
                <a:ea typeface="Arial"/>
                <a:cs typeface="Arial"/>
              </a:defRPr>
            </a:pPr>
            <a:r>
              <a:rPr sz="2025" b="0" i="0">
                <a:solidFill>
                  <a:srgbClr val="E5EEE8"/>
                </a:solidFill>
                <a:latin typeface="Arial"/>
                <a:ea typeface="Arial"/>
                <a:cs typeface="Arial"/>
              </a:rPr>
              <a:t>A profile-based way to shortlist trips across India</a:t>
            </a:r>
          </a:p>
        </p:txBody>
      </p:sp>
      <p:sp>
        <p:nvSpPr>
          <p:cNvPr id="7" name="Rectangle 6">
            <a:extLst>
              <a:ext uri="{FF2B5EF4-FFF2-40B4-BE49-F238E27FC236}">
                <a16:creationId xmlns:a16="http://schemas.microsoft.com/office/drawing/2014/main" id="{D90FEC3A-5799-4E01-9B41-DA7D190B983F}"/>
              </a:ext>
            </a:extLst>
          </p:cNvPr>
          <p:cNvSpPr>
            <a:spLocks noGrp="1"/>
          </p:cNvSpPr>
          <p:nvPr/>
        </p:nvSpPr>
        <p:spPr>
          <a:xfrm>
            <a:off x="704850" y="5857875"/>
            <a:ext cx="4762500" cy="285750"/>
          </a:xfrm>
          <a:prstGeom prst="rect">
            <a:avLst/>
          </a:prstGeom>
          <a:noFill/>
          <a:ln w="0">
            <a:noFill/>
            <a:prstDash val="solid"/>
          </a:ln>
        </p:spPr>
        <p:txBody>
          <a:bodyPr wrap="square" lIns="0" tIns="0" rIns="0" bIns="0" anchor="t">
            <a:normAutofit/>
          </a:bodyPr>
          <a:lstStyle/>
          <a:p>
            <a:pPr algn="l">
              <a:defRPr sz="1425" b="0" i="0">
                <a:solidFill>
                  <a:srgbClr val="B7C8BD"/>
                </a:solidFill>
                <a:latin typeface="Arial"/>
                <a:ea typeface="Arial"/>
                <a:cs typeface="Arial"/>
              </a:defRPr>
            </a:pPr>
            <a:r>
              <a:rPr sz="1425" b="0" i="0">
                <a:solidFill>
                  <a:srgbClr val="B7C8BD"/>
                </a:solidFill>
                <a:latin typeface="Arial"/>
                <a:ea typeface="Arial"/>
                <a:cs typeface="Arial"/>
              </a:rPr>
              <a:t>Python, Streamlit, Pandas, NumPy and scikit-learn</a:t>
            </a:r>
          </a:p>
        </p:txBody>
      </p:sp>
    </p:spTree>
    <p:extLst>
      <p:ext uri="{BB962C8B-B14F-4D97-AF65-F5344CB8AC3E}">
        <p14:creationId xmlns:p14="http://schemas.microsoft.com/office/powerpoint/2010/main" val="1514087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F35E42B-6C87-484D-806A-766DE1E4B776}"/>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Project objective</a:t>
            </a:r>
          </a:p>
        </p:txBody>
      </p:sp>
      <p:sp>
        <p:nvSpPr>
          <p:cNvPr id="2" name="Rectangle 1">
            <a:extLst>
              <a:ext uri="{FF2B5EF4-FFF2-40B4-BE49-F238E27FC236}">
                <a16:creationId xmlns:a16="http://schemas.microsoft.com/office/drawing/2014/main" id="{D24A6E21-5C49-4536-801E-8032DB8BC4C2}"/>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Turn a short set of travel preferences into a ranked destination shortlist.</a:t>
            </a:r>
          </a:p>
        </p:txBody>
      </p:sp>
      <p:sp>
        <p:nvSpPr>
          <p:cNvPr id="3" name="Rectangle 2">
            <a:extLst>
              <a:ext uri="{FF2B5EF4-FFF2-40B4-BE49-F238E27FC236}">
                <a16:creationId xmlns:a16="http://schemas.microsoft.com/office/drawing/2014/main" id="{5646D1D8-3AD9-4E7E-B0D1-8727C3365C00}"/>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8F78D3CA-BDC9-4E55-9029-AC9DE9066B6E}"/>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02</a:t>
            </a:r>
          </a:p>
        </p:txBody>
      </p:sp>
      <p:sp>
        <p:nvSpPr>
          <p:cNvPr id="5" name="Rectangle 4">
            <a:extLst>
              <a:ext uri="{FF2B5EF4-FFF2-40B4-BE49-F238E27FC236}">
                <a16:creationId xmlns:a16="http://schemas.microsoft.com/office/drawing/2014/main" id="{6817BA78-CE11-41E4-990A-C4AFEECD7811}"/>
              </a:ext>
            </a:extLst>
          </p:cNvPr>
          <p:cNvSpPr>
            <a:spLocks noGrp="1"/>
          </p:cNvSpPr>
          <p:nvPr/>
        </p:nvSpPr>
        <p:spPr>
          <a:xfrm>
            <a:off x="628650" y="1952625"/>
            <a:ext cx="5048250" cy="1333500"/>
          </a:xfrm>
          <a:prstGeom prst="rect">
            <a:avLst/>
          </a:prstGeom>
          <a:noFill/>
          <a:ln w="0">
            <a:noFill/>
            <a:prstDash val="solid"/>
          </a:ln>
        </p:spPr>
        <p:txBody>
          <a:bodyPr wrap="square" lIns="0" tIns="0" rIns="0" bIns="0" anchor="t">
            <a:normAutofit/>
          </a:bodyPr>
          <a:lstStyle/>
          <a:p>
            <a:pPr algn="l">
              <a:defRPr sz="3225" b="1" i="0">
                <a:solidFill>
                  <a:srgbClr val="18382E"/>
                </a:solidFill>
                <a:latin typeface="Arial"/>
                <a:ea typeface="Arial"/>
                <a:cs typeface="Arial"/>
              </a:defRPr>
            </a:pPr>
            <a:r>
              <a:rPr sz="3225" b="1" i="0">
                <a:solidFill>
                  <a:srgbClr val="18382E"/>
                </a:solidFill>
                <a:latin typeface="Arial"/>
                <a:ea typeface="Arial"/>
                <a:cs typeface="Arial"/>
              </a:rPr>
              <a:t>The travel choice has</a:t>
            </a:r>
          </a:p>
          <a:p>
            <a:pPr algn="l">
              <a:defRPr sz="3225" b="1" i="0">
                <a:solidFill>
                  <a:srgbClr val="18382E"/>
                </a:solidFill>
                <a:latin typeface="Arial"/>
                <a:ea typeface="Arial"/>
                <a:cs typeface="Arial"/>
              </a:defRPr>
            </a:pPr>
            <a:r>
              <a:rPr sz="3225" b="1" i="0">
                <a:solidFill>
                  <a:srgbClr val="18382E"/>
                </a:solidFill>
                <a:latin typeface="Arial"/>
                <a:ea typeface="Arial"/>
                <a:cs typeface="Arial"/>
              </a:rPr>
              <a:t>more than one dimension</a:t>
            </a:r>
          </a:p>
        </p:txBody>
      </p:sp>
      <p:sp>
        <p:nvSpPr>
          <p:cNvPr id="6" name="Rectangle 5">
            <a:extLst>
              <a:ext uri="{FF2B5EF4-FFF2-40B4-BE49-F238E27FC236}">
                <a16:creationId xmlns:a16="http://schemas.microsoft.com/office/drawing/2014/main" id="{CD32562D-565E-4F50-B2B8-D2E192AD425E}"/>
              </a:ext>
            </a:extLst>
          </p:cNvPr>
          <p:cNvSpPr>
            <a:spLocks noGrp="1"/>
          </p:cNvSpPr>
          <p:nvPr/>
        </p:nvSpPr>
        <p:spPr>
          <a:xfrm>
            <a:off x="638175" y="3543300"/>
            <a:ext cx="4714875" cy="857250"/>
          </a:xfrm>
          <a:prstGeom prst="rect">
            <a:avLst/>
          </a:prstGeom>
          <a:noFill/>
          <a:ln w="0">
            <a:noFill/>
            <a:prstDash val="solid"/>
          </a:ln>
        </p:spPr>
        <p:txBody>
          <a:bodyPr wrap="square" lIns="0" tIns="0" rIns="0" bIns="0" anchor="t">
            <a:normAutofit/>
          </a:bodyPr>
          <a:lstStyle/>
          <a:p>
            <a:pPr algn="l">
              <a:defRPr sz="1875" b="0" i="0">
                <a:solidFill>
                  <a:srgbClr val="65766D"/>
                </a:solidFill>
                <a:latin typeface="Arial"/>
                <a:ea typeface="Arial"/>
                <a:cs typeface="Arial"/>
              </a:defRPr>
            </a:pPr>
            <a:r>
              <a:rPr sz="1875" b="0" i="0">
                <a:solidFill>
                  <a:srgbClr val="65766D"/>
                </a:solidFill>
                <a:latin typeface="Arial"/>
                <a:ea typeface="Arial"/>
                <a:cs typeface="Arial"/>
              </a:rPr>
              <a:t>A budget and a free weekend matter. So do the experiences a traveler wants from the trip.</a:t>
            </a:r>
          </a:p>
        </p:txBody>
      </p:sp>
      <p:sp>
        <p:nvSpPr>
          <p:cNvPr id="7" name="Rectangle 6">
            <a:extLst>
              <a:ext uri="{FF2B5EF4-FFF2-40B4-BE49-F238E27FC236}">
                <a16:creationId xmlns:a16="http://schemas.microsoft.com/office/drawing/2014/main" id="{AB5B2854-9327-457D-ABFE-582968DA72E7}"/>
              </a:ext>
            </a:extLst>
          </p:cNvPr>
          <p:cNvSpPr>
            <a:spLocks noGrp="1"/>
          </p:cNvSpPr>
          <p:nvPr/>
        </p:nvSpPr>
        <p:spPr>
          <a:xfrm>
            <a:off x="638175" y="4619625"/>
            <a:ext cx="4714875" cy="952500"/>
          </a:xfrm>
          <a:prstGeom prst="rect">
            <a:avLst/>
          </a:prstGeom>
          <a:noFill/>
          <a:ln w="0">
            <a:noFill/>
            <a:prstDash val="solid"/>
          </a:ln>
        </p:spPr>
        <p:txBody>
          <a:bodyPr wrap="square" lIns="0" tIns="0" rIns="0" bIns="0" anchor="t">
            <a:normAutofit/>
          </a:bodyPr>
          <a:lstStyle/>
          <a:p>
            <a:pPr algn="l">
              <a:defRPr sz="1875" b="0" i="0">
                <a:solidFill>
                  <a:srgbClr val="18382E"/>
                </a:solidFill>
                <a:latin typeface="Arial"/>
                <a:ea typeface="Arial"/>
                <a:cs typeface="Arial"/>
              </a:defRPr>
            </a:pPr>
            <a:r>
              <a:rPr sz="1875" b="0" i="0">
                <a:solidFill>
                  <a:srgbClr val="18382E"/>
                </a:solidFill>
                <a:latin typeface="Arial"/>
                <a:ea typeface="Arial"/>
                <a:cs typeface="Arial"/>
              </a:rPr>
              <a:t>This project compares all of those inputs together and returns five nearby destination profiles.</a:t>
            </a:r>
          </a:p>
        </p:txBody>
      </p:sp>
      <p:sp>
        <p:nvSpPr>
          <p:cNvPr id="8" name="Rectangle 7">
            <a:extLst>
              <a:ext uri="{FF2B5EF4-FFF2-40B4-BE49-F238E27FC236}">
                <a16:creationId xmlns:a16="http://schemas.microsoft.com/office/drawing/2014/main" id="{86078211-9650-4DAE-A8EB-9FFD3881BFF8}"/>
              </a:ext>
            </a:extLst>
          </p:cNvPr>
          <p:cNvSpPr>
            <a:spLocks noGrp="1"/>
          </p:cNvSpPr>
          <p:nvPr/>
        </p:nvSpPr>
        <p:spPr>
          <a:xfrm>
            <a:off x="6191250" y="2133600"/>
            <a:ext cx="1543050" cy="28575"/>
          </a:xfrm>
          <a:prstGeom prst="rect">
            <a:avLst/>
          </a:prstGeom>
          <a:solidFill>
            <a:srgbClr val="E9784D"/>
          </a:solidFill>
          <a:ln w="0">
            <a:noFill/>
            <a:prstDash val="solid"/>
          </a:ln>
        </p:spPr>
        <p:txBody>
          <a:bodyPr/>
          <a:lstStyle/>
          <a:p>
            <a:endParaRPr lang="en-IN"/>
          </a:p>
        </p:txBody>
      </p:sp>
      <p:sp>
        <p:nvSpPr>
          <p:cNvPr id="9" name="Rectangle 8">
            <a:extLst>
              <a:ext uri="{FF2B5EF4-FFF2-40B4-BE49-F238E27FC236}">
                <a16:creationId xmlns:a16="http://schemas.microsoft.com/office/drawing/2014/main" id="{2C21C02D-0E3F-4EC2-BD58-B766445BC587}"/>
              </a:ext>
            </a:extLst>
          </p:cNvPr>
          <p:cNvSpPr>
            <a:spLocks noGrp="1"/>
          </p:cNvSpPr>
          <p:nvPr/>
        </p:nvSpPr>
        <p:spPr>
          <a:xfrm>
            <a:off x="6191250" y="2371725"/>
            <a:ext cx="1543050" cy="381000"/>
          </a:xfrm>
          <a:prstGeom prst="rect">
            <a:avLst/>
          </a:prstGeom>
          <a:noFill/>
          <a:ln w="0">
            <a:noFill/>
            <a:prstDash val="solid"/>
          </a:ln>
        </p:spPr>
        <p:txBody>
          <a:bodyPr wrap="square" lIns="0" tIns="0" rIns="0" bIns="0" anchor="t">
            <a:normAutofit/>
          </a:bodyPr>
          <a:lstStyle/>
          <a:p>
            <a:pPr algn="l">
              <a:defRPr sz="1950" b="1" i="0">
                <a:solidFill>
                  <a:srgbClr val="E9784D"/>
                </a:solidFill>
                <a:latin typeface="Arial"/>
                <a:ea typeface="Arial"/>
                <a:cs typeface="Arial"/>
              </a:defRPr>
            </a:pPr>
            <a:r>
              <a:rPr sz="1950" b="1" i="0">
                <a:solidFill>
                  <a:srgbClr val="E9784D"/>
                </a:solidFill>
                <a:latin typeface="Arial"/>
                <a:ea typeface="Arial"/>
                <a:cs typeface="Arial"/>
              </a:rPr>
              <a:t>01</a:t>
            </a:r>
          </a:p>
        </p:txBody>
      </p:sp>
      <p:sp>
        <p:nvSpPr>
          <p:cNvPr id="10" name="Rectangle 9">
            <a:extLst>
              <a:ext uri="{FF2B5EF4-FFF2-40B4-BE49-F238E27FC236}">
                <a16:creationId xmlns:a16="http://schemas.microsoft.com/office/drawing/2014/main" id="{8B675B2C-F7A2-422A-AE44-A87C8E403659}"/>
              </a:ext>
            </a:extLst>
          </p:cNvPr>
          <p:cNvSpPr>
            <a:spLocks noGrp="1"/>
          </p:cNvSpPr>
          <p:nvPr/>
        </p:nvSpPr>
        <p:spPr>
          <a:xfrm>
            <a:off x="6191250" y="2905125"/>
            <a:ext cx="1676400" cy="666750"/>
          </a:xfrm>
          <a:prstGeom prst="rect">
            <a:avLst/>
          </a:prstGeom>
          <a:noFill/>
          <a:ln w="0">
            <a:noFill/>
            <a:prstDash val="solid"/>
          </a:ln>
        </p:spPr>
        <p:txBody>
          <a:bodyPr wrap="square" lIns="0" tIns="0" rIns="0" bIns="0" anchor="t">
            <a:normAutofit/>
          </a:bodyPr>
          <a:lstStyle/>
          <a:p>
            <a:pPr algn="l">
              <a:defRPr sz="1800" b="1" i="0">
                <a:solidFill>
                  <a:srgbClr val="18382E"/>
                </a:solidFill>
                <a:latin typeface="Arial"/>
                <a:ea typeface="Arial"/>
                <a:cs typeface="Arial"/>
              </a:defRPr>
            </a:pPr>
            <a:r>
              <a:rPr sz="1800" b="1" i="0">
                <a:solidFill>
                  <a:srgbClr val="18382E"/>
                </a:solidFill>
                <a:latin typeface="Arial"/>
                <a:ea typeface="Arial"/>
                <a:cs typeface="Arial"/>
              </a:rPr>
              <a:t>Describe the trip</a:t>
            </a:r>
          </a:p>
        </p:txBody>
      </p:sp>
      <p:sp>
        <p:nvSpPr>
          <p:cNvPr id="11" name="Rectangle 10">
            <a:extLst>
              <a:ext uri="{FF2B5EF4-FFF2-40B4-BE49-F238E27FC236}">
                <a16:creationId xmlns:a16="http://schemas.microsoft.com/office/drawing/2014/main" id="{44002D7C-D185-4D8D-899B-BA4AC87BC376}"/>
              </a:ext>
            </a:extLst>
          </p:cNvPr>
          <p:cNvSpPr>
            <a:spLocks noGrp="1"/>
          </p:cNvSpPr>
          <p:nvPr/>
        </p:nvSpPr>
        <p:spPr>
          <a:xfrm>
            <a:off x="6191250" y="3657600"/>
            <a:ext cx="1619250" cy="1352550"/>
          </a:xfrm>
          <a:prstGeom prst="rect">
            <a:avLst/>
          </a:prstGeom>
          <a:noFill/>
          <a:ln w="0">
            <a:noFill/>
            <a:prstDash val="solid"/>
          </a:ln>
        </p:spPr>
        <p:txBody>
          <a:bodyPr wrap="square" lIns="0" tIns="0" rIns="0" bIns="0" anchor="t">
            <a:normAutofit/>
          </a:bodyPr>
          <a:lstStyle/>
          <a:p>
            <a:pPr algn="l">
              <a:defRPr sz="1575" b="0" i="0">
                <a:solidFill>
                  <a:srgbClr val="65766D"/>
                </a:solidFill>
                <a:latin typeface="Arial"/>
                <a:ea typeface="Arial"/>
                <a:cs typeface="Arial"/>
              </a:defRPr>
            </a:pPr>
            <a:r>
              <a:rPr sz="1575" b="0" i="0">
                <a:solidFill>
                  <a:srgbClr val="65766D"/>
                </a:solidFill>
                <a:latin typeface="Arial"/>
                <a:ea typeface="Arial"/>
                <a:cs typeface="Arial"/>
              </a:rPr>
              <a:t>Budget, days away and four interest ratings form one profile.</a:t>
            </a:r>
          </a:p>
        </p:txBody>
      </p:sp>
      <p:sp>
        <p:nvSpPr>
          <p:cNvPr id="12" name="Rectangle 11">
            <a:extLst>
              <a:ext uri="{FF2B5EF4-FFF2-40B4-BE49-F238E27FC236}">
                <a16:creationId xmlns:a16="http://schemas.microsoft.com/office/drawing/2014/main" id="{59D4CD0D-2C6B-40BB-ACA3-8B0AF73A1BC0}"/>
              </a:ext>
            </a:extLst>
          </p:cNvPr>
          <p:cNvSpPr>
            <a:spLocks noGrp="1"/>
          </p:cNvSpPr>
          <p:nvPr/>
        </p:nvSpPr>
        <p:spPr>
          <a:xfrm>
            <a:off x="8001000" y="2133600"/>
            <a:ext cx="1543050" cy="28575"/>
          </a:xfrm>
          <a:prstGeom prst="rect">
            <a:avLst/>
          </a:prstGeom>
          <a:solidFill>
            <a:srgbClr val="D8E1DA"/>
          </a:solidFill>
          <a:ln w="0">
            <a:noFill/>
            <a:prstDash val="solid"/>
          </a:ln>
        </p:spPr>
        <p:txBody>
          <a:bodyPr/>
          <a:lstStyle/>
          <a:p>
            <a:endParaRPr lang="en-IN"/>
          </a:p>
        </p:txBody>
      </p:sp>
      <p:sp>
        <p:nvSpPr>
          <p:cNvPr id="13" name="Rectangle 12">
            <a:extLst>
              <a:ext uri="{FF2B5EF4-FFF2-40B4-BE49-F238E27FC236}">
                <a16:creationId xmlns:a16="http://schemas.microsoft.com/office/drawing/2014/main" id="{27C366B9-5632-4CF1-989E-DA0C3B51D852}"/>
              </a:ext>
            </a:extLst>
          </p:cNvPr>
          <p:cNvSpPr>
            <a:spLocks noGrp="1"/>
          </p:cNvSpPr>
          <p:nvPr/>
        </p:nvSpPr>
        <p:spPr>
          <a:xfrm>
            <a:off x="8001000" y="2371725"/>
            <a:ext cx="1543050" cy="381000"/>
          </a:xfrm>
          <a:prstGeom prst="rect">
            <a:avLst/>
          </a:prstGeom>
          <a:noFill/>
          <a:ln w="0">
            <a:noFill/>
            <a:prstDash val="solid"/>
          </a:ln>
        </p:spPr>
        <p:txBody>
          <a:bodyPr wrap="square" lIns="0" tIns="0" rIns="0" bIns="0" anchor="t">
            <a:normAutofit/>
          </a:bodyPr>
          <a:lstStyle/>
          <a:p>
            <a:pPr algn="l">
              <a:defRPr sz="1950" b="1" i="0">
                <a:solidFill>
                  <a:srgbClr val="E9784D"/>
                </a:solidFill>
                <a:latin typeface="Arial"/>
                <a:ea typeface="Arial"/>
                <a:cs typeface="Arial"/>
              </a:defRPr>
            </a:pPr>
            <a:r>
              <a:rPr sz="1950" b="1" i="0">
                <a:solidFill>
                  <a:srgbClr val="E9784D"/>
                </a:solidFill>
                <a:latin typeface="Arial"/>
                <a:ea typeface="Arial"/>
                <a:cs typeface="Arial"/>
              </a:rPr>
              <a:t>02</a:t>
            </a:r>
          </a:p>
        </p:txBody>
      </p:sp>
      <p:sp>
        <p:nvSpPr>
          <p:cNvPr id="14" name="Rectangle 13">
            <a:extLst>
              <a:ext uri="{FF2B5EF4-FFF2-40B4-BE49-F238E27FC236}">
                <a16:creationId xmlns:a16="http://schemas.microsoft.com/office/drawing/2014/main" id="{2C178BA7-A281-4163-8148-144B58C3BDF8}"/>
              </a:ext>
            </a:extLst>
          </p:cNvPr>
          <p:cNvSpPr>
            <a:spLocks noGrp="1"/>
          </p:cNvSpPr>
          <p:nvPr/>
        </p:nvSpPr>
        <p:spPr>
          <a:xfrm>
            <a:off x="8001000" y="2905125"/>
            <a:ext cx="1676400" cy="666750"/>
          </a:xfrm>
          <a:prstGeom prst="rect">
            <a:avLst/>
          </a:prstGeom>
          <a:noFill/>
          <a:ln w="0">
            <a:noFill/>
            <a:prstDash val="solid"/>
          </a:ln>
        </p:spPr>
        <p:txBody>
          <a:bodyPr wrap="square" lIns="0" tIns="0" rIns="0" bIns="0" anchor="t">
            <a:normAutofit/>
          </a:bodyPr>
          <a:lstStyle/>
          <a:p>
            <a:pPr algn="l">
              <a:defRPr sz="1800" b="1" i="0">
                <a:solidFill>
                  <a:srgbClr val="18382E"/>
                </a:solidFill>
                <a:latin typeface="Arial"/>
                <a:ea typeface="Arial"/>
                <a:cs typeface="Arial"/>
              </a:defRPr>
            </a:pPr>
            <a:r>
              <a:rPr sz="1800" b="1" i="0">
                <a:solidFill>
                  <a:srgbClr val="18382E"/>
                </a:solidFill>
                <a:latin typeface="Arial"/>
                <a:ea typeface="Arial"/>
                <a:cs typeface="Arial"/>
              </a:rPr>
              <a:t>Compare profiles</a:t>
            </a:r>
          </a:p>
        </p:txBody>
      </p:sp>
      <p:sp>
        <p:nvSpPr>
          <p:cNvPr id="15" name="Rectangle 14">
            <a:extLst>
              <a:ext uri="{FF2B5EF4-FFF2-40B4-BE49-F238E27FC236}">
                <a16:creationId xmlns:a16="http://schemas.microsoft.com/office/drawing/2014/main" id="{6DDA2D32-65FB-4601-A9F0-59BCD9840C84}"/>
              </a:ext>
            </a:extLst>
          </p:cNvPr>
          <p:cNvSpPr>
            <a:spLocks noGrp="1"/>
          </p:cNvSpPr>
          <p:nvPr/>
        </p:nvSpPr>
        <p:spPr>
          <a:xfrm>
            <a:off x="8001000" y="3657600"/>
            <a:ext cx="1619250" cy="1352550"/>
          </a:xfrm>
          <a:prstGeom prst="rect">
            <a:avLst/>
          </a:prstGeom>
          <a:noFill/>
          <a:ln w="0">
            <a:noFill/>
            <a:prstDash val="solid"/>
          </a:ln>
        </p:spPr>
        <p:txBody>
          <a:bodyPr wrap="square" lIns="0" tIns="0" rIns="0" bIns="0" anchor="t">
            <a:normAutofit/>
          </a:bodyPr>
          <a:lstStyle/>
          <a:p>
            <a:pPr algn="l">
              <a:defRPr sz="1575" b="0" i="0">
                <a:solidFill>
                  <a:srgbClr val="65766D"/>
                </a:solidFill>
                <a:latin typeface="Arial"/>
                <a:ea typeface="Arial"/>
                <a:cs typeface="Arial"/>
              </a:defRPr>
            </a:pPr>
            <a:r>
              <a:rPr sz="1575" b="0" i="0">
                <a:solidFill>
                  <a:srgbClr val="65766D"/>
                </a:solidFill>
                <a:latin typeface="Arial"/>
                <a:ea typeface="Arial"/>
                <a:cs typeface="Arial"/>
              </a:rPr>
              <a:t>KNN measures distance to the curated destination rows.</a:t>
            </a:r>
          </a:p>
        </p:txBody>
      </p:sp>
      <p:sp>
        <p:nvSpPr>
          <p:cNvPr id="16" name="Rectangle 15">
            <a:extLst>
              <a:ext uri="{FF2B5EF4-FFF2-40B4-BE49-F238E27FC236}">
                <a16:creationId xmlns:a16="http://schemas.microsoft.com/office/drawing/2014/main" id="{1A966A2A-76D9-4112-BD29-26F22278EF81}"/>
              </a:ext>
            </a:extLst>
          </p:cNvPr>
          <p:cNvSpPr>
            <a:spLocks noGrp="1"/>
          </p:cNvSpPr>
          <p:nvPr/>
        </p:nvSpPr>
        <p:spPr>
          <a:xfrm>
            <a:off x="9810750" y="2133600"/>
            <a:ext cx="1543050" cy="28575"/>
          </a:xfrm>
          <a:prstGeom prst="rect">
            <a:avLst/>
          </a:prstGeom>
          <a:solidFill>
            <a:srgbClr val="D8E1DA"/>
          </a:solidFill>
          <a:ln w="0">
            <a:noFill/>
            <a:prstDash val="solid"/>
          </a:ln>
        </p:spPr>
        <p:txBody>
          <a:bodyPr/>
          <a:lstStyle/>
          <a:p>
            <a:endParaRPr lang="en-IN"/>
          </a:p>
        </p:txBody>
      </p:sp>
      <p:sp>
        <p:nvSpPr>
          <p:cNvPr id="17" name="Rectangle 16">
            <a:extLst>
              <a:ext uri="{FF2B5EF4-FFF2-40B4-BE49-F238E27FC236}">
                <a16:creationId xmlns:a16="http://schemas.microsoft.com/office/drawing/2014/main" id="{CCCA8A38-94A7-467F-8387-B89184236220}"/>
              </a:ext>
            </a:extLst>
          </p:cNvPr>
          <p:cNvSpPr>
            <a:spLocks noGrp="1"/>
          </p:cNvSpPr>
          <p:nvPr/>
        </p:nvSpPr>
        <p:spPr>
          <a:xfrm>
            <a:off x="9810750" y="2371725"/>
            <a:ext cx="1543050" cy="381000"/>
          </a:xfrm>
          <a:prstGeom prst="rect">
            <a:avLst/>
          </a:prstGeom>
          <a:noFill/>
          <a:ln w="0">
            <a:noFill/>
            <a:prstDash val="solid"/>
          </a:ln>
        </p:spPr>
        <p:txBody>
          <a:bodyPr wrap="square" lIns="0" tIns="0" rIns="0" bIns="0" anchor="t">
            <a:normAutofit/>
          </a:bodyPr>
          <a:lstStyle/>
          <a:p>
            <a:pPr algn="l">
              <a:defRPr sz="1950" b="1" i="0">
                <a:solidFill>
                  <a:srgbClr val="E9784D"/>
                </a:solidFill>
                <a:latin typeface="Arial"/>
                <a:ea typeface="Arial"/>
                <a:cs typeface="Arial"/>
              </a:defRPr>
            </a:pPr>
            <a:r>
              <a:rPr sz="1950" b="1" i="0">
                <a:solidFill>
                  <a:srgbClr val="E9784D"/>
                </a:solidFill>
                <a:latin typeface="Arial"/>
                <a:ea typeface="Arial"/>
                <a:cs typeface="Arial"/>
              </a:rPr>
              <a:t>03</a:t>
            </a:r>
          </a:p>
        </p:txBody>
      </p:sp>
      <p:sp>
        <p:nvSpPr>
          <p:cNvPr id="18" name="Rectangle 17">
            <a:extLst>
              <a:ext uri="{FF2B5EF4-FFF2-40B4-BE49-F238E27FC236}">
                <a16:creationId xmlns:a16="http://schemas.microsoft.com/office/drawing/2014/main" id="{A4FD7353-1B10-4BD5-9892-053D8B866AB2}"/>
              </a:ext>
            </a:extLst>
          </p:cNvPr>
          <p:cNvSpPr>
            <a:spLocks noGrp="1"/>
          </p:cNvSpPr>
          <p:nvPr/>
        </p:nvSpPr>
        <p:spPr>
          <a:xfrm>
            <a:off x="9810750" y="2905125"/>
            <a:ext cx="1676400" cy="666750"/>
          </a:xfrm>
          <a:prstGeom prst="rect">
            <a:avLst/>
          </a:prstGeom>
          <a:noFill/>
          <a:ln w="0">
            <a:noFill/>
            <a:prstDash val="solid"/>
          </a:ln>
        </p:spPr>
        <p:txBody>
          <a:bodyPr wrap="square" lIns="0" tIns="0" rIns="0" bIns="0" anchor="t">
            <a:normAutofit/>
          </a:bodyPr>
          <a:lstStyle/>
          <a:p>
            <a:pPr algn="l">
              <a:defRPr sz="1800" b="1" i="0">
                <a:solidFill>
                  <a:srgbClr val="18382E"/>
                </a:solidFill>
                <a:latin typeface="Arial"/>
                <a:ea typeface="Arial"/>
                <a:cs typeface="Arial"/>
              </a:defRPr>
            </a:pPr>
            <a:r>
              <a:rPr sz="1800" b="1" i="0">
                <a:solidFill>
                  <a:srgbClr val="18382E"/>
                </a:solidFill>
                <a:latin typeface="Arial"/>
                <a:ea typeface="Arial"/>
                <a:cs typeface="Arial"/>
              </a:rPr>
              <a:t>Explain the shortlist</a:t>
            </a:r>
          </a:p>
        </p:txBody>
      </p:sp>
      <p:sp>
        <p:nvSpPr>
          <p:cNvPr id="19" name="Rectangle 18">
            <a:extLst>
              <a:ext uri="{FF2B5EF4-FFF2-40B4-BE49-F238E27FC236}">
                <a16:creationId xmlns:a16="http://schemas.microsoft.com/office/drawing/2014/main" id="{3843411E-1077-4686-B95D-1DA3616344E1}"/>
              </a:ext>
            </a:extLst>
          </p:cNvPr>
          <p:cNvSpPr>
            <a:spLocks noGrp="1"/>
          </p:cNvSpPr>
          <p:nvPr/>
        </p:nvSpPr>
        <p:spPr>
          <a:xfrm>
            <a:off x="9810750" y="3657600"/>
            <a:ext cx="1619250" cy="1352550"/>
          </a:xfrm>
          <a:prstGeom prst="rect">
            <a:avLst/>
          </a:prstGeom>
          <a:noFill/>
          <a:ln w="0">
            <a:noFill/>
            <a:prstDash val="solid"/>
          </a:ln>
        </p:spPr>
        <p:txBody>
          <a:bodyPr wrap="square" lIns="0" tIns="0" rIns="0" bIns="0" anchor="t">
            <a:normAutofit/>
          </a:bodyPr>
          <a:lstStyle/>
          <a:p>
            <a:pPr algn="l">
              <a:defRPr sz="1575" b="0" i="0">
                <a:solidFill>
                  <a:srgbClr val="65766D"/>
                </a:solidFill>
                <a:latin typeface="Arial"/>
                <a:ea typeface="Arial"/>
                <a:cs typeface="Arial"/>
              </a:defRPr>
            </a:pPr>
            <a:r>
              <a:rPr sz="1575" b="0" i="0">
                <a:solidFill>
                  <a:srgbClr val="65766D"/>
                </a:solidFill>
                <a:latin typeface="Arial"/>
                <a:ea typeface="Arial"/>
                <a:cs typeface="Arial"/>
              </a:rPr>
              <a:t>The app shows five names, sample budgets, days and distances.</a:t>
            </a:r>
          </a:p>
        </p:txBody>
      </p:sp>
    </p:spTree>
    <p:extLst>
      <p:ext uri="{BB962C8B-B14F-4D97-AF65-F5344CB8AC3E}">
        <p14:creationId xmlns:p14="http://schemas.microsoft.com/office/powerpoint/2010/main" val="915305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7BD1B37-6F90-46B0-8373-E6897C2B82DF}"/>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The traveler profile</a:t>
            </a:r>
          </a:p>
        </p:txBody>
      </p:sp>
      <p:sp>
        <p:nvSpPr>
          <p:cNvPr id="2" name="Rectangle 1">
            <a:extLst>
              <a:ext uri="{FF2B5EF4-FFF2-40B4-BE49-F238E27FC236}">
                <a16:creationId xmlns:a16="http://schemas.microsoft.com/office/drawing/2014/main" id="{4E94C5D5-9A75-4868-9D66-B0D5CF424F79}"/>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Two trip constraints and four interest ratings become six numeric model inputs.</a:t>
            </a:r>
          </a:p>
        </p:txBody>
      </p:sp>
      <p:sp>
        <p:nvSpPr>
          <p:cNvPr id="3" name="Rectangle 2">
            <a:extLst>
              <a:ext uri="{FF2B5EF4-FFF2-40B4-BE49-F238E27FC236}">
                <a16:creationId xmlns:a16="http://schemas.microsoft.com/office/drawing/2014/main" id="{6B9CEC9F-257D-42EB-A75F-4580CF546B9C}"/>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D1E04BDE-7EF7-44DE-B876-66EAEE698BA7}"/>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03</a:t>
            </a:r>
          </a:p>
        </p:txBody>
      </p:sp>
      <p:sp>
        <p:nvSpPr>
          <p:cNvPr id="5" name="Rectangle 4">
            <a:extLst>
              <a:ext uri="{FF2B5EF4-FFF2-40B4-BE49-F238E27FC236}">
                <a16:creationId xmlns:a16="http://schemas.microsoft.com/office/drawing/2014/main" id="{E9970067-EEEB-40A8-B2B5-9C293FB26E61}"/>
              </a:ext>
            </a:extLst>
          </p:cNvPr>
          <p:cNvSpPr>
            <a:spLocks noGrp="1"/>
          </p:cNvSpPr>
          <p:nvPr/>
        </p:nvSpPr>
        <p:spPr>
          <a:xfrm>
            <a:off x="647700" y="2057400"/>
            <a:ext cx="2667000" cy="342900"/>
          </a:xfrm>
          <a:prstGeom prst="rect">
            <a:avLst/>
          </a:prstGeom>
          <a:noFill/>
          <a:ln w="0">
            <a:noFill/>
            <a:prstDash val="solid"/>
          </a:ln>
        </p:spPr>
        <p:txBody>
          <a:bodyPr wrap="square" lIns="0" tIns="0" rIns="0" bIns="0" anchor="t">
            <a:normAutofit/>
          </a:bodyPr>
          <a:lstStyle/>
          <a:p>
            <a:pPr algn="l">
              <a:defRPr sz="1650" b="1" i="0">
                <a:solidFill>
                  <a:srgbClr val="2D6651"/>
                </a:solidFill>
                <a:latin typeface="Arial"/>
                <a:ea typeface="Arial"/>
                <a:cs typeface="Arial"/>
              </a:defRPr>
            </a:pPr>
            <a:r>
              <a:rPr sz="1650" b="1" i="0">
                <a:solidFill>
                  <a:srgbClr val="2D6651"/>
                </a:solidFill>
                <a:latin typeface="Arial"/>
                <a:ea typeface="Arial"/>
                <a:cs typeface="Arial"/>
              </a:rPr>
              <a:t>Trip constraints</a:t>
            </a:r>
          </a:p>
        </p:txBody>
      </p:sp>
      <p:sp>
        <p:nvSpPr>
          <p:cNvPr id="6" name="Rectangle 5">
            <a:extLst>
              <a:ext uri="{FF2B5EF4-FFF2-40B4-BE49-F238E27FC236}">
                <a16:creationId xmlns:a16="http://schemas.microsoft.com/office/drawing/2014/main" id="{1C37C9F9-BFC1-4966-85EB-C87F899D437F}"/>
              </a:ext>
            </a:extLst>
          </p:cNvPr>
          <p:cNvSpPr>
            <a:spLocks noGrp="1"/>
          </p:cNvSpPr>
          <p:nvPr/>
        </p:nvSpPr>
        <p:spPr>
          <a:xfrm>
            <a:off x="647700" y="2571750"/>
            <a:ext cx="2524125" cy="914400"/>
          </a:xfrm>
          <a:prstGeom prst="rect">
            <a:avLst/>
          </a:prstGeom>
          <a:noFill/>
          <a:ln w="0">
            <a:noFill/>
            <a:prstDash val="solid"/>
          </a:ln>
        </p:spPr>
        <p:txBody>
          <a:bodyPr wrap="square" lIns="0" tIns="0" rIns="0" bIns="0" anchor="t">
            <a:normAutofit/>
          </a:bodyPr>
          <a:lstStyle/>
          <a:p>
            <a:pPr algn="l">
              <a:defRPr sz="2475" b="1" i="0">
                <a:solidFill>
                  <a:srgbClr val="18382E"/>
                </a:solidFill>
                <a:latin typeface="Arial"/>
                <a:ea typeface="Arial"/>
                <a:cs typeface="Arial"/>
              </a:defRPr>
            </a:pPr>
            <a:r>
              <a:rPr sz="2475" b="1" i="0">
                <a:solidFill>
                  <a:srgbClr val="18382E"/>
                </a:solidFill>
                <a:latin typeface="Arial"/>
                <a:ea typeface="Arial"/>
                <a:cs typeface="Arial"/>
              </a:rPr>
              <a:t>Budget</a:t>
            </a:r>
          </a:p>
          <a:p>
            <a:pPr algn="l">
              <a:defRPr sz="2475" b="1" i="0">
                <a:solidFill>
                  <a:srgbClr val="18382E"/>
                </a:solidFill>
                <a:latin typeface="Arial"/>
                <a:ea typeface="Arial"/>
                <a:cs typeface="Arial"/>
              </a:defRPr>
            </a:pPr>
            <a:r>
              <a:rPr sz="2475" b="1" i="0">
                <a:solidFill>
                  <a:srgbClr val="18382E"/>
                </a:solidFill>
                <a:latin typeface="Arial"/>
                <a:ea typeface="Arial"/>
                <a:cs typeface="Arial"/>
              </a:rPr>
              <a:t>₹30,000</a:t>
            </a:r>
          </a:p>
        </p:txBody>
      </p:sp>
      <p:sp>
        <p:nvSpPr>
          <p:cNvPr id="7" name="Rectangle 6">
            <a:extLst>
              <a:ext uri="{FF2B5EF4-FFF2-40B4-BE49-F238E27FC236}">
                <a16:creationId xmlns:a16="http://schemas.microsoft.com/office/drawing/2014/main" id="{FD674746-6936-4A3B-BD98-89A2934B6971}"/>
              </a:ext>
            </a:extLst>
          </p:cNvPr>
          <p:cNvSpPr>
            <a:spLocks noGrp="1"/>
          </p:cNvSpPr>
          <p:nvPr/>
        </p:nvSpPr>
        <p:spPr>
          <a:xfrm>
            <a:off x="647700" y="3686175"/>
            <a:ext cx="2428875" cy="9525"/>
          </a:xfrm>
          <a:prstGeom prst="rect">
            <a:avLst/>
          </a:prstGeom>
          <a:solidFill>
            <a:srgbClr val="D8E1DA"/>
          </a:solidFill>
          <a:ln w="0">
            <a:noFill/>
            <a:prstDash val="solid"/>
          </a:ln>
        </p:spPr>
        <p:txBody>
          <a:bodyPr/>
          <a:lstStyle/>
          <a:p>
            <a:endParaRPr lang="en-IN"/>
          </a:p>
        </p:txBody>
      </p:sp>
      <p:sp>
        <p:nvSpPr>
          <p:cNvPr id="8" name="Rectangle 7">
            <a:extLst>
              <a:ext uri="{FF2B5EF4-FFF2-40B4-BE49-F238E27FC236}">
                <a16:creationId xmlns:a16="http://schemas.microsoft.com/office/drawing/2014/main" id="{5B7A9DF5-931D-403C-9E99-9E73B52909C3}"/>
              </a:ext>
            </a:extLst>
          </p:cNvPr>
          <p:cNvSpPr>
            <a:spLocks noGrp="1"/>
          </p:cNvSpPr>
          <p:nvPr/>
        </p:nvSpPr>
        <p:spPr>
          <a:xfrm>
            <a:off x="647700" y="3990975"/>
            <a:ext cx="2524125" cy="933450"/>
          </a:xfrm>
          <a:prstGeom prst="rect">
            <a:avLst/>
          </a:prstGeom>
          <a:noFill/>
          <a:ln w="0">
            <a:noFill/>
            <a:prstDash val="solid"/>
          </a:ln>
        </p:spPr>
        <p:txBody>
          <a:bodyPr wrap="square" lIns="0" tIns="0" rIns="0" bIns="0" anchor="t">
            <a:normAutofit/>
          </a:bodyPr>
          <a:lstStyle/>
          <a:p>
            <a:pPr algn="l">
              <a:defRPr sz="2475" b="1" i="0">
                <a:solidFill>
                  <a:srgbClr val="18382E"/>
                </a:solidFill>
                <a:latin typeface="Arial"/>
                <a:ea typeface="Arial"/>
                <a:cs typeface="Arial"/>
              </a:defRPr>
            </a:pPr>
            <a:r>
              <a:rPr sz="2475" b="1" i="0">
                <a:solidFill>
                  <a:srgbClr val="18382E"/>
                </a:solidFill>
                <a:latin typeface="Arial"/>
                <a:ea typeface="Arial"/>
                <a:cs typeface="Arial"/>
              </a:rPr>
              <a:t>Time away</a:t>
            </a:r>
          </a:p>
          <a:p>
            <a:pPr algn="l">
              <a:defRPr sz="2475" b="1" i="0">
                <a:solidFill>
                  <a:srgbClr val="18382E"/>
                </a:solidFill>
                <a:latin typeface="Arial"/>
                <a:ea typeface="Arial"/>
                <a:cs typeface="Arial"/>
              </a:defRPr>
            </a:pPr>
            <a:r>
              <a:rPr sz="2475" b="1" i="0">
                <a:solidFill>
                  <a:srgbClr val="18382E"/>
                </a:solidFill>
                <a:latin typeface="Arial"/>
                <a:ea typeface="Arial"/>
                <a:cs typeface="Arial"/>
              </a:rPr>
              <a:t>5 days</a:t>
            </a:r>
          </a:p>
        </p:txBody>
      </p:sp>
      <p:sp>
        <p:nvSpPr>
          <p:cNvPr id="9" name="Rectangle 8">
            <a:extLst>
              <a:ext uri="{FF2B5EF4-FFF2-40B4-BE49-F238E27FC236}">
                <a16:creationId xmlns:a16="http://schemas.microsoft.com/office/drawing/2014/main" id="{C047D31F-6E6B-4DB5-829E-B066A8271214}"/>
              </a:ext>
            </a:extLst>
          </p:cNvPr>
          <p:cNvSpPr>
            <a:spLocks noGrp="1"/>
          </p:cNvSpPr>
          <p:nvPr/>
        </p:nvSpPr>
        <p:spPr>
          <a:xfrm>
            <a:off x="3676650" y="1952625"/>
            <a:ext cx="7762875" cy="361950"/>
          </a:xfrm>
          <a:prstGeom prst="rect">
            <a:avLst/>
          </a:prstGeom>
          <a:noFill/>
          <a:ln w="0">
            <a:noFill/>
            <a:prstDash val="solid"/>
          </a:ln>
        </p:spPr>
        <p:txBody>
          <a:bodyPr wrap="square" lIns="0" tIns="0" rIns="0" bIns="0" anchor="t">
            <a:normAutofit/>
          </a:bodyPr>
          <a:lstStyle/>
          <a:p>
            <a:pPr algn="l">
              <a:defRPr sz="1650" b="0" i="0">
                <a:solidFill>
                  <a:srgbClr val="65766D"/>
                </a:solidFill>
                <a:latin typeface="Arial"/>
                <a:ea typeface="Arial"/>
                <a:cs typeface="Arial"/>
              </a:defRPr>
            </a:pPr>
            <a:r>
              <a:rPr sz="1650" b="0" i="0">
                <a:solidFill>
                  <a:srgbClr val="65766D"/>
                </a:solidFill>
                <a:latin typeface="Arial"/>
                <a:ea typeface="Arial"/>
                <a:cs typeface="Arial"/>
              </a:rPr>
              <a:t>Rate each interest from 1 (low) to 10 (high)</a:t>
            </a:r>
          </a:p>
        </p:txBody>
      </p:sp>
      <p:pic>
        <p:nvPicPr>
          <p:cNvPr id="32" name="Picture 31"/>
          <p:cNvPicPr>
            <a:picLocks noChangeAspect="1"/>
          </p:cNvPicPr>
          <p:nvPr/>
        </p:nvPicPr>
        <p:blipFill>
          <a:blip r:embed="rId3"/>
          <a:srcRect l="14815" r="14815"/>
          <a:stretch>
            <a:fillRect/>
          </a:stretch>
        </p:blipFill>
        <p:spPr>
          <a:xfrm>
            <a:off x="3676650" y="2524125"/>
            <a:ext cx="1809750" cy="1714500"/>
          </a:xfrm>
          <a:prstGeom prst="roundRect">
            <a:avLst>
              <a:gd name="adj" fmla="val 5556"/>
            </a:avLst>
          </a:prstGeom>
        </p:spPr>
      </p:pic>
      <p:sp>
        <p:nvSpPr>
          <p:cNvPr id="11" name="Rectangle 10">
            <a:extLst>
              <a:ext uri="{FF2B5EF4-FFF2-40B4-BE49-F238E27FC236}">
                <a16:creationId xmlns:a16="http://schemas.microsoft.com/office/drawing/2014/main" id="{56A95F1C-0E92-485A-ABD2-3F27D0CA2607}"/>
              </a:ext>
            </a:extLst>
          </p:cNvPr>
          <p:cNvSpPr>
            <a:spLocks noGrp="1"/>
          </p:cNvSpPr>
          <p:nvPr/>
        </p:nvSpPr>
        <p:spPr>
          <a:xfrm>
            <a:off x="3676650" y="4391025"/>
            <a:ext cx="1809750" cy="314325"/>
          </a:xfrm>
          <a:prstGeom prst="rect">
            <a:avLst/>
          </a:prstGeom>
          <a:noFill/>
          <a:ln w="0">
            <a:noFill/>
            <a:prstDash val="solid"/>
          </a:ln>
        </p:spPr>
        <p:txBody>
          <a:bodyPr wrap="square" lIns="0" tIns="0" rIns="0" bIns="0" anchor="t">
            <a:normAutofit/>
          </a:bodyPr>
          <a:lstStyle/>
          <a:p>
            <a:pPr algn="l">
              <a:defRPr sz="1875" b="1" i="0">
                <a:solidFill>
                  <a:srgbClr val="18382E"/>
                </a:solidFill>
                <a:latin typeface="Arial"/>
                <a:ea typeface="Arial"/>
                <a:cs typeface="Arial"/>
              </a:defRPr>
            </a:pPr>
            <a:r>
              <a:rPr sz="1875" b="1" i="0">
                <a:solidFill>
                  <a:srgbClr val="18382E"/>
                </a:solidFill>
                <a:latin typeface="Arial"/>
                <a:ea typeface="Arial"/>
                <a:cs typeface="Arial"/>
              </a:rPr>
              <a:t>Nature</a:t>
            </a:r>
          </a:p>
        </p:txBody>
      </p:sp>
      <p:sp>
        <p:nvSpPr>
          <p:cNvPr id="12" name="Rectangle 11">
            <a:extLst>
              <a:ext uri="{FF2B5EF4-FFF2-40B4-BE49-F238E27FC236}">
                <a16:creationId xmlns:a16="http://schemas.microsoft.com/office/drawing/2014/main" id="{7494EA4B-FF05-49B2-A49D-35483C935740}"/>
              </a:ext>
            </a:extLst>
          </p:cNvPr>
          <p:cNvSpPr>
            <a:spLocks noGrp="1"/>
          </p:cNvSpPr>
          <p:nvPr/>
        </p:nvSpPr>
        <p:spPr>
          <a:xfrm>
            <a:off x="3676650" y="4772025"/>
            <a:ext cx="1809750" cy="590550"/>
          </a:xfrm>
          <a:prstGeom prst="rect">
            <a:avLst/>
          </a:prstGeom>
          <a:noFill/>
          <a:ln w="0">
            <a:noFill/>
            <a:prstDash val="solid"/>
          </a:ln>
        </p:spPr>
        <p:txBody>
          <a:bodyPr wrap="square" lIns="0" tIns="0" rIns="0" bIns="0" anchor="t">
            <a:normAutofit/>
          </a:bodyPr>
          <a:lstStyle/>
          <a:p>
            <a:pPr algn="l">
              <a:defRPr sz="1425" b="0" i="0">
                <a:solidFill>
                  <a:srgbClr val="65766D"/>
                </a:solidFill>
                <a:latin typeface="Arial"/>
                <a:ea typeface="Arial"/>
                <a:cs typeface="Arial"/>
              </a:defRPr>
            </a:pPr>
            <a:r>
              <a:rPr sz="1425" b="0" i="0">
                <a:solidFill>
                  <a:srgbClr val="65766D"/>
                </a:solidFill>
                <a:latin typeface="Arial"/>
                <a:ea typeface="Arial"/>
                <a:cs typeface="Arial"/>
              </a:rPr>
              <a:t>Scenery and outdoors</a:t>
            </a:r>
          </a:p>
        </p:txBody>
      </p:sp>
      <p:pic>
        <p:nvPicPr>
          <p:cNvPr id="35" name="Picture 34"/>
          <p:cNvPicPr>
            <a:picLocks noChangeAspect="1"/>
          </p:cNvPicPr>
          <p:nvPr/>
        </p:nvPicPr>
        <p:blipFill>
          <a:blip r:embed="rId4"/>
          <a:srcRect t="18374" b="18374"/>
          <a:stretch>
            <a:fillRect/>
          </a:stretch>
        </p:blipFill>
        <p:spPr>
          <a:xfrm>
            <a:off x="5648325" y="2524125"/>
            <a:ext cx="1809750" cy="1714500"/>
          </a:xfrm>
          <a:prstGeom prst="roundRect">
            <a:avLst>
              <a:gd name="adj" fmla="val 5556"/>
            </a:avLst>
          </a:prstGeom>
        </p:spPr>
      </p:pic>
      <p:sp>
        <p:nvSpPr>
          <p:cNvPr id="14" name="Rectangle 13">
            <a:extLst>
              <a:ext uri="{FF2B5EF4-FFF2-40B4-BE49-F238E27FC236}">
                <a16:creationId xmlns:a16="http://schemas.microsoft.com/office/drawing/2014/main" id="{CDD372EE-7CEB-4E12-94C8-F787F385313D}"/>
              </a:ext>
            </a:extLst>
          </p:cNvPr>
          <p:cNvSpPr>
            <a:spLocks noGrp="1"/>
          </p:cNvSpPr>
          <p:nvPr/>
        </p:nvSpPr>
        <p:spPr>
          <a:xfrm>
            <a:off x="5648325" y="4391025"/>
            <a:ext cx="1809750" cy="314325"/>
          </a:xfrm>
          <a:prstGeom prst="rect">
            <a:avLst/>
          </a:prstGeom>
          <a:noFill/>
          <a:ln w="0">
            <a:noFill/>
            <a:prstDash val="solid"/>
          </a:ln>
        </p:spPr>
        <p:txBody>
          <a:bodyPr wrap="square" lIns="0" tIns="0" rIns="0" bIns="0" anchor="t">
            <a:normAutofit/>
          </a:bodyPr>
          <a:lstStyle/>
          <a:p>
            <a:pPr algn="l">
              <a:defRPr sz="1875" b="1" i="0">
                <a:solidFill>
                  <a:srgbClr val="18382E"/>
                </a:solidFill>
                <a:latin typeface="Arial"/>
                <a:ea typeface="Arial"/>
                <a:cs typeface="Arial"/>
              </a:defRPr>
            </a:pPr>
            <a:r>
              <a:rPr sz="1875" b="1" i="0">
                <a:solidFill>
                  <a:srgbClr val="18382E"/>
                </a:solidFill>
                <a:latin typeface="Arial"/>
                <a:ea typeface="Arial"/>
                <a:cs typeface="Arial"/>
              </a:rPr>
              <a:t>Beach</a:t>
            </a:r>
          </a:p>
        </p:txBody>
      </p:sp>
      <p:sp>
        <p:nvSpPr>
          <p:cNvPr id="15" name="Rectangle 14">
            <a:extLst>
              <a:ext uri="{FF2B5EF4-FFF2-40B4-BE49-F238E27FC236}">
                <a16:creationId xmlns:a16="http://schemas.microsoft.com/office/drawing/2014/main" id="{472466A4-A0BE-4660-8DA3-140D1991FE64}"/>
              </a:ext>
            </a:extLst>
          </p:cNvPr>
          <p:cNvSpPr>
            <a:spLocks noGrp="1"/>
          </p:cNvSpPr>
          <p:nvPr/>
        </p:nvSpPr>
        <p:spPr>
          <a:xfrm>
            <a:off x="5648325" y="4772025"/>
            <a:ext cx="1809750" cy="590550"/>
          </a:xfrm>
          <a:prstGeom prst="rect">
            <a:avLst/>
          </a:prstGeom>
          <a:noFill/>
          <a:ln w="0">
            <a:noFill/>
            <a:prstDash val="solid"/>
          </a:ln>
        </p:spPr>
        <p:txBody>
          <a:bodyPr wrap="square" lIns="0" tIns="0" rIns="0" bIns="0" anchor="t">
            <a:normAutofit/>
          </a:bodyPr>
          <a:lstStyle/>
          <a:p>
            <a:pPr algn="l">
              <a:defRPr sz="1425" b="0" i="0">
                <a:solidFill>
                  <a:srgbClr val="65766D"/>
                </a:solidFill>
                <a:latin typeface="Arial"/>
                <a:ea typeface="Arial"/>
                <a:cs typeface="Arial"/>
              </a:defRPr>
            </a:pPr>
            <a:r>
              <a:rPr sz="1425" b="0" i="0">
                <a:solidFill>
                  <a:srgbClr val="65766D"/>
                </a:solidFill>
                <a:latin typeface="Arial"/>
                <a:ea typeface="Arial"/>
                <a:cs typeface="Arial"/>
              </a:rPr>
              <a:t>Coastal experiences</a:t>
            </a:r>
          </a:p>
        </p:txBody>
      </p:sp>
      <p:pic>
        <p:nvPicPr>
          <p:cNvPr id="38" name="Picture 37"/>
          <p:cNvPicPr>
            <a:picLocks noChangeAspect="1"/>
          </p:cNvPicPr>
          <p:nvPr/>
        </p:nvPicPr>
        <p:blipFill>
          <a:blip r:embed="rId5"/>
          <a:srcRect l="14815" r="14815"/>
          <a:stretch>
            <a:fillRect/>
          </a:stretch>
        </p:blipFill>
        <p:spPr>
          <a:xfrm>
            <a:off x="7620000" y="2524125"/>
            <a:ext cx="1809750" cy="1714500"/>
          </a:xfrm>
          <a:prstGeom prst="roundRect">
            <a:avLst>
              <a:gd name="adj" fmla="val 5556"/>
            </a:avLst>
          </a:prstGeom>
        </p:spPr>
      </p:pic>
      <p:sp>
        <p:nvSpPr>
          <p:cNvPr id="17" name="Rectangle 16">
            <a:extLst>
              <a:ext uri="{FF2B5EF4-FFF2-40B4-BE49-F238E27FC236}">
                <a16:creationId xmlns:a16="http://schemas.microsoft.com/office/drawing/2014/main" id="{135EBAA0-9EBF-440D-979C-4303C3B7928E}"/>
              </a:ext>
            </a:extLst>
          </p:cNvPr>
          <p:cNvSpPr>
            <a:spLocks noGrp="1"/>
          </p:cNvSpPr>
          <p:nvPr/>
        </p:nvSpPr>
        <p:spPr>
          <a:xfrm>
            <a:off x="7620000" y="4391025"/>
            <a:ext cx="1809750" cy="314325"/>
          </a:xfrm>
          <a:prstGeom prst="rect">
            <a:avLst/>
          </a:prstGeom>
          <a:noFill/>
          <a:ln w="0">
            <a:noFill/>
            <a:prstDash val="solid"/>
          </a:ln>
        </p:spPr>
        <p:txBody>
          <a:bodyPr wrap="square" lIns="0" tIns="0" rIns="0" bIns="0" anchor="t">
            <a:normAutofit/>
          </a:bodyPr>
          <a:lstStyle/>
          <a:p>
            <a:pPr algn="l">
              <a:defRPr sz="1875" b="1" i="0">
                <a:solidFill>
                  <a:srgbClr val="18382E"/>
                </a:solidFill>
                <a:latin typeface="Arial"/>
                <a:ea typeface="Arial"/>
                <a:cs typeface="Arial"/>
              </a:defRPr>
            </a:pPr>
            <a:r>
              <a:rPr sz="1875" b="1" i="0">
                <a:solidFill>
                  <a:srgbClr val="18382E"/>
                </a:solidFill>
                <a:latin typeface="Arial"/>
                <a:ea typeface="Arial"/>
                <a:cs typeface="Arial"/>
              </a:rPr>
              <a:t>Adventure</a:t>
            </a:r>
          </a:p>
        </p:txBody>
      </p:sp>
      <p:sp>
        <p:nvSpPr>
          <p:cNvPr id="18" name="Rectangle 17">
            <a:extLst>
              <a:ext uri="{FF2B5EF4-FFF2-40B4-BE49-F238E27FC236}">
                <a16:creationId xmlns:a16="http://schemas.microsoft.com/office/drawing/2014/main" id="{E84DF348-9673-4D87-A5A6-A978BDC0FD10}"/>
              </a:ext>
            </a:extLst>
          </p:cNvPr>
          <p:cNvSpPr>
            <a:spLocks noGrp="1"/>
          </p:cNvSpPr>
          <p:nvPr/>
        </p:nvSpPr>
        <p:spPr>
          <a:xfrm>
            <a:off x="7620000" y="4772025"/>
            <a:ext cx="1809750" cy="590550"/>
          </a:xfrm>
          <a:prstGeom prst="rect">
            <a:avLst/>
          </a:prstGeom>
          <a:noFill/>
          <a:ln w="0">
            <a:noFill/>
            <a:prstDash val="solid"/>
          </a:ln>
        </p:spPr>
        <p:txBody>
          <a:bodyPr wrap="square" lIns="0" tIns="0" rIns="0" bIns="0" anchor="t">
            <a:normAutofit/>
          </a:bodyPr>
          <a:lstStyle/>
          <a:p>
            <a:pPr algn="l">
              <a:defRPr sz="1425" b="0" i="0">
                <a:solidFill>
                  <a:srgbClr val="65766D"/>
                </a:solidFill>
                <a:latin typeface="Arial"/>
                <a:ea typeface="Arial"/>
                <a:cs typeface="Arial"/>
              </a:defRPr>
            </a:pPr>
            <a:r>
              <a:rPr sz="1425" b="0" i="0">
                <a:solidFill>
                  <a:srgbClr val="65766D"/>
                </a:solidFill>
                <a:latin typeface="Arial"/>
                <a:ea typeface="Arial"/>
                <a:cs typeface="Arial"/>
              </a:rPr>
              <a:t>Active experiences</a:t>
            </a:r>
          </a:p>
        </p:txBody>
      </p:sp>
      <p:pic>
        <p:nvPicPr>
          <p:cNvPr id="41" name="Picture 40"/>
          <p:cNvPicPr>
            <a:picLocks noChangeAspect="1"/>
          </p:cNvPicPr>
          <p:nvPr/>
        </p:nvPicPr>
        <p:blipFill>
          <a:blip r:embed="rId6"/>
          <a:srcRect l="15049" r="15049"/>
          <a:stretch>
            <a:fillRect/>
          </a:stretch>
        </p:blipFill>
        <p:spPr>
          <a:xfrm>
            <a:off x="9591675" y="2524125"/>
            <a:ext cx="1809750" cy="1714500"/>
          </a:xfrm>
          <a:prstGeom prst="roundRect">
            <a:avLst>
              <a:gd name="adj" fmla="val 5556"/>
            </a:avLst>
          </a:prstGeom>
        </p:spPr>
      </p:pic>
      <p:sp>
        <p:nvSpPr>
          <p:cNvPr id="20" name="Rectangle 19">
            <a:extLst>
              <a:ext uri="{FF2B5EF4-FFF2-40B4-BE49-F238E27FC236}">
                <a16:creationId xmlns:a16="http://schemas.microsoft.com/office/drawing/2014/main" id="{7AE9163E-DD28-43E4-98D7-6DB001D97C8F}"/>
              </a:ext>
            </a:extLst>
          </p:cNvPr>
          <p:cNvSpPr>
            <a:spLocks noGrp="1"/>
          </p:cNvSpPr>
          <p:nvPr/>
        </p:nvSpPr>
        <p:spPr>
          <a:xfrm>
            <a:off x="9591675" y="4391025"/>
            <a:ext cx="1809750" cy="314325"/>
          </a:xfrm>
          <a:prstGeom prst="rect">
            <a:avLst/>
          </a:prstGeom>
          <a:noFill/>
          <a:ln w="0">
            <a:noFill/>
            <a:prstDash val="solid"/>
          </a:ln>
        </p:spPr>
        <p:txBody>
          <a:bodyPr wrap="square" lIns="0" tIns="0" rIns="0" bIns="0" anchor="t">
            <a:normAutofit/>
          </a:bodyPr>
          <a:lstStyle/>
          <a:p>
            <a:pPr algn="l">
              <a:defRPr sz="1875" b="1" i="0">
                <a:solidFill>
                  <a:srgbClr val="18382E"/>
                </a:solidFill>
                <a:latin typeface="Arial"/>
                <a:ea typeface="Arial"/>
                <a:cs typeface="Arial"/>
              </a:defRPr>
            </a:pPr>
            <a:r>
              <a:rPr sz="1875" b="1" i="0">
                <a:solidFill>
                  <a:srgbClr val="18382E"/>
                </a:solidFill>
                <a:latin typeface="Arial"/>
                <a:ea typeface="Arial"/>
                <a:cs typeface="Arial"/>
              </a:rPr>
              <a:t>Culture</a:t>
            </a:r>
          </a:p>
        </p:txBody>
      </p:sp>
      <p:sp>
        <p:nvSpPr>
          <p:cNvPr id="21" name="Rectangle 20">
            <a:extLst>
              <a:ext uri="{FF2B5EF4-FFF2-40B4-BE49-F238E27FC236}">
                <a16:creationId xmlns:a16="http://schemas.microsoft.com/office/drawing/2014/main" id="{76FC6797-57A4-4BF8-833C-06CFE26EFF31}"/>
              </a:ext>
            </a:extLst>
          </p:cNvPr>
          <p:cNvSpPr>
            <a:spLocks noGrp="1"/>
          </p:cNvSpPr>
          <p:nvPr/>
        </p:nvSpPr>
        <p:spPr>
          <a:xfrm>
            <a:off x="9591675" y="4772025"/>
            <a:ext cx="1809750" cy="590550"/>
          </a:xfrm>
          <a:prstGeom prst="rect">
            <a:avLst/>
          </a:prstGeom>
          <a:noFill/>
          <a:ln w="0">
            <a:noFill/>
            <a:prstDash val="solid"/>
          </a:ln>
        </p:spPr>
        <p:txBody>
          <a:bodyPr wrap="square" lIns="0" tIns="0" rIns="0" bIns="0" anchor="t">
            <a:normAutofit/>
          </a:bodyPr>
          <a:lstStyle/>
          <a:p>
            <a:pPr algn="l">
              <a:defRPr sz="1425" b="0" i="0">
                <a:solidFill>
                  <a:srgbClr val="65766D"/>
                </a:solidFill>
                <a:latin typeface="Arial"/>
                <a:ea typeface="Arial"/>
                <a:cs typeface="Arial"/>
              </a:defRPr>
            </a:pPr>
            <a:r>
              <a:rPr sz="1425" b="0" i="0">
                <a:solidFill>
                  <a:srgbClr val="65766D"/>
                </a:solidFill>
                <a:latin typeface="Arial"/>
                <a:ea typeface="Arial"/>
                <a:cs typeface="Arial"/>
              </a:rPr>
              <a:t>History and heritage</a:t>
            </a:r>
          </a:p>
        </p:txBody>
      </p:sp>
      <p:sp>
        <p:nvSpPr>
          <p:cNvPr id="22" name="Rectangle 21">
            <a:extLst>
              <a:ext uri="{FF2B5EF4-FFF2-40B4-BE49-F238E27FC236}">
                <a16:creationId xmlns:a16="http://schemas.microsoft.com/office/drawing/2014/main" id="{BD06B6E7-CE8C-4D08-85D1-C9D0A23271F9}"/>
              </a:ext>
            </a:extLst>
          </p:cNvPr>
          <p:cNvSpPr>
            <a:spLocks noGrp="1"/>
          </p:cNvSpPr>
          <p:nvPr/>
        </p:nvSpPr>
        <p:spPr>
          <a:xfrm>
            <a:off x="3676650" y="5715000"/>
            <a:ext cx="7715250" cy="266700"/>
          </a:xfrm>
          <a:prstGeom prst="rect">
            <a:avLst/>
          </a:prstGeom>
          <a:noFill/>
          <a:ln w="0">
            <a:noFill/>
            <a:prstDash val="solid"/>
          </a:ln>
        </p:spPr>
        <p:txBody>
          <a:bodyPr wrap="square" lIns="0" tIns="0" rIns="0" bIns="0" anchor="t">
            <a:normAutofit/>
          </a:bodyPr>
          <a:lstStyle/>
          <a:p>
            <a:pPr algn="l">
              <a:defRPr sz="1350" b="0" i="1">
                <a:solidFill>
                  <a:srgbClr val="65766D"/>
                </a:solidFill>
                <a:latin typeface="Arial"/>
                <a:ea typeface="Arial"/>
                <a:cs typeface="Arial"/>
              </a:defRPr>
            </a:pPr>
            <a:r>
              <a:rPr sz="1350" b="0" i="1">
                <a:solidFill>
                  <a:srgbClr val="65766D"/>
                </a:solidFill>
                <a:latin typeface="Arial"/>
                <a:ea typeface="Arial"/>
                <a:cs typeface="Arial"/>
              </a:rPr>
              <a:t>Illustrative input profile shown for the worked example</a:t>
            </a:r>
          </a:p>
        </p:txBody>
      </p:sp>
    </p:spTree>
    <p:extLst>
      <p:ext uri="{BB962C8B-B14F-4D97-AF65-F5344CB8AC3E}">
        <p14:creationId xmlns:p14="http://schemas.microsoft.com/office/powerpoint/2010/main" val="182919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8667C09-10BD-465D-A1B4-783A5C14AD1E}"/>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The destination dataset</a:t>
            </a:r>
          </a:p>
        </p:txBody>
      </p:sp>
      <p:sp>
        <p:nvSpPr>
          <p:cNvPr id="2" name="Rectangle 1">
            <a:extLst>
              <a:ext uri="{FF2B5EF4-FFF2-40B4-BE49-F238E27FC236}">
                <a16:creationId xmlns:a16="http://schemas.microsoft.com/office/drawing/2014/main" id="{0206CA60-C3D1-44DE-AEB9-5E29CB4C5A93}"/>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A compact CSV provides the profiles the app can recommend.</a:t>
            </a:r>
          </a:p>
        </p:txBody>
      </p:sp>
      <p:sp>
        <p:nvSpPr>
          <p:cNvPr id="3" name="Rectangle 2">
            <a:extLst>
              <a:ext uri="{FF2B5EF4-FFF2-40B4-BE49-F238E27FC236}">
                <a16:creationId xmlns:a16="http://schemas.microsoft.com/office/drawing/2014/main" id="{618CD6BE-84D0-4A60-B2B8-153009F4F4C3}"/>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8CFE51E3-2D19-4365-B90E-A7045722E189}"/>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04</a:t>
            </a:r>
          </a:p>
        </p:txBody>
      </p:sp>
      <p:sp>
        <p:nvSpPr>
          <p:cNvPr id="5" name="Rectangle 4">
            <a:extLst>
              <a:ext uri="{FF2B5EF4-FFF2-40B4-BE49-F238E27FC236}">
                <a16:creationId xmlns:a16="http://schemas.microsoft.com/office/drawing/2014/main" id="{43C57E7F-80AE-450A-92FD-63F8EA7BBFB8}"/>
              </a:ext>
            </a:extLst>
          </p:cNvPr>
          <p:cNvSpPr>
            <a:spLocks noGrp="1"/>
          </p:cNvSpPr>
          <p:nvPr/>
        </p:nvSpPr>
        <p:spPr>
          <a:xfrm>
            <a:off x="638175" y="1771650"/>
            <a:ext cx="2428875" cy="552450"/>
          </a:xfrm>
          <a:prstGeom prst="rect">
            <a:avLst/>
          </a:prstGeom>
          <a:noFill/>
          <a:ln w="0">
            <a:noFill/>
            <a:prstDash val="solid"/>
          </a:ln>
        </p:spPr>
        <p:txBody>
          <a:bodyPr wrap="square" lIns="0" tIns="0" rIns="0" bIns="0" anchor="t">
            <a:normAutofit/>
          </a:bodyPr>
          <a:lstStyle/>
          <a:p>
            <a:pPr algn="l">
              <a:defRPr sz="3075" b="1" i="0">
                <a:solidFill>
                  <a:srgbClr val="E9784D"/>
                </a:solidFill>
                <a:latin typeface="Arial"/>
                <a:ea typeface="Arial"/>
                <a:cs typeface="Arial"/>
              </a:defRPr>
            </a:pPr>
            <a:r>
              <a:rPr sz="3075" b="1" i="0">
                <a:solidFill>
                  <a:srgbClr val="E9784D"/>
                </a:solidFill>
                <a:latin typeface="Arial"/>
                <a:ea typeface="Arial"/>
                <a:cs typeface="Arial"/>
              </a:rPr>
              <a:t>35</a:t>
            </a:r>
          </a:p>
        </p:txBody>
      </p:sp>
      <p:sp>
        <p:nvSpPr>
          <p:cNvPr id="6" name="Rectangle 5">
            <a:extLst>
              <a:ext uri="{FF2B5EF4-FFF2-40B4-BE49-F238E27FC236}">
                <a16:creationId xmlns:a16="http://schemas.microsoft.com/office/drawing/2014/main" id="{7E259C57-C21B-4868-B3B9-1A15FE93FB55}"/>
              </a:ext>
            </a:extLst>
          </p:cNvPr>
          <p:cNvSpPr>
            <a:spLocks noGrp="1"/>
          </p:cNvSpPr>
          <p:nvPr/>
        </p:nvSpPr>
        <p:spPr>
          <a:xfrm>
            <a:off x="657225" y="2333625"/>
            <a:ext cx="2362200" cy="333375"/>
          </a:xfrm>
          <a:prstGeom prst="rect">
            <a:avLst/>
          </a:prstGeom>
          <a:noFill/>
          <a:ln w="0">
            <a:noFill/>
            <a:prstDash val="solid"/>
          </a:ln>
        </p:spPr>
        <p:txBody>
          <a:bodyPr wrap="square" lIns="0" tIns="0" rIns="0" bIns="0" anchor="t">
            <a:normAutofit/>
          </a:bodyPr>
          <a:lstStyle/>
          <a:p>
            <a:pPr algn="l">
              <a:defRPr sz="1500" b="0" i="0">
                <a:solidFill>
                  <a:srgbClr val="65766D"/>
                </a:solidFill>
                <a:latin typeface="Arial"/>
                <a:ea typeface="Arial"/>
                <a:cs typeface="Arial"/>
              </a:defRPr>
            </a:pPr>
            <a:r>
              <a:rPr sz="1500" b="0" i="0">
                <a:solidFill>
                  <a:srgbClr val="65766D"/>
                </a:solidFill>
                <a:latin typeface="Arial"/>
                <a:ea typeface="Arial"/>
                <a:cs typeface="Arial"/>
              </a:rPr>
              <a:t>destinations</a:t>
            </a:r>
          </a:p>
        </p:txBody>
      </p:sp>
      <p:sp>
        <p:nvSpPr>
          <p:cNvPr id="7" name="Rectangle 6">
            <a:extLst>
              <a:ext uri="{FF2B5EF4-FFF2-40B4-BE49-F238E27FC236}">
                <a16:creationId xmlns:a16="http://schemas.microsoft.com/office/drawing/2014/main" id="{A9DE2C60-BAAA-4BE9-BC93-BD41FD7E86A9}"/>
              </a:ext>
            </a:extLst>
          </p:cNvPr>
          <p:cNvSpPr>
            <a:spLocks noGrp="1"/>
          </p:cNvSpPr>
          <p:nvPr/>
        </p:nvSpPr>
        <p:spPr>
          <a:xfrm>
            <a:off x="3419475" y="1771650"/>
            <a:ext cx="2428875" cy="552450"/>
          </a:xfrm>
          <a:prstGeom prst="rect">
            <a:avLst/>
          </a:prstGeom>
          <a:noFill/>
          <a:ln w="0">
            <a:noFill/>
            <a:prstDash val="solid"/>
          </a:ln>
        </p:spPr>
        <p:txBody>
          <a:bodyPr wrap="square" lIns="0" tIns="0" rIns="0" bIns="0" anchor="t">
            <a:normAutofit/>
          </a:bodyPr>
          <a:lstStyle/>
          <a:p>
            <a:pPr algn="l">
              <a:defRPr sz="3075" b="1" i="0">
                <a:solidFill>
                  <a:srgbClr val="18382E"/>
                </a:solidFill>
                <a:latin typeface="Arial"/>
                <a:ea typeface="Arial"/>
                <a:cs typeface="Arial"/>
              </a:defRPr>
            </a:pPr>
            <a:r>
              <a:rPr sz="3075" b="1" i="0">
                <a:solidFill>
                  <a:srgbClr val="18382E"/>
                </a:solidFill>
                <a:latin typeface="Arial"/>
                <a:ea typeface="Arial"/>
                <a:cs typeface="Arial"/>
              </a:rPr>
              <a:t>₹14k–₹58k</a:t>
            </a:r>
          </a:p>
        </p:txBody>
      </p:sp>
      <p:sp>
        <p:nvSpPr>
          <p:cNvPr id="8" name="Rectangle 7">
            <a:extLst>
              <a:ext uri="{FF2B5EF4-FFF2-40B4-BE49-F238E27FC236}">
                <a16:creationId xmlns:a16="http://schemas.microsoft.com/office/drawing/2014/main" id="{91C9C139-C15C-4B97-90BD-55D74A689A19}"/>
              </a:ext>
            </a:extLst>
          </p:cNvPr>
          <p:cNvSpPr>
            <a:spLocks noGrp="1"/>
          </p:cNvSpPr>
          <p:nvPr/>
        </p:nvSpPr>
        <p:spPr>
          <a:xfrm>
            <a:off x="3438525" y="2333625"/>
            <a:ext cx="2362200" cy="333375"/>
          </a:xfrm>
          <a:prstGeom prst="rect">
            <a:avLst/>
          </a:prstGeom>
          <a:noFill/>
          <a:ln w="0">
            <a:noFill/>
            <a:prstDash val="solid"/>
          </a:ln>
        </p:spPr>
        <p:txBody>
          <a:bodyPr wrap="square" lIns="0" tIns="0" rIns="0" bIns="0" anchor="t">
            <a:normAutofit/>
          </a:bodyPr>
          <a:lstStyle/>
          <a:p>
            <a:pPr algn="l">
              <a:defRPr sz="1500" b="0" i="0">
                <a:solidFill>
                  <a:srgbClr val="65766D"/>
                </a:solidFill>
                <a:latin typeface="Arial"/>
                <a:ea typeface="Arial"/>
                <a:cs typeface="Arial"/>
              </a:defRPr>
            </a:pPr>
            <a:r>
              <a:rPr sz="1500" b="0" i="0">
                <a:solidFill>
                  <a:srgbClr val="65766D"/>
                </a:solidFill>
                <a:latin typeface="Arial"/>
                <a:ea typeface="Arial"/>
                <a:cs typeface="Arial"/>
              </a:rPr>
              <a:t>sample budgets</a:t>
            </a:r>
          </a:p>
        </p:txBody>
      </p:sp>
      <p:sp>
        <p:nvSpPr>
          <p:cNvPr id="9" name="Rectangle 8">
            <a:extLst>
              <a:ext uri="{FF2B5EF4-FFF2-40B4-BE49-F238E27FC236}">
                <a16:creationId xmlns:a16="http://schemas.microsoft.com/office/drawing/2014/main" id="{02FD1372-1C16-4914-8899-F5BEFCB50EFD}"/>
              </a:ext>
            </a:extLst>
          </p:cNvPr>
          <p:cNvSpPr>
            <a:spLocks noGrp="1"/>
          </p:cNvSpPr>
          <p:nvPr/>
        </p:nvSpPr>
        <p:spPr>
          <a:xfrm>
            <a:off x="6200775" y="1771650"/>
            <a:ext cx="2428875" cy="552450"/>
          </a:xfrm>
          <a:prstGeom prst="rect">
            <a:avLst/>
          </a:prstGeom>
          <a:noFill/>
          <a:ln w="0">
            <a:noFill/>
            <a:prstDash val="solid"/>
          </a:ln>
        </p:spPr>
        <p:txBody>
          <a:bodyPr wrap="square" lIns="0" tIns="0" rIns="0" bIns="0" anchor="t">
            <a:normAutofit/>
          </a:bodyPr>
          <a:lstStyle/>
          <a:p>
            <a:pPr algn="l">
              <a:defRPr sz="3075" b="1" i="0">
                <a:solidFill>
                  <a:srgbClr val="18382E"/>
                </a:solidFill>
                <a:latin typeface="Arial"/>
                <a:ea typeface="Arial"/>
                <a:cs typeface="Arial"/>
              </a:defRPr>
            </a:pPr>
            <a:r>
              <a:rPr sz="3075" b="1" i="0">
                <a:solidFill>
                  <a:srgbClr val="18382E"/>
                </a:solidFill>
                <a:latin typeface="Arial"/>
                <a:ea typeface="Arial"/>
                <a:cs typeface="Arial"/>
              </a:rPr>
              <a:t>2–8</a:t>
            </a:r>
          </a:p>
        </p:txBody>
      </p:sp>
      <p:sp>
        <p:nvSpPr>
          <p:cNvPr id="10" name="Rectangle 9">
            <a:extLst>
              <a:ext uri="{FF2B5EF4-FFF2-40B4-BE49-F238E27FC236}">
                <a16:creationId xmlns:a16="http://schemas.microsoft.com/office/drawing/2014/main" id="{3E46E7AF-550F-46AA-A4BD-321CFEF60B86}"/>
              </a:ext>
            </a:extLst>
          </p:cNvPr>
          <p:cNvSpPr>
            <a:spLocks noGrp="1"/>
          </p:cNvSpPr>
          <p:nvPr/>
        </p:nvSpPr>
        <p:spPr>
          <a:xfrm>
            <a:off x="6219825" y="2333625"/>
            <a:ext cx="2362200" cy="333375"/>
          </a:xfrm>
          <a:prstGeom prst="rect">
            <a:avLst/>
          </a:prstGeom>
          <a:noFill/>
          <a:ln w="0">
            <a:noFill/>
            <a:prstDash val="solid"/>
          </a:ln>
        </p:spPr>
        <p:txBody>
          <a:bodyPr wrap="square" lIns="0" tIns="0" rIns="0" bIns="0" anchor="t">
            <a:normAutofit/>
          </a:bodyPr>
          <a:lstStyle/>
          <a:p>
            <a:pPr algn="l">
              <a:defRPr sz="1500" b="0" i="0">
                <a:solidFill>
                  <a:srgbClr val="65766D"/>
                </a:solidFill>
                <a:latin typeface="Arial"/>
                <a:ea typeface="Arial"/>
                <a:cs typeface="Arial"/>
              </a:defRPr>
            </a:pPr>
            <a:r>
              <a:rPr sz="1500" b="0" i="0">
                <a:solidFill>
                  <a:srgbClr val="65766D"/>
                </a:solidFill>
                <a:latin typeface="Arial"/>
                <a:ea typeface="Arial"/>
                <a:cs typeface="Arial"/>
              </a:rPr>
              <a:t>suggested days</a:t>
            </a:r>
          </a:p>
        </p:txBody>
      </p:sp>
      <p:sp>
        <p:nvSpPr>
          <p:cNvPr id="11" name="Rectangle 10">
            <a:extLst>
              <a:ext uri="{FF2B5EF4-FFF2-40B4-BE49-F238E27FC236}">
                <a16:creationId xmlns:a16="http://schemas.microsoft.com/office/drawing/2014/main" id="{A381089A-2790-4677-896D-27DEEAF6DC8F}"/>
              </a:ext>
            </a:extLst>
          </p:cNvPr>
          <p:cNvSpPr>
            <a:spLocks noGrp="1"/>
          </p:cNvSpPr>
          <p:nvPr/>
        </p:nvSpPr>
        <p:spPr>
          <a:xfrm>
            <a:off x="8982075" y="1771650"/>
            <a:ext cx="2428875" cy="552450"/>
          </a:xfrm>
          <a:prstGeom prst="rect">
            <a:avLst/>
          </a:prstGeom>
          <a:noFill/>
          <a:ln w="0">
            <a:noFill/>
            <a:prstDash val="solid"/>
          </a:ln>
        </p:spPr>
        <p:txBody>
          <a:bodyPr wrap="square" lIns="0" tIns="0" rIns="0" bIns="0" anchor="t">
            <a:normAutofit/>
          </a:bodyPr>
          <a:lstStyle/>
          <a:p>
            <a:pPr algn="l">
              <a:defRPr sz="3075" b="1" i="0">
                <a:solidFill>
                  <a:srgbClr val="18382E"/>
                </a:solidFill>
                <a:latin typeface="Arial"/>
                <a:ea typeface="Arial"/>
                <a:cs typeface="Arial"/>
              </a:defRPr>
            </a:pPr>
            <a:r>
              <a:rPr sz="3075" b="1" i="0">
                <a:solidFill>
                  <a:srgbClr val="18382E"/>
                </a:solidFill>
                <a:latin typeface="Arial"/>
                <a:ea typeface="Arial"/>
                <a:cs typeface="Arial"/>
              </a:rPr>
              <a:t>4</a:t>
            </a:r>
          </a:p>
        </p:txBody>
      </p:sp>
      <p:sp>
        <p:nvSpPr>
          <p:cNvPr id="12" name="Rectangle 11">
            <a:extLst>
              <a:ext uri="{FF2B5EF4-FFF2-40B4-BE49-F238E27FC236}">
                <a16:creationId xmlns:a16="http://schemas.microsoft.com/office/drawing/2014/main" id="{DE4BB2D0-0F9D-4115-824C-9779F01A8F49}"/>
              </a:ext>
            </a:extLst>
          </p:cNvPr>
          <p:cNvSpPr>
            <a:spLocks noGrp="1"/>
          </p:cNvSpPr>
          <p:nvPr/>
        </p:nvSpPr>
        <p:spPr>
          <a:xfrm>
            <a:off x="9001125" y="2333625"/>
            <a:ext cx="2362200" cy="333375"/>
          </a:xfrm>
          <a:prstGeom prst="rect">
            <a:avLst/>
          </a:prstGeom>
          <a:noFill/>
          <a:ln w="0">
            <a:noFill/>
            <a:prstDash val="solid"/>
          </a:ln>
        </p:spPr>
        <p:txBody>
          <a:bodyPr wrap="square" lIns="0" tIns="0" rIns="0" bIns="0" anchor="t">
            <a:normAutofit/>
          </a:bodyPr>
          <a:lstStyle/>
          <a:p>
            <a:pPr algn="l">
              <a:defRPr sz="1500" b="0" i="0">
                <a:solidFill>
                  <a:srgbClr val="65766D"/>
                </a:solidFill>
                <a:latin typeface="Arial"/>
                <a:ea typeface="Arial"/>
                <a:cs typeface="Arial"/>
              </a:defRPr>
            </a:pPr>
            <a:r>
              <a:rPr sz="1500" b="0" i="0">
                <a:solidFill>
                  <a:srgbClr val="65766D"/>
                </a:solidFill>
                <a:latin typeface="Arial"/>
                <a:ea typeface="Arial"/>
                <a:cs typeface="Arial"/>
              </a:rPr>
              <a:t>regions</a:t>
            </a:r>
          </a:p>
        </p:txBody>
      </p:sp>
      <p:sp>
        <p:nvSpPr>
          <p:cNvPr id="13" name="Rectangle 12">
            <a:extLst>
              <a:ext uri="{FF2B5EF4-FFF2-40B4-BE49-F238E27FC236}">
                <a16:creationId xmlns:a16="http://schemas.microsoft.com/office/drawing/2014/main" id="{309D8FF0-DEB0-4B20-BB1D-185CA84377C9}"/>
              </a:ext>
            </a:extLst>
          </p:cNvPr>
          <p:cNvSpPr>
            <a:spLocks noGrp="1"/>
          </p:cNvSpPr>
          <p:nvPr/>
        </p:nvSpPr>
        <p:spPr>
          <a:xfrm>
            <a:off x="666750" y="3105150"/>
            <a:ext cx="6191250" cy="323850"/>
          </a:xfrm>
          <a:prstGeom prst="rect">
            <a:avLst/>
          </a:prstGeom>
          <a:noFill/>
          <a:ln w="0">
            <a:noFill/>
            <a:prstDash val="solid"/>
          </a:ln>
        </p:spPr>
        <p:txBody>
          <a:bodyPr wrap="square" lIns="0" tIns="0" rIns="0" bIns="0" anchor="t">
            <a:normAutofit/>
          </a:bodyPr>
          <a:lstStyle/>
          <a:p>
            <a:pPr algn="l">
              <a:defRPr sz="1725" b="1" i="0">
                <a:solidFill>
                  <a:srgbClr val="18382E"/>
                </a:solidFill>
                <a:latin typeface="Arial"/>
                <a:ea typeface="Arial"/>
                <a:cs typeface="Arial"/>
              </a:defRPr>
            </a:pPr>
            <a:r>
              <a:rPr sz="1725" b="1" i="0">
                <a:solidFill>
                  <a:srgbClr val="18382E"/>
                </a:solidFill>
                <a:latin typeface="Arial"/>
                <a:ea typeface="Arial"/>
                <a:cs typeface="Arial"/>
              </a:rPr>
              <a:t>Rows by region</a:t>
            </a:r>
          </a:p>
        </p:txBody>
      </p:sp>
      <p:graphicFrame>
        <p:nvGraphicFramePr>
          <p:cNvPr id="32" name="Chart"/>
          <p:cNvGraphicFramePr/>
          <p:nvPr/>
        </p:nvGraphicFramePr>
        <p:xfrm>
          <a:off x="552450" y="3429000"/>
          <a:ext cx="7191375" cy="2524125"/>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14">
            <a:extLst>
              <a:ext uri="{FF2B5EF4-FFF2-40B4-BE49-F238E27FC236}">
                <a16:creationId xmlns:a16="http://schemas.microsoft.com/office/drawing/2014/main" id="{D5181CB1-FBEE-4FD2-8D14-8A72ADFAF281}"/>
              </a:ext>
            </a:extLst>
          </p:cNvPr>
          <p:cNvSpPr>
            <a:spLocks noGrp="1"/>
          </p:cNvSpPr>
          <p:nvPr/>
        </p:nvSpPr>
        <p:spPr>
          <a:xfrm>
            <a:off x="8239125" y="3343275"/>
            <a:ext cx="3238500" cy="409575"/>
          </a:xfrm>
          <a:prstGeom prst="rect">
            <a:avLst/>
          </a:prstGeom>
          <a:noFill/>
          <a:ln w="0">
            <a:noFill/>
            <a:prstDash val="solid"/>
          </a:ln>
        </p:spPr>
        <p:txBody>
          <a:bodyPr wrap="square" lIns="0" tIns="0" rIns="0" bIns="0" anchor="t">
            <a:normAutofit/>
          </a:bodyPr>
          <a:lstStyle/>
          <a:p>
            <a:pPr algn="l">
              <a:defRPr sz="2175" b="1" i="0">
                <a:solidFill>
                  <a:srgbClr val="18382E"/>
                </a:solidFill>
                <a:latin typeface="Arial"/>
                <a:ea typeface="Arial"/>
                <a:cs typeface="Arial"/>
              </a:defRPr>
            </a:pPr>
            <a:r>
              <a:rPr sz="2175" b="1" i="0">
                <a:solidFill>
                  <a:srgbClr val="18382E"/>
                </a:solidFill>
                <a:latin typeface="Arial"/>
                <a:ea typeface="Arial"/>
                <a:cs typeface="Arial"/>
              </a:rPr>
              <a:t>Coverage is uneven</a:t>
            </a:r>
          </a:p>
        </p:txBody>
      </p:sp>
      <p:sp>
        <p:nvSpPr>
          <p:cNvPr id="16" name="Rectangle 15">
            <a:extLst>
              <a:ext uri="{FF2B5EF4-FFF2-40B4-BE49-F238E27FC236}">
                <a16:creationId xmlns:a16="http://schemas.microsoft.com/office/drawing/2014/main" id="{6EDB16A4-3E52-4143-8373-FCD442C7A068}"/>
              </a:ext>
            </a:extLst>
          </p:cNvPr>
          <p:cNvSpPr>
            <a:spLocks noGrp="1"/>
          </p:cNvSpPr>
          <p:nvPr/>
        </p:nvSpPr>
        <p:spPr>
          <a:xfrm>
            <a:off x="8239125" y="3895725"/>
            <a:ext cx="3162300" cy="1200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North and South India account for 25 of the 35 rows. The model can only retrieve destinations present in this file.</a:t>
            </a:r>
          </a:p>
        </p:txBody>
      </p:sp>
      <p:sp>
        <p:nvSpPr>
          <p:cNvPr id="17" name="Rectangle 16">
            <a:extLst>
              <a:ext uri="{FF2B5EF4-FFF2-40B4-BE49-F238E27FC236}">
                <a16:creationId xmlns:a16="http://schemas.microsoft.com/office/drawing/2014/main" id="{B2D5A57A-8EB1-415F-8A3D-CB7C2ED0B42D}"/>
              </a:ext>
            </a:extLst>
          </p:cNvPr>
          <p:cNvSpPr>
            <a:spLocks noGrp="1"/>
          </p:cNvSpPr>
          <p:nvPr/>
        </p:nvSpPr>
        <p:spPr>
          <a:xfrm>
            <a:off x="8239125" y="5276850"/>
            <a:ext cx="2952750" cy="9525"/>
          </a:xfrm>
          <a:prstGeom prst="rect">
            <a:avLst/>
          </a:prstGeom>
          <a:solidFill>
            <a:srgbClr val="D8E1DA"/>
          </a:solidFill>
          <a:ln w="0">
            <a:noFill/>
            <a:prstDash val="solid"/>
          </a:ln>
        </p:spPr>
        <p:txBody>
          <a:bodyPr/>
          <a:lstStyle/>
          <a:p>
            <a:endParaRPr lang="en-IN"/>
          </a:p>
        </p:txBody>
      </p:sp>
      <p:sp>
        <p:nvSpPr>
          <p:cNvPr id="18" name="Rectangle 17">
            <a:extLst>
              <a:ext uri="{FF2B5EF4-FFF2-40B4-BE49-F238E27FC236}">
                <a16:creationId xmlns:a16="http://schemas.microsoft.com/office/drawing/2014/main" id="{F0C03A77-5E42-48E6-A114-78C9D5EAB3D4}"/>
              </a:ext>
            </a:extLst>
          </p:cNvPr>
          <p:cNvSpPr>
            <a:spLocks noGrp="1"/>
          </p:cNvSpPr>
          <p:nvPr/>
        </p:nvSpPr>
        <p:spPr>
          <a:xfrm>
            <a:off x="8239125" y="5457825"/>
            <a:ext cx="3162300" cy="533400"/>
          </a:xfrm>
          <a:prstGeom prst="rect">
            <a:avLst/>
          </a:prstGeom>
          <a:noFill/>
          <a:ln w="0">
            <a:noFill/>
            <a:prstDash val="solid"/>
          </a:ln>
        </p:spPr>
        <p:txBody>
          <a:bodyPr wrap="square" lIns="0" tIns="0" rIns="0" bIns="0" anchor="t">
            <a:normAutofit/>
          </a:bodyPr>
          <a:lstStyle/>
          <a:p>
            <a:pPr algn="l">
              <a:defRPr sz="1425" b="0" i="0">
                <a:solidFill>
                  <a:srgbClr val="2D6651"/>
                </a:solidFill>
                <a:latin typeface="Arial"/>
                <a:ea typeface="Arial"/>
                <a:cs typeface="Arial"/>
              </a:defRPr>
            </a:pPr>
            <a:r>
              <a:rPr sz="1425" b="0" i="0">
                <a:solidFill>
                  <a:srgbClr val="2D6651"/>
                </a:solidFill>
                <a:latin typeface="Arial"/>
                <a:ea typeface="Arial"/>
                <a:cs typeface="Arial"/>
              </a:rPr>
              <a:t>All budget figures and interest scores are illustrative project data.</a:t>
            </a:r>
          </a:p>
        </p:txBody>
      </p:sp>
    </p:spTree>
    <p:extLst>
      <p:ext uri="{BB962C8B-B14F-4D97-AF65-F5344CB8AC3E}">
        <p14:creationId xmlns:p14="http://schemas.microsoft.com/office/powerpoint/2010/main" val="1629638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DC32901-4C06-45E0-A5CB-EB42A0716003}"/>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What each destination row contains</a:t>
            </a:r>
          </a:p>
        </p:txBody>
      </p:sp>
      <p:sp>
        <p:nvSpPr>
          <p:cNvPr id="2" name="Rectangle 1">
            <a:extLst>
              <a:ext uri="{FF2B5EF4-FFF2-40B4-BE49-F238E27FC236}">
                <a16:creationId xmlns:a16="http://schemas.microsoft.com/office/drawing/2014/main" id="{58420715-3DE0-4622-B680-11015703208C}"/>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Destination, State and Region provide context. Six numeric columns drive the KNN distance.</a:t>
            </a:r>
          </a:p>
        </p:txBody>
      </p:sp>
      <p:sp>
        <p:nvSpPr>
          <p:cNvPr id="3" name="Rectangle 2">
            <a:extLst>
              <a:ext uri="{FF2B5EF4-FFF2-40B4-BE49-F238E27FC236}">
                <a16:creationId xmlns:a16="http://schemas.microsoft.com/office/drawing/2014/main" id="{727783E9-79C5-4C4D-86AE-80AE4EA3EE2A}"/>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C6D3E26D-7053-4251-BF2B-61A7ED17DD9E}"/>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05</a:t>
            </a:r>
          </a:p>
        </p:txBody>
      </p:sp>
      <p:graphicFrame>
        <p:nvGraphicFramePr>
          <p:cNvPr id="16" name="Table 15"/>
          <p:cNvGraphicFramePr/>
          <p:nvPr/>
        </p:nvGraphicFramePr>
        <p:xfrm>
          <a:off x="600075" y="1743075"/>
          <a:ext cx="6819900" cy="4095750"/>
        </p:xfrm>
        <a:graphic>
          <a:graphicData uri="http://schemas.openxmlformats.org/drawingml/2006/table">
            <a:tbl>
              <a:tblPr firstRow="1" bandRow="1"/>
              <a:tblGrid>
                <a:gridCol w="14859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495300">
                <a:tc>
                  <a:txBody>
                    <a:bodyPr/>
                    <a:lstStyle/>
                    <a:p>
                      <a:pPr algn="l"/>
                      <a:r>
                        <a:rPr sz="1425" b="1">
                          <a:solidFill>
                            <a:srgbClr val="FFFFFF"/>
                          </a:solidFill>
                          <a:latin typeface="Arial"/>
                          <a:ea typeface="Arial"/>
                          <a:cs typeface="Arial"/>
                        </a:rPr>
                        <a:t>Model field</a:t>
                      </a:r>
                    </a:p>
                  </a:txBody>
                  <a:tcPr anchor="ctr">
                    <a:solidFill>
                      <a:srgbClr val="204C3E"/>
                    </a:solidFill>
                  </a:tcPr>
                </a:tc>
                <a:tc>
                  <a:txBody>
                    <a:bodyPr/>
                    <a:lstStyle/>
                    <a:p>
                      <a:pPr algn="l"/>
                      <a:r>
                        <a:rPr sz="1425" b="1">
                          <a:solidFill>
                            <a:srgbClr val="FFFFFF"/>
                          </a:solidFill>
                          <a:latin typeface="Arial"/>
                          <a:ea typeface="Arial"/>
                          <a:cs typeface="Arial"/>
                        </a:rPr>
                        <a:t>Meaning</a:t>
                      </a:r>
                    </a:p>
                  </a:txBody>
                  <a:tcPr anchor="ctr">
                    <a:solidFill>
                      <a:srgbClr val="204C3E"/>
                    </a:solidFill>
                  </a:tcPr>
                </a:tc>
                <a:tc>
                  <a:txBody>
                    <a:bodyPr/>
                    <a:lstStyle/>
                    <a:p>
                      <a:pPr algn="l"/>
                      <a:r>
                        <a:rPr sz="1425" b="1">
                          <a:solidFill>
                            <a:srgbClr val="FFFFFF"/>
                          </a:solidFill>
                          <a:latin typeface="Arial"/>
                          <a:ea typeface="Arial"/>
                          <a:cs typeface="Arial"/>
                        </a:rPr>
                        <a:t>Representation</a:t>
                      </a:r>
                    </a:p>
                  </a:txBody>
                  <a:tcPr anchor="ctr">
                    <a:solidFill>
                      <a:srgbClr val="204C3E"/>
                    </a:solidFill>
                  </a:tcPr>
                </a:tc>
                <a:extLst>
                  <a:ext uri="{0D108BD9-81ED-4DB2-BD59-A6C34878D82A}">
                    <a16:rowId xmlns:a16="http://schemas.microsoft.com/office/drawing/2014/main" val="10000"/>
                  </a:ext>
                </a:extLst>
              </a:tr>
              <a:tr h="600075">
                <a:tc>
                  <a:txBody>
                    <a:bodyPr/>
                    <a:lstStyle/>
                    <a:p>
                      <a:pPr algn="l"/>
                      <a:r>
                        <a:rPr sz="1500" b="1">
                          <a:solidFill>
                            <a:srgbClr val="18382E"/>
                          </a:solidFill>
                          <a:latin typeface="Arial"/>
                          <a:ea typeface="Arial"/>
                          <a:cs typeface="Arial"/>
                        </a:rPr>
                        <a:t>Budget</a:t>
                      </a:r>
                    </a:p>
                  </a:txBody>
                  <a:tcPr anchor="ctr">
                    <a:solidFill>
                      <a:srgbClr val="FFFFFF"/>
                    </a:solidFill>
                  </a:tcPr>
                </a:tc>
                <a:tc>
                  <a:txBody>
                    <a:bodyPr/>
                    <a:lstStyle/>
                    <a:p>
                      <a:pPr algn="l"/>
                      <a:r>
                        <a:rPr sz="1500" b="0">
                          <a:solidFill>
                            <a:srgbClr val="18382E"/>
                          </a:solidFill>
                          <a:latin typeface="Arial"/>
                          <a:ea typeface="Arial"/>
                          <a:cs typeface="Arial"/>
                        </a:rPr>
                        <a:t>Illustrative trip estimate</a:t>
                      </a:r>
                    </a:p>
                  </a:txBody>
                  <a:tcPr anchor="ctr">
                    <a:solidFill>
                      <a:srgbClr val="FFFFFF"/>
                    </a:solidFill>
                  </a:tcPr>
                </a:tc>
                <a:tc>
                  <a:txBody>
                    <a:bodyPr/>
                    <a:lstStyle/>
                    <a:p>
                      <a:pPr algn="l"/>
                      <a:r>
                        <a:rPr sz="1500" b="0">
                          <a:solidFill>
                            <a:srgbClr val="18382E"/>
                          </a:solidFill>
                          <a:latin typeface="Arial"/>
                          <a:ea typeface="Arial"/>
                          <a:cs typeface="Arial"/>
                        </a:rPr>
                        <a:t>Indian rupees</a:t>
                      </a:r>
                    </a:p>
                  </a:txBody>
                  <a:tcPr anchor="ctr">
                    <a:solidFill>
                      <a:srgbClr val="FFFFFF"/>
                    </a:solidFill>
                  </a:tcPr>
                </a:tc>
                <a:extLst>
                  <a:ext uri="{0D108BD9-81ED-4DB2-BD59-A6C34878D82A}">
                    <a16:rowId xmlns:a16="http://schemas.microsoft.com/office/drawing/2014/main" val="10001"/>
                  </a:ext>
                </a:extLst>
              </a:tr>
              <a:tr h="600075">
                <a:tc>
                  <a:txBody>
                    <a:bodyPr/>
                    <a:lstStyle/>
                    <a:p>
                      <a:pPr algn="l"/>
                      <a:r>
                        <a:rPr sz="1500" b="1">
                          <a:solidFill>
                            <a:srgbClr val="18382E"/>
                          </a:solidFill>
                          <a:latin typeface="Arial"/>
                          <a:ea typeface="Arial"/>
                          <a:cs typeface="Arial"/>
                        </a:rPr>
                        <a:t>Days</a:t>
                      </a:r>
                    </a:p>
                  </a:txBody>
                  <a:tcPr anchor="ctr">
                    <a:solidFill>
                      <a:srgbClr val="FFFEFA"/>
                    </a:solidFill>
                  </a:tcPr>
                </a:tc>
                <a:tc>
                  <a:txBody>
                    <a:bodyPr/>
                    <a:lstStyle/>
                    <a:p>
                      <a:pPr algn="l"/>
                      <a:r>
                        <a:rPr sz="1500" b="0">
                          <a:solidFill>
                            <a:srgbClr val="18382E"/>
                          </a:solidFill>
                          <a:latin typeface="Arial"/>
                          <a:ea typeface="Arial"/>
                          <a:cs typeface="Arial"/>
                        </a:rPr>
                        <a:t>Suggested trip duration</a:t>
                      </a:r>
                    </a:p>
                  </a:txBody>
                  <a:tcPr anchor="ctr">
                    <a:solidFill>
                      <a:srgbClr val="FFFEFA"/>
                    </a:solidFill>
                  </a:tcPr>
                </a:tc>
                <a:tc>
                  <a:txBody>
                    <a:bodyPr/>
                    <a:lstStyle/>
                    <a:p>
                      <a:pPr algn="l"/>
                      <a:r>
                        <a:rPr sz="1500" b="0">
                          <a:solidFill>
                            <a:srgbClr val="18382E"/>
                          </a:solidFill>
                          <a:latin typeface="Arial"/>
                          <a:ea typeface="Arial"/>
                          <a:cs typeface="Arial"/>
                        </a:rPr>
                        <a:t>Whole days</a:t>
                      </a:r>
                    </a:p>
                  </a:txBody>
                  <a:tcPr anchor="ctr">
                    <a:solidFill>
                      <a:srgbClr val="FFFEFA"/>
                    </a:solidFill>
                  </a:tcPr>
                </a:tc>
                <a:extLst>
                  <a:ext uri="{0D108BD9-81ED-4DB2-BD59-A6C34878D82A}">
                    <a16:rowId xmlns:a16="http://schemas.microsoft.com/office/drawing/2014/main" val="10002"/>
                  </a:ext>
                </a:extLst>
              </a:tr>
              <a:tr h="600075">
                <a:tc>
                  <a:txBody>
                    <a:bodyPr/>
                    <a:lstStyle/>
                    <a:p>
                      <a:pPr algn="l"/>
                      <a:r>
                        <a:rPr sz="1500" b="1">
                          <a:solidFill>
                            <a:srgbClr val="18382E"/>
                          </a:solidFill>
                          <a:latin typeface="Arial"/>
                          <a:ea typeface="Arial"/>
                          <a:cs typeface="Arial"/>
                        </a:rPr>
                        <a:t>Nature</a:t>
                      </a:r>
                    </a:p>
                  </a:txBody>
                  <a:tcPr anchor="ctr">
                    <a:solidFill>
                      <a:srgbClr val="FFFFFF"/>
                    </a:solidFill>
                  </a:tcPr>
                </a:tc>
                <a:tc>
                  <a:txBody>
                    <a:bodyPr/>
                    <a:lstStyle/>
                    <a:p>
                      <a:pPr algn="l"/>
                      <a:r>
                        <a:rPr sz="1500" b="0">
                          <a:solidFill>
                            <a:srgbClr val="18382E"/>
                          </a:solidFill>
                          <a:latin typeface="Arial"/>
                          <a:ea typeface="Arial"/>
                          <a:cs typeface="Arial"/>
                        </a:rPr>
                        <a:t>Nature and scenery interest</a:t>
                      </a:r>
                    </a:p>
                  </a:txBody>
                  <a:tcPr anchor="ctr">
                    <a:solidFill>
                      <a:srgbClr val="FFFFFF"/>
                    </a:solidFill>
                  </a:tcPr>
                </a:tc>
                <a:tc>
                  <a:txBody>
                    <a:bodyPr/>
                    <a:lstStyle/>
                    <a:p>
                      <a:pPr algn="l"/>
                      <a:r>
                        <a:rPr sz="1500" b="0">
                          <a:solidFill>
                            <a:srgbClr val="18382E"/>
                          </a:solidFill>
                          <a:latin typeface="Arial"/>
                          <a:ea typeface="Arial"/>
                          <a:cs typeface="Arial"/>
                        </a:rPr>
                        <a:t>Score from 1 to 10</a:t>
                      </a:r>
                    </a:p>
                  </a:txBody>
                  <a:tcPr anchor="ctr">
                    <a:solidFill>
                      <a:srgbClr val="FFFFFF"/>
                    </a:solidFill>
                  </a:tcPr>
                </a:tc>
                <a:extLst>
                  <a:ext uri="{0D108BD9-81ED-4DB2-BD59-A6C34878D82A}">
                    <a16:rowId xmlns:a16="http://schemas.microsoft.com/office/drawing/2014/main" val="10003"/>
                  </a:ext>
                </a:extLst>
              </a:tr>
              <a:tr h="600075">
                <a:tc>
                  <a:txBody>
                    <a:bodyPr/>
                    <a:lstStyle/>
                    <a:p>
                      <a:pPr algn="l"/>
                      <a:r>
                        <a:rPr sz="1500" b="1">
                          <a:solidFill>
                            <a:srgbClr val="18382E"/>
                          </a:solidFill>
                          <a:latin typeface="Arial"/>
                          <a:ea typeface="Arial"/>
                          <a:cs typeface="Arial"/>
                        </a:rPr>
                        <a:t>Beach</a:t>
                      </a:r>
                    </a:p>
                  </a:txBody>
                  <a:tcPr anchor="ctr">
                    <a:solidFill>
                      <a:srgbClr val="FFFEFA"/>
                    </a:solidFill>
                  </a:tcPr>
                </a:tc>
                <a:tc>
                  <a:txBody>
                    <a:bodyPr/>
                    <a:lstStyle/>
                    <a:p>
                      <a:pPr algn="l"/>
                      <a:r>
                        <a:rPr sz="1500" b="0">
                          <a:solidFill>
                            <a:srgbClr val="18382E"/>
                          </a:solidFill>
                          <a:latin typeface="Arial"/>
                          <a:ea typeface="Arial"/>
                          <a:cs typeface="Arial"/>
                        </a:rPr>
                        <a:t>Beach interest</a:t>
                      </a:r>
                    </a:p>
                  </a:txBody>
                  <a:tcPr anchor="ctr">
                    <a:solidFill>
                      <a:srgbClr val="FFFEFA"/>
                    </a:solidFill>
                  </a:tcPr>
                </a:tc>
                <a:tc>
                  <a:txBody>
                    <a:bodyPr/>
                    <a:lstStyle/>
                    <a:p>
                      <a:pPr algn="l"/>
                      <a:r>
                        <a:rPr sz="1500" b="0">
                          <a:solidFill>
                            <a:srgbClr val="18382E"/>
                          </a:solidFill>
                          <a:latin typeface="Arial"/>
                          <a:ea typeface="Arial"/>
                          <a:cs typeface="Arial"/>
                        </a:rPr>
                        <a:t>Score from 1 to 10</a:t>
                      </a:r>
                    </a:p>
                  </a:txBody>
                  <a:tcPr anchor="ctr">
                    <a:solidFill>
                      <a:srgbClr val="FFFEFA"/>
                    </a:solidFill>
                  </a:tcPr>
                </a:tc>
                <a:extLst>
                  <a:ext uri="{0D108BD9-81ED-4DB2-BD59-A6C34878D82A}">
                    <a16:rowId xmlns:a16="http://schemas.microsoft.com/office/drawing/2014/main" val="10004"/>
                  </a:ext>
                </a:extLst>
              </a:tr>
              <a:tr h="600075">
                <a:tc>
                  <a:txBody>
                    <a:bodyPr/>
                    <a:lstStyle/>
                    <a:p>
                      <a:pPr algn="l"/>
                      <a:r>
                        <a:rPr sz="1500" b="1">
                          <a:solidFill>
                            <a:srgbClr val="18382E"/>
                          </a:solidFill>
                          <a:latin typeface="Arial"/>
                          <a:ea typeface="Arial"/>
                          <a:cs typeface="Arial"/>
                        </a:rPr>
                        <a:t>Adventure</a:t>
                      </a:r>
                    </a:p>
                  </a:txBody>
                  <a:tcPr anchor="ctr">
                    <a:solidFill>
                      <a:srgbClr val="FFFFFF"/>
                    </a:solidFill>
                  </a:tcPr>
                </a:tc>
                <a:tc>
                  <a:txBody>
                    <a:bodyPr/>
                    <a:lstStyle/>
                    <a:p>
                      <a:pPr algn="l"/>
                      <a:r>
                        <a:rPr sz="1500" b="0">
                          <a:solidFill>
                            <a:srgbClr val="18382E"/>
                          </a:solidFill>
                          <a:latin typeface="Arial"/>
                          <a:ea typeface="Arial"/>
                          <a:cs typeface="Arial"/>
                        </a:rPr>
                        <a:t>Adventure interest</a:t>
                      </a:r>
                    </a:p>
                  </a:txBody>
                  <a:tcPr anchor="ctr">
                    <a:solidFill>
                      <a:srgbClr val="FFFFFF"/>
                    </a:solidFill>
                  </a:tcPr>
                </a:tc>
                <a:tc>
                  <a:txBody>
                    <a:bodyPr/>
                    <a:lstStyle/>
                    <a:p>
                      <a:pPr algn="l"/>
                      <a:r>
                        <a:rPr sz="1500" b="0">
                          <a:solidFill>
                            <a:srgbClr val="18382E"/>
                          </a:solidFill>
                          <a:latin typeface="Arial"/>
                          <a:ea typeface="Arial"/>
                          <a:cs typeface="Arial"/>
                        </a:rPr>
                        <a:t>Score from 1 to 10</a:t>
                      </a:r>
                    </a:p>
                  </a:txBody>
                  <a:tcPr anchor="ctr">
                    <a:solidFill>
                      <a:srgbClr val="FFFFFF"/>
                    </a:solidFill>
                  </a:tcPr>
                </a:tc>
                <a:extLst>
                  <a:ext uri="{0D108BD9-81ED-4DB2-BD59-A6C34878D82A}">
                    <a16:rowId xmlns:a16="http://schemas.microsoft.com/office/drawing/2014/main" val="10005"/>
                  </a:ext>
                </a:extLst>
              </a:tr>
              <a:tr h="600075">
                <a:tc>
                  <a:txBody>
                    <a:bodyPr/>
                    <a:lstStyle/>
                    <a:p>
                      <a:pPr algn="l"/>
                      <a:r>
                        <a:rPr sz="1500" b="1">
                          <a:solidFill>
                            <a:srgbClr val="18382E"/>
                          </a:solidFill>
                          <a:latin typeface="Arial"/>
                          <a:ea typeface="Arial"/>
                          <a:cs typeface="Arial"/>
                        </a:rPr>
                        <a:t>Culture</a:t>
                      </a:r>
                    </a:p>
                  </a:txBody>
                  <a:tcPr anchor="ctr">
                    <a:solidFill>
                      <a:srgbClr val="FFFEFA"/>
                    </a:solidFill>
                  </a:tcPr>
                </a:tc>
                <a:tc>
                  <a:txBody>
                    <a:bodyPr/>
                    <a:lstStyle/>
                    <a:p>
                      <a:pPr algn="l"/>
                      <a:r>
                        <a:rPr sz="1500" b="0">
                          <a:solidFill>
                            <a:srgbClr val="18382E"/>
                          </a:solidFill>
                          <a:latin typeface="Arial"/>
                          <a:ea typeface="Arial"/>
                          <a:cs typeface="Arial"/>
                        </a:rPr>
                        <a:t>Culture and history interest</a:t>
                      </a:r>
                    </a:p>
                  </a:txBody>
                  <a:tcPr anchor="ctr">
                    <a:solidFill>
                      <a:srgbClr val="FFFEFA"/>
                    </a:solidFill>
                  </a:tcPr>
                </a:tc>
                <a:tc>
                  <a:txBody>
                    <a:bodyPr/>
                    <a:lstStyle/>
                    <a:p>
                      <a:pPr algn="l"/>
                      <a:r>
                        <a:rPr sz="1500" b="0">
                          <a:solidFill>
                            <a:srgbClr val="18382E"/>
                          </a:solidFill>
                          <a:latin typeface="Arial"/>
                          <a:ea typeface="Arial"/>
                          <a:cs typeface="Arial"/>
                        </a:rPr>
                        <a:t>Score from 1 to 10</a:t>
                      </a:r>
                    </a:p>
                  </a:txBody>
                  <a:tcPr anchor="ctr">
                    <a:solidFill>
                      <a:srgbClr val="FFFEFA"/>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4E65B01F-2923-4FDF-8ABF-228D8CAA781A}"/>
              </a:ext>
            </a:extLst>
          </p:cNvPr>
          <p:cNvSpPr>
            <a:spLocks noGrp="1"/>
          </p:cNvSpPr>
          <p:nvPr/>
        </p:nvSpPr>
        <p:spPr>
          <a:xfrm>
            <a:off x="7962900" y="1885950"/>
            <a:ext cx="3305175" cy="323850"/>
          </a:xfrm>
          <a:prstGeom prst="rect">
            <a:avLst/>
          </a:prstGeom>
          <a:noFill/>
          <a:ln w="0">
            <a:noFill/>
            <a:prstDash val="solid"/>
          </a:ln>
        </p:spPr>
        <p:txBody>
          <a:bodyPr wrap="square" lIns="0" tIns="0" rIns="0" bIns="0" anchor="t">
            <a:normAutofit/>
          </a:bodyPr>
          <a:lstStyle/>
          <a:p>
            <a:pPr algn="l">
              <a:defRPr sz="1575" b="1" i="0">
                <a:solidFill>
                  <a:srgbClr val="2D6651"/>
                </a:solidFill>
                <a:latin typeface="Arial"/>
                <a:ea typeface="Arial"/>
                <a:cs typeface="Arial"/>
              </a:defRPr>
            </a:pPr>
            <a:r>
              <a:rPr sz="1575" b="1" i="0">
                <a:solidFill>
                  <a:srgbClr val="2D6651"/>
                </a:solidFill>
                <a:latin typeface="Arial"/>
                <a:ea typeface="Arial"/>
                <a:cs typeface="Arial"/>
              </a:rPr>
              <a:t>Example row</a:t>
            </a:r>
          </a:p>
        </p:txBody>
      </p:sp>
      <p:sp>
        <p:nvSpPr>
          <p:cNvPr id="7" name="Rectangle 6">
            <a:extLst>
              <a:ext uri="{FF2B5EF4-FFF2-40B4-BE49-F238E27FC236}">
                <a16:creationId xmlns:a16="http://schemas.microsoft.com/office/drawing/2014/main" id="{430696CC-27BA-4E4B-B853-740F4127122E}"/>
              </a:ext>
            </a:extLst>
          </p:cNvPr>
          <p:cNvSpPr>
            <a:spLocks noGrp="1"/>
          </p:cNvSpPr>
          <p:nvPr/>
        </p:nvSpPr>
        <p:spPr>
          <a:xfrm>
            <a:off x="7962900" y="2352675"/>
            <a:ext cx="3305175" cy="466725"/>
          </a:xfrm>
          <a:prstGeom prst="rect">
            <a:avLst/>
          </a:prstGeom>
          <a:noFill/>
          <a:ln w="0">
            <a:noFill/>
            <a:prstDash val="solid"/>
          </a:ln>
        </p:spPr>
        <p:txBody>
          <a:bodyPr wrap="square" lIns="0" tIns="0" rIns="0" bIns="0" anchor="t">
            <a:normAutofit/>
          </a:bodyPr>
          <a:lstStyle/>
          <a:p>
            <a:pPr algn="l">
              <a:defRPr sz="2625" b="1" i="0">
                <a:solidFill>
                  <a:srgbClr val="18382E"/>
                </a:solidFill>
                <a:latin typeface="Arial"/>
                <a:ea typeface="Arial"/>
                <a:cs typeface="Arial"/>
              </a:defRPr>
            </a:pPr>
            <a:r>
              <a:rPr sz="2625" b="1" i="0">
                <a:solidFill>
                  <a:srgbClr val="18382E"/>
                </a:solidFill>
                <a:latin typeface="Arial"/>
                <a:ea typeface="Arial"/>
                <a:cs typeface="Arial"/>
              </a:rPr>
              <a:t>Shimla</a:t>
            </a:r>
          </a:p>
        </p:txBody>
      </p:sp>
      <p:sp>
        <p:nvSpPr>
          <p:cNvPr id="8" name="Rectangle 7">
            <a:extLst>
              <a:ext uri="{FF2B5EF4-FFF2-40B4-BE49-F238E27FC236}">
                <a16:creationId xmlns:a16="http://schemas.microsoft.com/office/drawing/2014/main" id="{11B88676-CDA3-4AB0-BD66-60B70F9A5CAC}"/>
              </a:ext>
            </a:extLst>
          </p:cNvPr>
          <p:cNvSpPr>
            <a:spLocks noGrp="1"/>
          </p:cNvSpPr>
          <p:nvPr/>
        </p:nvSpPr>
        <p:spPr>
          <a:xfrm>
            <a:off x="7962900" y="2971800"/>
            <a:ext cx="3305175" cy="381000"/>
          </a:xfrm>
          <a:prstGeom prst="rect">
            <a:avLst/>
          </a:prstGeom>
          <a:noFill/>
          <a:ln w="0">
            <a:noFill/>
            <a:prstDash val="solid"/>
          </a:ln>
        </p:spPr>
        <p:txBody>
          <a:bodyPr wrap="square" lIns="0" tIns="0" rIns="0" bIns="0" anchor="t">
            <a:normAutofit/>
          </a:bodyPr>
          <a:lstStyle/>
          <a:p>
            <a:pPr algn="l">
              <a:defRPr sz="1800" b="0" i="0">
                <a:solidFill>
                  <a:srgbClr val="18382E"/>
                </a:solidFill>
                <a:latin typeface="Arial"/>
                <a:ea typeface="Arial"/>
                <a:cs typeface="Arial"/>
              </a:defRPr>
            </a:pPr>
            <a:r>
              <a:rPr sz="1800" b="0" i="0">
                <a:solidFill>
                  <a:srgbClr val="18382E"/>
                </a:solidFill>
                <a:latin typeface="Arial"/>
                <a:ea typeface="Arial"/>
                <a:cs typeface="Arial"/>
              </a:rPr>
              <a:t>₹26,000 · 5 days</a:t>
            </a:r>
          </a:p>
        </p:txBody>
      </p:sp>
      <p:sp>
        <p:nvSpPr>
          <p:cNvPr id="9" name="Rectangle 8">
            <a:extLst>
              <a:ext uri="{FF2B5EF4-FFF2-40B4-BE49-F238E27FC236}">
                <a16:creationId xmlns:a16="http://schemas.microsoft.com/office/drawing/2014/main" id="{1166DC05-F978-4117-9C7E-AECEEDE467F1}"/>
              </a:ext>
            </a:extLst>
          </p:cNvPr>
          <p:cNvSpPr>
            <a:spLocks noGrp="1"/>
          </p:cNvSpPr>
          <p:nvPr/>
        </p:nvSpPr>
        <p:spPr>
          <a:xfrm>
            <a:off x="7962900" y="3514725"/>
            <a:ext cx="3238500" cy="9525"/>
          </a:xfrm>
          <a:prstGeom prst="rect">
            <a:avLst/>
          </a:prstGeom>
          <a:solidFill>
            <a:srgbClr val="D8E1DA"/>
          </a:solidFill>
          <a:ln w="0">
            <a:noFill/>
            <a:prstDash val="solid"/>
          </a:ln>
        </p:spPr>
        <p:txBody>
          <a:bodyPr/>
          <a:lstStyle/>
          <a:p>
            <a:endParaRPr lang="en-IN"/>
          </a:p>
        </p:txBody>
      </p:sp>
      <p:sp>
        <p:nvSpPr>
          <p:cNvPr id="10" name="Rectangle 9">
            <a:extLst>
              <a:ext uri="{FF2B5EF4-FFF2-40B4-BE49-F238E27FC236}">
                <a16:creationId xmlns:a16="http://schemas.microsoft.com/office/drawing/2014/main" id="{B0CE3F4D-26C8-4DE0-AA0B-DA9A00788709}"/>
              </a:ext>
            </a:extLst>
          </p:cNvPr>
          <p:cNvSpPr>
            <a:spLocks noGrp="1"/>
          </p:cNvSpPr>
          <p:nvPr/>
        </p:nvSpPr>
        <p:spPr>
          <a:xfrm>
            <a:off x="7962900" y="3743325"/>
            <a:ext cx="3238500" cy="1476375"/>
          </a:xfrm>
          <a:prstGeom prst="rect">
            <a:avLst/>
          </a:prstGeom>
          <a:noFill/>
          <a:ln w="0">
            <a:noFill/>
            <a:prstDash val="solid"/>
          </a:ln>
        </p:spPr>
        <p:txBody>
          <a:bodyPr wrap="square" lIns="0" tIns="0" rIns="0" bIns="0" anchor="t">
            <a:normAutofit/>
          </a:bodyPr>
          <a:lstStyle/>
          <a:p>
            <a:pPr algn="l">
              <a:defRPr sz="1650" b="0" i="0">
                <a:solidFill>
                  <a:srgbClr val="18382E"/>
                </a:solidFill>
                <a:latin typeface="Arial"/>
                <a:ea typeface="Arial"/>
                <a:cs typeface="Arial"/>
              </a:defRPr>
            </a:pPr>
            <a:r>
              <a:rPr sz="1650" b="0" i="0">
                <a:solidFill>
                  <a:srgbClr val="18382E"/>
                </a:solidFill>
                <a:latin typeface="Arial"/>
                <a:ea typeface="Arial"/>
                <a:cs typeface="Arial"/>
              </a:rPr>
              <a:t>Nature 9</a:t>
            </a:r>
          </a:p>
          <a:p>
            <a:pPr algn="l">
              <a:defRPr sz="1650" b="0" i="0">
                <a:solidFill>
                  <a:srgbClr val="18382E"/>
                </a:solidFill>
                <a:latin typeface="Arial"/>
                <a:ea typeface="Arial"/>
                <a:cs typeface="Arial"/>
              </a:defRPr>
            </a:pPr>
            <a:r>
              <a:rPr sz="1650" b="0" i="0">
                <a:solidFill>
                  <a:srgbClr val="18382E"/>
                </a:solidFill>
                <a:latin typeface="Arial"/>
                <a:ea typeface="Arial"/>
                <a:cs typeface="Arial"/>
              </a:rPr>
              <a:t>Beach 1</a:t>
            </a:r>
          </a:p>
          <a:p>
            <a:pPr algn="l">
              <a:defRPr sz="1650" b="0" i="0">
                <a:solidFill>
                  <a:srgbClr val="18382E"/>
                </a:solidFill>
                <a:latin typeface="Arial"/>
                <a:ea typeface="Arial"/>
                <a:cs typeface="Arial"/>
              </a:defRPr>
            </a:pPr>
            <a:r>
              <a:rPr sz="1650" b="0" i="0">
                <a:solidFill>
                  <a:srgbClr val="18382E"/>
                </a:solidFill>
                <a:latin typeface="Arial"/>
                <a:ea typeface="Arial"/>
                <a:cs typeface="Arial"/>
              </a:rPr>
              <a:t>Adventure 6</a:t>
            </a:r>
          </a:p>
          <a:p>
            <a:pPr algn="l">
              <a:defRPr sz="1650" b="0" i="0">
                <a:solidFill>
                  <a:srgbClr val="18382E"/>
                </a:solidFill>
                <a:latin typeface="Arial"/>
                <a:ea typeface="Arial"/>
                <a:cs typeface="Arial"/>
              </a:defRPr>
            </a:pPr>
            <a:r>
              <a:rPr sz="1650" b="0" i="0">
                <a:solidFill>
                  <a:srgbClr val="18382E"/>
                </a:solidFill>
                <a:latin typeface="Arial"/>
                <a:ea typeface="Arial"/>
                <a:cs typeface="Arial"/>
              </a:rPr>
              <a:t>Culture 7</a:t>
            </a:r>
          </a:p>
        </p:txBody>
      </p:sp>
      <p:sp>
        <p:nvSpPr>
          <p:cNvPr id="11" name="Rectangle 10">
            <a:extLst>
              <a:ext uri="{FF2B5EF4-FFF2-40B4-BE49-F238E27FC236}">
                <a16:creationId xmlns:a16="http://schemas.microsoft.com/office/drawing/2014/main" id="{DBC33314-B8E4-47D9-BC34-5A5B1221F0FC}"/>
              </a:ext>
            </a:extLst>
          </p:cNvPr>
          <p:cNvSpPr>
            <a:spLocks noGrp="1"/>
          </p:cNvSpPr>
          <p:nvPr/>
        </p:nvSpPr>
        <p:spPr>
          <a:xfrm>
            <a:off x="7962900" y="5372100"/>
            <a:ext cx="3314700" cy="666750"/>
          </a:xfrm>
          <a:prstGeom prst="rect">
            <a:avLst/>
          </a:prstGeom>
          <a:noFill/>
          <a:ln w="0">
            <a:noFill/>
            <a:prstDash val="solid"/>
          </a:ln>
        </p:spPr>
        <p:txBody>
          <a:bodyPr wrap="square" lIns="0" tIns="0" rIns="0" bIns="0" anchor="t">
            <a:normAutofit/>
          </a:bodyPr>
          <a:lstStyle/>
          <a:p>
            <a:pPr algn="l">
              <a:defRPr sz="1350" b="0" i="0">
                <a:solidFill>
                  <a:srgbClr val="65766D"/>
                </a:solidFill>
                <a:latin typeface="Arial"/>
                <a:ea typeface="Arial"/>
                <a:cs typeface="Arial"/>
              </a:defRPr>
            </a:pPr>
            <a:r>
              <a:rPr sz="1350" b="0" i="0">
                <a:solidFill>
                  <a:srgbClr val="65766D"/>
                </a:solidFill>
                <a:latin typeface="Arial"/>
                <a:ea typeface="Arial"/>
                <a:cs typeface="Arial"/>
              </a:rPr>
              <a:t>Himachal Pradesh and North India are metadata for display and filtering. They are not model features.</a:t>
            </a:r>
          </a:p>
        </p:txBody>
      </p:sp>
    </p:spTree>
    <p:extLst>
      <p:ext uri="{BB962C8B-B14F-4D97-AF65-F5344CB8AC3E}">
        <p14:creationId xmlns:p14="http://schemas.microsoft.com/office/powerpoint/2010/main" val="913094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2138D18-DB7A-43A1-B850-EBCF7F576EE5}"/>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Why the app standardizes its features</a:t>
            </a:r>
          </a:p>
        </p:txBody>
      </p:sp>
      <p:sp>
        <p:nvSpPr>
          <p:cNvPr id="2" name="Rectangle 1">
            <a:extLst>
              <a:ext uri="{FF2B5EF4-FFF2-40B4-BE49-F238E27FC236}">
                <a16:creationId xmlns:a16="http://schemas.microsoft.com/office/drawing/2014/main" id="{2C4AD369-0DFB-45AE-9D82-93BA292D9BC2}"/>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The inputs use different units and ranges, so raw distances would be misleading.</a:t>
            </a:r>
          </a:p>
        </p:txBody>
      </p:sp>
      <p:sp>
        <p:nvSpPr>
          <p:cNvPr id="3" name="Rectangle 2">
            <a:extLst>
              <a:ext uri="{FF2B5EF4-FFF2-40B4-BE49-F238E27FC236}">
                <a16:creationId xmlns:a16="http://schemas.microsoft.com/office/drawing/2014/main" id="{93DDE66A-7722-481F-B810-458BAFB22C10}"/>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5E45ECC4-ACBE-4C20-97A4-283A857BDF3C}"/>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06</a:t>
            </a:r>
          </a:p>
        </p:txBody>
      </p:sp>
      <p:sp>
        <p:nvSpPr>
          <p:cNvPr id="5" name="Rectangle 4">
            <a:extLst>
              <a:ext uri="{FF2B5EF4-FFF2-40B4-BE49-F238E27FC236}">
                <a16:creationId xmlns:a16="http://schemas.microsoft.com/office/drawing/2014/main" id="{7D4F5B26-7114-44F4-85CE-54943329BBA8}"/>
              </a:ext>
            </a:extLst>
          </p:cNvPr>
          <p:cNvSpPr>
            <a:spLocks noGrp="1"/>
          </p:cNvSpPr>
          <p:nvPr/>
        </p:nvSpPr>
        <p:spPr>
          <a:xfrm>
            <a:off x="704850" y="1952625"/>
            <a:ext cx="4476750" cy="381000"/>
          </a:xfrm>
          <a:prstGeom prst="rect">
            <a:avLst/>
          </a:prstGeom>
          <a:noFill/>
          <a:ln w="0">
            <a:noFill/>
            <a:prstDash val="solid"/>
          </a:ln>
        </p:spPr>
        <p:txBody>
          <a:bodyPr wrap="square" lIns="0" tIns="0" rIns="0" bIns="0" anchor="t">
            <a:normAutofit/>
          </a:bodyPr>
          <a:lstStyle/>
          <a:p>
            <a:pPr algn="l">
              <a:defRPr sz="1800" b="1" i="0">
                <a:solidFill>
                  <a:srgbClr val="2D6651"/>
                </a:solidFill>
                <a:latin typeface="Arial"/>
                <a:ea typeface="Arial"/>
                <a:cs typeface="Arial"/>
              </a:defRPr>
            </a:pPr>
            <a:r>
              <a:rPr sz="1800" b="1" i="0">
                <a:solidFill>
                  <a:srgbClr val="2D6651"/>
                </a:solidFill>
                <a:latin typeface="Arial"/>
                <a:ea typeface="Arial"/>
                <a:cs typeface="Arial"/>
              </a:rPr>
              <a:t>Before scaling</a:t>
            </a:r>
          </a:p>
        </p:txBody>
      </p:sp>
      <p:sp>
        <p:nvSpPr>
          <p:cNvPr id="6" name="Rectangle 5">
            <a:extLst>
              <a:ext uri="{FF2B5EF4-FFF2-40B4-BE49-F238E27FC236}">
                <a16:creationId xmlns:a16="http://schemas.microsoft.com/office/drawing/2014/main" id="{B1A8EEFD-8B13-4362-9676-A0C69F56F577}"/>
              </a:ext>
            </a:extLst>
          </p:cNvPr>
          <p:cNvSpPr>
            <a:spLocks noGrp="1"/>
          </p:cNvSpPr>
          <p:nvPr/>
        </p:nvSpPr>
        <p:spPr>
          <a:xfrm>
            <a:off x="704850" y="2495550"/>
            <a:ext cx="4476750" cy="1009650"/>
          </a:xfrm>
          <a:prstGeom prst="rect">
            <a:avLst/>
          </a:prstGeom>
          <a:noFill/>
          <a:ln w="0">
            <a:noFill/>
            <a:prstDash val="solid"/>
          </a:ln>
        </p:spPr>
        <p:txBody>
          <a:bodyPr wrap="square" lIns="0" tIns="0" rIns="0" bIns="0" anchor="t">
            <a:normAutofit/>
          </a:bodyPr>
          <a:lstStyle/>
          <a:p>
            <a:pPr algn="l">
              <a:defRPr sz="1950" b="0" i="0">
                <a:solidFill>
                  <a:srgbClr val="18382E"/>
                </a:solidFill>
                <a:latin typeface="Arial"/>
                <a:ea typeface="Arial"/>
                <a:cs typeface="Arial"/>
              </a:defRPr>
            </a:pPr>
            <a:r>
              <a:rPr sz="1950" b="0" i="0">
                <a:solidFill>
                  <a:srgbClr val="18382E"/>
                </a:solidFill>
                <a:latin typeface="Arial"/>
                <a:ea typeface="Arial"/>
                <a:cs typeface="Arial"/>
              </a:rPr>
              <a:t>Budget values are in tens of thousands of rupees. Interest scores sit between 1 and 10.</a:t>
            </a:r>
          </a:p>
        </p:txBody>
      </p:sp>
      <p:sp>
        <p:nvSpPr>
          <p:cNvPr id="7" name="Rectangle 6">
            <a:extLst>
              <a:ext uri="{FF2B5EF4-FFF2-40B4-BE49-F238E27FC236}">
                <a16:creationId xmlns:a16="http://schemas.microsoft.com/office/drawing/2014/main" id="{FB85E1AB-E2C1-46B6-B949-5BEA5F4F977C}"/>
              </a:ext>
            </a:extLst>
          </p:cNvPr>
          <p:cNvSpPr>
            <a:spLocks noGrp="1"/>
          </p:cNvSpPr>
          <p:nvPr/>
        </p:nvSpPr>
        <p:spPr>
          <a:xfrm>
            <a:off x="704850" y="3771900"/>
            <a:ext cx="4476750" cy="942975"/>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A raw Euclidean distance would be dominated by the budget numbers.</a:t>
            </a:r>
          </a:p>
        </p:txBody>
      </p:sp>
      <p:sp>
        <p:nvSpPr>
          <p:cNvPr id="8" name="Rectangle 7">
            <a:extLst>
              <a:ext uri="{FF2B5EF4-FFF2-40B4-BE49-F238E27FC236}">
                <a16:creationId xmlns:a16="http://schemas.microsoft.com/office/drawing/2014/main" id="{7845919B-25F2-46DE-AA08-4143769175B0}"/>
              </a:ext>
            </a:extLst>
          </p:cNvPr>
          <p:cNvSpPr>
            <a:spLocks noGrp="1"/>
          </p:cNvSpPr>
          <p:nvPr/>
        </p:nvSpPr>
        <p:spPr>
          <a:xfrm>
            <a:off x="5753100" y="1924050"/>
            <a:ext cx="19050" cy="3886200"/>
          </a:xfrm>
          <a:prstGeom prst="rect">
            <a:avLst/>
          </a:prstGeom>
          <a:solidFill>
            <a:srgbClr val="D8E1DA"/>
          </a:solidFill>
          <a:ln w="0">
            <a:noFill/>
            <a:prstDash val="solid"/>
          </a:ln>
        </p:spPr>
        <p:txBody>
          <a:bodyPr/>
          <a:lstStyle/>
          <a:p>
            <a:endParaRPr lang="en-IN"/>
          </a:p>
        </p:txBody>
      </p:sp>
      <p:sp>
        <p:nvSpPr>
          <p:cNvPr id="9" name="Rectangle 8">
            <a:extLst>
              <a:ext uri="{FF2B5EF4-FFF2-40B4-BE49-F238E27FC236}">
                <a16:creationId xmlns:a16="http://schemas.microsoft.com/office/drawing/2014/main" id="{B189C84D-0A62-49C3-AE44-8A861A7FC068}"/>
              </a:ext>
            </a:extLst>
          </p:cNvPr>
          <p:cNvSpPr>
            <a:spLocks noGrp="1"/>
          </p:cNvSpPr>
          <p:nvPr/>
        </p:nvSpPr>
        <p:spPr>
          <a:xfrm>
            <a:off x="6305550" y="1952625"/>
            <a:ext cx="4857750" cy="400050"/>
          </a:xfrm>
          <a:prstGeom prst="rect">
            <a:avLst/>
          </a:prstGeom>
          <a:noFill/>
          <a:ln w="0">
            <a:noFill/>
            <a:prstDash val="solid"/>
          </a:ln>
        </p:spPr>
        <p:txBody>
          <a:bodyPr wrap="square" lIns="0" tIns="0" rIns="0" bIns="0" anchor="t">
            <a:normAutofit/>
          </a:bodyPr>
          <a:lstStyle/>
          <a:p>
            <a:pPr algn="l">
              <a:defRPr sz="1800" b="1" i="0">
                <a:solidFill>
                  <a:srgbClr val="2D6651"/>
                </a:solidFill>
                <a:latin typeface="Arial"/>
                <a:ea typeface="Arial"/>
                <a:cs typeface="Arial"/>
              </a:defRPr>
            </a:pPr>
            <a:r>
              <a:rPr sz="1800" b="1" i="0">
                <a:solidFill>
                  <a:srgbClr val="2D6651"/>
                </a:solidFill>
                <a:latin typeface="Arial"/>
                <a:ea typeface="Arial"/>
                <a:cs typeface="Arial"/>
              </a:rPr>
              <a:t>StandardScaler</a:t>
            </a:r>
          </a:p>
        </p:txBody>
      </p:sp>
      <p:sp>
        <p:nvSpPr>
          <p:cNvPr id="10" name="Rectangle 9">
            <a:extLst>
              <a:ext uri="{FF2B5EF4-FFF2-40B4-BE49-F238E27FC236}">
                <a16:creationId xmlns:a16="http://schemas.microsoft.com/office/drawing/2014/main" id="{C4AC6C36-BFE0-4492-9E30-1EF978BD760B}"/>
              </a:ext>
            </a:extLst>
          </p:cNvPr>
          <p:cNvSpPr>
            <a:spLocks noGrp="1"/>
          </p:cNvSpPr>
          <p:nvPr/>
        </p:nvSpPr>
        <p:spPr>
          <a:xfrm>
            <a:off x="6286500" y="2590800"/>
            <a:ext cx="4953000" cy="647700"/>
          </a:xfrm>
          <a:prstGeom prst="rect">
            <a:avLst/>
          </a:prstGeom>
          <a:noFill/>
          <a:ln w="0">
            <a:noFill/>
            <a:prstDash val="solid"/>
          </a:ln>
        </p:spPr>
        <p:txBody>
          <a:bodyPr wrap="square" lIns="0" tIns="0" rIns="0" bIns="0" anchor="t">
            <a:normAutofit/>
          </a:bodyPr>
          <a:lstStyle/>
          <a:p>
            <a:pPr algn="l">
              <a:defRPr sz="3225" b="1" i="0">
                <a:solidFill>
                  <a:srgbClr val="18382E"/>
                </a:solidFill>
                <a:latin typeface="Arial"/>
                <a:ea typeface="Arial"/>
                <a:cs typeface="Arial"/>
              </a:defRPr>
            </a:pPr>
            <a:r>
              <a:rPr sz="3225" b="1" i="0">
                <a:solidFill>
                  <a:srgbClr val="18382E"/>
                </a:solidFill>
                <a:latin typeface="Arial"/>
                <a:ea typeface="Arial"/>
                <a:cs typeface="Arial"/>
              </a:rPr>
              <a:t>z = (x − μ) / σ</a:t>
            </a:r>
          </a:p>
        </p:txBody>
      </p:sp>
      <p:sp>
        <p:nvSpPr>
          <p:cNvPr id="11" name="Rectangle 10">
            <a:extLst>
              <a:ext uri="{FF2B5EF4-FFF2-40B4-BE49-F238E27FC236}">
                <a16:creationId xmlns:a16="http://schemas.microsoft.com/office/drawing/2014/main" id="{2BC53AE0-E69E-44DB-9715-E5D138154D58}"/>
              </a:ext>
            </a:extLst>
          </p:cNvPr>
          <p:cNvSpPr>
            <a:spLocks noGrp="1"/>
          </p:cNvSpPr>
          <p:nvPr/>
        </p:nvSpPr>
        <p:spPr>
          <a:xfrm>
            <a:off x="6305550" y="3438525"/>
            <a:ext cx="4762500" cy="619125"/>
          </a:xfrm>
          <a:prstGeom prst="rect">
            <a:avLst/>
          </a:prstGeom>
          <a:noFill/>
          <a:ln w="0">
            <a:noFill/>
            <a:prstDash val="solid"/>
          </a:ln>
        </p:spPr>
        <p:txBody>
          <a:bodyPr wrap="square" lIns="0" tIns="0" rIns="0" bIns="0" anchor="t">
            <a:normAutofit/>
          </a:bodyPr>
          <a:lstStyle/>
          <a:p>
            <a:pPr algn="l">
              <a:defRPr sz="1800" b="0" i="0">
                <a:solidFill>
                  <a:srgbClr val="18382E"/>
                </a:solidFill>
                <a:latin typeface="Arial"/>
                <a:ea typeface="Arial"/>
                <a:cs typeface="Arial"/>
              </a:defRPr>
            </a:pPr>
            <a:r>
              <a:rPr sz="1800" b="0" i="0">
                <a:solidFill>
                  <a:srgbClr val="18382E"/>
                </a:solidFill>
                <a:latin typeface="Arial"/>
                <a:ea typeface="Arial"/>
                <a:cs typeface="Arial"/>
              </a:rPr>
              <a:t>Subtract the feature mean, then divide by its standard deviation.</a:t>
            </a:r>
          </a:p>
        </p:txBody>
      </p:sp>
      <p:sp>
        <p:nvSpPr>
          <p:cNvPr id="12" name="Rectangle: Rounded Corners 11">
            <a:extLst>
              <a:ext uri="{FF2B5EF4-FFF2-40B4-BE49-F238E27FC236}">
                <a16:creationId xmlns:a16="http://schemas.microsoft.com/office/drawing/2014/main" id="{1B4736A8-327A-4D41-B1ED-4EA245ACFC19}"/>
              </a:ext>
            </a:extLst>
          </p:cNvPr>
          <p:cNvSpPr>
            <a:spLocks noGrp="1"/>
          </p:cNvSpPr>
          <p:nvPr/>
        </p:nvSpPr>
        <p:spPr>
          <a:xfrm>
            <a:off x="6286500" y="4362450"/>
            <a:ext cx="4876800" cy="1104900"/>
          </a:xfrm>
          <a:prstGeom prst="roundRect">
            <a:avLst>
              <a:gd name="adj" fmla="val 10345"/>
            </a:avLst>
          </a:prstGeom>
          <a:solidFill>
            <a:srgbClr val="E7EFE8"/>
          </a:solidFill>
          <a:ln w="0">
            <a:noFill/>
            <a:prstDash val="solid"/>
          </a:ln>
        </p:spPr>
        <p:txBody>
          <a:bodyPr/>
          <a:lstStyle/>
          <a:p>
            <a:endParaRPr lang="en-IN"/>
          </a:p>
        </p:txBody>
      </p:sp>
      <p:sp>
        <p:nvSpPr>
          <p:cNvPr id="13" name="Rectangle 12">
            <a:extLst>
              <a:ext uri="{FF2B5EF4-FFF2-40B4-BE49-F238E27FC236}">
                <a16:creationId xmlns:a16="http://schemas.microsoft.com/office/drawing/2014/main" id="{DBD436F0-E693-4090-AB57-AF106AD8A1F5}"/>
              </a:ext>
            </a:extLst>
          </p:cNvPr>
          <p:cNvSpPr>
            <a:spLocks noGrp="1"/>
          </p:cNvSpPr>
          <p:nvPr/>
        </p:nvSpPr>
        <p:spPr>
          <a:xfrm>
            <a:off x="6534150" y="4572000"/>
            <a:ext cx="4400550" cy="742950"/>
          </a:xfrm>
          <a:prstGeom prst="rect">
            <a:avLst/>
          </a:prstGeom>
          <a:noFill/>
          <a:ln w="0">
            <a:noFill/>
            <a:prstDash val="solid"/>
          </a:ln>
        </p:spPr>
        <p:txBody>
          <a:bodyPr wrap="square" lIns="0" tIns="0" rIns="0" bIns="0" anchor="t">
            <a:normAutofit/>
          </a:bodyPr>
          <a:lstStyle/>
          <a:p>
            <a:pPr algn="l">
              <a:defRPr sz="1650" b="1" i="0">
                <a:solidFill>
                  <a:srgbClr val="204C3E"/>
                </a:solidFill>
                <a:latin typeface="Arial"/>
                <a:ea typeface="Arial"/>
                <a:cs typeface="Arial"/>
              </a:defRPr>
            </a:pPr>
            <a:r>
              <a:rPr sz="1650" b="1" i="0">
                <a:solidFill>
                  <a:srgbClr val="204C3E"/>
                </a:solidFill>
                <a:latin typeface="Arial"/>
                <a:ea typeface="Arial"/>
                <a:cs typeface="Arial"/>
              </a:rPr>
              <a:t>Fit once on destination rows. Transform the traveler with that same scaler.</a:t>
            </a:r>
          </a:p>
        </p:txBody>
      </p:sp>
      <p:sp>
        <p:nvSpPr>
          <p:cNvPr id="14" name="Rectangle 13">
            <a:extLst>
              <a:ext uri="{FF2B5EF4-FFF2-40B4-BE49-F238E27FC236}">
                <a16:creationId xmlns:a16="http://schemas.microsoft.com/office/drawing/2014/main" id="{55A4F635-F176-40EA-89F5-CC436D781CF0}"/>
              </a:ext>
            </a:extLst>
          </p:cNvPr>
          <p:cNvSpPr>
            <a:spLocks noGrp="1"/>
          </p:cNvSpPr>
          <p:nvPr/>
        </p:nvSpPr>
        <p:spPr>
          <a:xfrm>
            <a:off x="704850" y="5305425"/>
            <a:ext cx="4476750" cy="323850"/>
          </a:xfrm>
          <a:prstGeom prst="rect">
            <a:avLst/>
          </a:prstGeom>
          <a:noFill/>
          <a:ln w="0">
            <a:noFill/>
            <a:prstDash val="solid"/>
          </a:ln>
        </p:spPr>
        <p:txBody>
          <a:bodyPr wrap="square" lIns="0" tIns="0" rIns="0" bIns="0" anchor="t">
            <a:normAutofit/>
          </a:bodyPr>
          <a:lstStyle/>
          <a:p>
            <a:pPr algn="l">
              <a:defRPr sz="1500" b="1" i="0">
                <a:solidFill>
                  <a:srgbClr val="18382E"/>
                </a:solidFill>
                <a:latin typeface="Arial"/>
                <a:ea typeface="Arial"/>
                <a:cs typeface="Arial"/>
              </a:defRPr>
            </a:pPr>
            <a:r>
              <a:rPr sz="1500" b="1" i="0">
                <a:solidFill>
                  <a:srgbClr val="18382E"/>
                </a:solidFill>
                <a:latin typeface="Arial"/>
                <a:ea typeface="Arial"/>
                <a:cs typeface="Arial"/>
              </a:rPr>
              <a:t>Standardized inputs</a:t>
            </a:r>
          </a:p>
        </p:txBody>
      </p:sp>
      <p:sp>
        <p:nvSpPr>
          <p:cNvPr id="15" name="Rectangle 14">
            <a:extLst>
              <a:ext uri="{FF2B5EF4-FFF2-40B4-BE49-F238E27FC236}">
                <a16:creationId xmlns:a16="http://schemas.microsoft.com/office/drawing/2014/main" id="{AC06E7F6-3812-4883-8BC0-F7B5DEE84FE8}"/>
              </a:ext>
            </a:extLst>
          </p:cNvPr>
          <p:cNvSpPr>
            <a:spLocks noGrp="1"/>
          </p:cNvSpPr>
          <p:nvPr/>
        </p:nvSpPr>
        <p:spPr>
          <a:xfrm>
            <a:off x="704850" y="5676900"/>
            <a:ext cx="4762500" cy="400050"/>
          </a:xfrm>
          <a:prstGeom prst="rect">
            <a:avLst/>
          </a:prstGeom>
          <a:noFill/>
          <a:ln w="0">
            <a:noFill/>
            <a:prstDash val="solid"/>
          </a:ln>
        </p:spPr>
        <p:txBody>
          <a:bodyPr wrap="square" lIns="0" tIns="0" rIns="0" bIns="0" anchor="t">
            <a:normAutofit/>
          </a:bodyPr>
          <a:lstStyle/>
          <a:p>
            <a:pPr algn="l">
              <a:defRPr sz="1425" b="0" i="0">
                <a:solidFill>
                  <a:srgbClr val="65766D"/>
                </a:solidFill>
                <a:latin typeface="Arial"/>
                <a:ea typeface="Arial"/>
                <a:cs typeface="Arial"/>
              </a:defRPr>
            </a:pPr>
            <a:r>
              <a:rPr sz="1425" b="0" i="0">
                <a:solidFill>
                  <a:srgbClr val="65766D"/>
                </a:solidFill>
                <a:latin typeface="Arial"/>
                <a:ea typeface="Arial"/>
                <a:cs typeface="Arial"/>
              </a:rPr>
              <a:t>Budget · Days · Nature · Beach · Adventure · Culture</a:t>
            </a:r>
          </a:p>
        </p:txBody>
      </p:sp>
    </p:spTree>
    <p:extLst>
      <p:ext uri="{BB962C8B-B14F-4D97-AF65-F5344CB8AC3E}">
        <p14:creationId xmlns:p14="http://schemas.microsoft.com/office/powerpoint/2010/main" val="524608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952697C-D543-4AE7-B1AF-F79967FCDCAB}"/>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KNN is a nearest-profile search</a:t>
            </a:r>
          </a:p>
        </p:txBody>
      </p:sp>
      <p:sp>
        <p:nvSpPr>
          <p:cNvPr id="2" name="Rectangle 1">
            <a:extLst>
              <a:ext uri="{FF2B5EF4-FFF2-40B4-BE49-F238E27FC236}">
                <a16:creationId xmlns:a16="http://schemas.microsoft.com/office/drawing/2014/main" id="{A365E05E-6089-49DE-913E-652A56D6B8D8}"/>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The app retrieves similar rows rather than predicting a destination category.</a:t>
            </a:r>
          </a:p>
        </p:txBody>
      </p:sp>
      <p:sp>
        <p:nvSpPr>
          <p:cNvPr id="3" name="Rectangle 2">
            <a:extLst>
              <a:ext uri="{FF2B5EF4-FFF2-40B4-BE49-F238E27FC236}">
                <a16:creationId xmlns:a16="http://schemas.microsoft.com/office/drawing/2014/main" id="{51E4EB37-3A00-476C-AF75-78ED9C1E5D05}"/>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1473A6AD-50B5-4D17-BED4-6046752CCF52}"/>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07</a:t>
            </a:r>
          </a:p>
        </p:txBody>
      </p:sp>
      <p:sp>
        <p:nvSpPr>
          <p:cNvPr id="5" name="Rectangle: Rounded Corners 4">
            <a:extLst>
              <a:ext uri="{FF2B5EF4-FFF2-40B4-BE49-F238E27FC236}">
                <a16:creationId xmlns:a16="http://schemas.microsoft.com/office/drawing/2014/main" id="{5A42745F-6D14-422D-BED8-128B7541D2B8}"/>
              </a:ext>
            </a:extLst>
          </p:cNvPr>
          <p:cNvSpPr>
            <a:spLocks noGrp="1"/>
          </p:cNvSpPr>
          <p:nvPr/>
        </p:nvSpPr>
        <p:spPr>
          <a:xfrm>
            <a:off x="647700" y="1828800"/>
            <a:ext cx="4533900" cy="3143250"/>
          </a:xfrm>
          <a:prstGeom prst="roundRect">
            <a:avLst>
              <a:gd name="adj" fmla="val 4848"/>
            </a:avLst>
          </a:prstGeom>
          <a:solidFill>
            <a:srgbClr val="204C3E"/>
          </a:solidFill>
          <a:ln w="0">
            <a:noFill/>
            <a:prstDash val="solid"/>
          </a:ln>
        </p:spPr>
        <p:txBody>
          <a:bodyPr/>
          <a:lstStyle/>
          <a:p>
            <a:endParaRPr lang="en-IN"/>
          </a:p>
        </p:txBody>
      </p:sp>
      <p:sp>
        <p:nvSpPr>
          <p:cNvPr id="6" name="Rectangle 5">
            <a:extLst>
              <a:ext uri="{FF2B5EF4-FFF2-40B4-BE49-F238E27FC236}">
                <a16:creationId xmlns:a16="http://schemas.microsoft.com/office/drawing/2014/main" id="{AFBE33BC-78F5-4252-AB79-A9177856401D}"/>
              </a:ext>
            </a:extLst>
          </p:cNvPr>
          <p:cNvSpPr>
            <a:spLocks noGrp="1"/>
          </p:cNvSpPr>
          <p:nvPr/>
        </p:nvSpPr>
        <p:spPr>
          <a:xfrm>
            <a:off x="952500" y="2133600"/>
            <a:ext cx="3714750" cy="304800"/>
          </a:xfrm>
          <a:prstGeom prst="rect">
            <a:avLst/>
          </a:prstGeom>
          <a:noFill/>
          <a:ln w="0">
            <a:noFill/>
            <a:prstDash val="solid"/>
          </a:ln>
        </p:spPr>
        <p:txBody>
          <a:bodyPr wrap="square" lIns="0" tIns="0" rIns="0" bIns="0" anchor="t">
            <a:normAutofit/>
          </a:bodyPr>
          <a:lstStyle/>
          <a:p>
            <a:pPr algn="l">
              <a:defRPr sz="1275" b="1" i="0">
                <a:solidFill>
                  <a:srgbClr val="C6E1CF"/>
                </a:solidFill>
                <a:latin typeface="Arial"/>
                <a:ea typeface="Arial"/>
                <a:cs typeface="Arial"/>
              </a:defRPr>
            </a:pPr>
            <a:r>
              <a:rPr sz="1275" b="1" i="0">
                <a:solidFill>
                  <a:srgbClr val="C6E1CF"/>
                </a:solidFill>
                <a:latin typeface="Arial"/>
                <a:ea typeface="Arial"/>
                <a:cs typeface="Arial"/>
              </a:rPr>
              <a:t>NEIGHBOR SEARCH</a:t>
            </a:r>
          </a:p>
        </p:txBody>
      </p:sp>
      <p:sp>
        <p:nvSpPr>
          <p:cNvPr id="7" name="Rectangle 6">
            <a:extLst>
              <a:ext uri="{FF2B5EF4-FFF2-40B4-BE49-F238E27FC236}">
                <a16:creationId xmlns:a16="http://schemas.microsoft.com/office/drawing/2014/main" id="{E6F0D62C-9A19-4FE3-98FD-544CDEBEF834}"/>
              </a:ext>
            </a:extLst>
          </p:cNvPr>
          <p:cNvSpPr>
            <a:spLocks noGrp="1"/>
          </p:cNvSpPr>
          <p:nvPr/>
        </p:nvSpPr>
        <p:spPr>
          <a:xfrm>
            <a:off x="962025" y="2676525"/>
            <a:ext cx="3857625" cy="1962150"/>
          </a:xfrm>
          <a:prstGeom prst="rect">
            <a:avLst/>
          </a:prstGeom>
          <a:noFill/>
          <a:ln w="0">
            <a:noFill/>
            <a:prstDash val="solid"/>
          </a:ln>
        </p:spPr>
        <p:txBody>
          <a:bodyPr wrap="square" lIns="0" tIns="0" rIns="0" bIns="0" anchor="t">
            <a:normAutofit/>
          </a:bodyPr>
          <a:lstStyle/>
          <a:p>
            <a:pPr algn="l">
              <a:defRPr sz="2025" b="1" i="0">
                <a:solidFill>
                  <a:srgbClr val="FFFFFF"/>
                </a:solidFill>
                <a:latin typeface="Arial"/>
                <a:ea typeface="Arial"/>
                <a:cs typeface="Arial"/>
              </a:defRPr>
            </a:pPr>
            <a:r>
              <a:rPr sz="2025" b="1" i="0">
                <a:solidFill>
                  <a:srgbClr val="FFFFFF"/>
                </a:solidFill>
                <a:latin typeface="Arial"/>
                <a:ea typeface="Arial"/>
                <a:cs typeface="Arial"/>
              </a:rPr>
              <a:t>NearestNeighbors(</a:t>
            </a:r>
          </a:p>
          <a:p>
            <a:pPr algn="l">
              <a:defRPr sz="2025" b="1" i="0">
                <a:solidFill>
                  <a:srgbClr val="FFFFFF"/>
                </a:solidFill>
                <a:latin typeface="Arial"/>
                <a:ea typeface="Arial"/>
                <a:cs typeface="Arial"/>
              </a:defRPr>
            </a:pPr>
            <a:r>
              <a:rPr sz="2025" b="1" i="0">
                <a:solidFill>
                  <a:srgbClr val="FFFFFF"/>
                </a:solidFill>
                <a:latin typeface="Arial"/>
                <a:ea typeface="Arial"/>
                <a:cs typeface="Arial"/>
              </a:rPr>
              <a:t>    n_neighbors=5,</a:t>
            </a:r>
          </a:p>
          <a:p>
            <a:pPr algn="l">
              <a:defRPr sz="2025" b="1" i="0">
                <a:solidFill>
                  <a:srgbClr val="FFFFFF"/>
                </a:solidFill>
                <a:latin typeface="Arial"/>
                <a:ea typeface="Arial"/>
                <a:cs typeface="Arial"/>
              </a:defRPr>
            </a:pPr>
            <a:r>
              <a:rPr sz="2025" b="1" i="0">
                <a:solidFill>
                  <a:srgbClr val="FFFFFF"/>
                </a:solidFill>
                <a:latin typeface="Arial"/>
                <a:ea typeface="Arial"/>
                <a:cs typeface="Arial"/>
              </a:rPr>
              <a:t>    metric="euclidean"</a:t>
            </a:r>
          </a:p>
          <a:p>
            <a:pPr algn="l">
              <a:defRPr sz="2025" b="1" i="0">
                <a:solidFill>
                  <a:srgbClr val="FFFFFF"/>
                </a:solidFill>
                <a:latin typeface="Arial"/>
                <a:ea typeface="Arial"/>
                <a:cs typeface="Arial"/>
              </a:defRPr>
            </a:pPr>
            <a:r>
              <a:rPr sz="2025" b="1" i="0">
                <a:solidFill>
                  <a:srgbClr val="FFFFFF"/>
                </a:solidFill>
                <a:latin typeface="Arial"/>
                <a:ea typeface="Arial"/>
                <a:cs typeface="Arial"/>
              </a:rPr>
              <a:t>)</a:t>
            </a:r>
          </a:p>
        </p:txBody>
      </p:sp>
      <p:sp>
        <p:nvSpPr>
          <p:cNvPr id="8" name="Rectangle 7">
            <a:extLst>
              <a:ext uri="{FF2B5EF4-FFF2-40B4-BE49-F238E27FC236}">
                <a16:creationId xmlns:a16="http://schemas.microsoft.com/office/drawing/2014/main" id="{B19BF610-B30D-43AC-A999-52DA097E353B}"/>
              </a:ext>
            </a:extLst>
          </p:cNvPr>
          <p:cNvSpPr>
            <a:spLocks noGrp="1"/>
          </p:cNvSpPr>
          <p:nvPr/>
        </p:nvSpPr>
        <p:spPr>
          <a:xfrm>
            <a:off x="5886450" y="1981200"/>
            <a:ext cx="5238750" cy="419100"/>
          </a:xfrm>
          <a:prstGeom prst="rect">
            <a:avLst/>
          </a:prstGeom>
          <a:noFill/>
          <a:ln w="0">
            <a:noFill/>
            <a:prstDash val="solid"/>
          </a:ln>
        </p:spPr>
        <p:txBody>
          <a:bodyPr wrap="square" lIns="0" tIns="0" rIns="0" bIns="0" anchor="t">
            <a:normAutofit/>
          </a:bodyPr>
          <a:lstStyle/>
          <a:p>
            <a:pPr algn="l">
              <a:defRPr sz="2175" b="1" i="0">
                <a:solidFill>
                  <a:srgbClr val="18382E"/>
                </a:solidFill>
                <a:latin typeface="Arial"/>
                <a:ea typeface="Arial"/>
                <a:cs typeface="Arial"/>
              </a:defRPr>
            </a:pPr>
            <a:r>
              <a:rPr sz="2175" b="1" i="0">
                <a:solidFill>
                  <a:srgbClr val="18382E"/>
                </a:solidFill>
                <a:latin typeface="Arial"/>
                <a:ea typeface="Arial"/>
                <a:cs typeface="Arial"/>
              </a:rPr>
              <a:t>What the settings mean</a:t>
            </a:r>
          </a:p>
        </p:txBody>
      </p:sp>
      <p:sp>
        <p:nvSpPr>
          <p:cNvPr id="9" name="Rectangle 8">
            <a:extLst>
              <a:ext uri="{FF2B5EF4-FFF2-40B4-BE49-F238E27FC236}">
                <a16:creationId xmlns:a16="http://schemas.microsoft.com/office/drawing/2014/main" id="{6C701965-6E8C-4B73-967F-5D620EEE71B2}"/>
              </a:ext>
            </a:extLst>
          </p:cNvPr>
          <p:cNvSpPr>
            <a:spLocks noGrp="1"/>
          </p:cNvSpPr>
          <p:nvPr/>
        </p:nvSpPr>
        <p:spPr>
          <a:xfrm>
            <a:off x="5886450" y="2705100"/>
            <a:ext cx="1657350" cy="323850"/>
          </a:xfrm>
          <a:prstGeom prst="rect">
            <a:avLst/>
          </a:prstGeom>
          <a:noFill/>
          <a:ln w="0">
            <a:noFill/>
            <a:prstDash val="solid"/>
          </a:ln>
        </p:spPr>
        <p:txBody>
          <a:bodyPr wrap="square" lIns="0" tIns="0" rIns="0" bIns="0" anchor="t">
            <a:normAutofit/>
          </a:bodyPr>
          <a:lstStyle/>
          <a:p>
            <a:pPr algn="l">
              <a:defRPr sz="1725" b="1" i="0">
                <a:solidFill>
                  <a:srgbClr val="E9784D"/>
                </a:solidFill>
                <a:latin typeface="Arial"/>
                <a:ea typeface="Arial"/>
                <a:cs typeface="Arial"/>
              </a:defRPr>
            </a:pPr>
            <a:r>
              <a:rPr sz="1725" b="1" i="0">
                <a:solidFill>
                  <a:srgbClr val="E9784D"/>
                </a:solidFill>
                <a:latin typeface="Arial"/>
                <a:ea typeface="Arial"/>
                <a:cs typeface="Arial"/>
              </a:rPr>
              <a:t>k = 5</a:t>
            </a:r>
          </a:p>
        </p:txBody>
      </p:sp>
      <p:sp>
        <p:nvSpPr>
          <p:cNvPr id="10" name="Rectangle 9">
            <a:extLst>
              <a:ext uri="{FF2B5EF4-FFF2-40B4-BE49-F238E27FC236}">
                <a16:creationId xmlns:a16="http://schemas.microsoft.com/office/drawing/2014/main" id="{0B932C17-5391-4978-9D3F-8EBE2A3E7FF2}"/>
              </a:ext>
            </a:extLst>
          </p:cNvPr>
          <p:cNvSpPr>
            <a:spLocks noGrp="1"/>
          </p:cNvSpPr>
          <p:nvPr/>
        </p:nvSpPr>
        <p:spPr>
          <a:xfrm>
            <a:off x="7620000" y="2695575"/>
            <a:ext cx="3562350" cy="685800"/>
          </a:xfrm>
          <a:prstGeom prst="rect">
            <a:avLst/>
          </a:prstGeom>
          <a:noFill/>
          <a:ln w="0">
            <a:noFill/>
            <a:prstDash val="solid"/>
          </a:ln>
        </p:spPr>
        <p:txBody>
          <a:bodyPr wrap="square" lIns="0" tIns="0" rIns="0" bIns="0" anchor="t">
            <a:normAutofit/>
          </a:bodyPr>
          <a:lstStyle/>
          <a:p>
            <a:pPr algn="l">
              <a:defRPr sz="1650" b="0" i="0">
                <a:solidFill>
                  <a:srgbClr val="18382E"/>
                </a:solidFill>
                <a:latin typeface="Arial"/>
                <a:ea typeface="Arial"/>
                <a:cs typeface="Arial"/>
              </a:defRPr>
            </a:pPr>
            <a:r>
              <a:rPr sz="1650" b="0" i="0">
                <a:solidFill>
                  <a:srgbClr val="18382E"/>
                </a:solidFill>
                <a:latin typeface="Arial"/>
                <a:ea typeface="Arial"/>
                <a:cs typeface="Arial"/>
              </a:rPr>
              <a:t>Return up to five destination profiles.</a:t>
            </a:r>
          </a:p>
        </p:txBody>
      </p:sp>
      <p:sp>
        <p:nvSpPr>
          <p:cNvPr id="11" name="Rectangle 10">
            <a:extLst>
              <a:ext uri="{FF2B5EF4-FFF2-40B4-BE49-F238E27FC236}">
                <a16:creationId xmlns:a16="http://schemas.microsoft.com/office/drawing/2014/main" id="{68A8C4A9-18C6-4FA7-83B8-9F64C329237A}"/>
              </a:ext>
            </a:extLst>
          </p:cNvPr>
          <p:cNvSpPr>
            <a:spLocks noGrp="1"/>
          </p:cNvSpPr>
          <p:nvPr/>
        </p:nvSpPr>
        <p:spPr>
          <a:xfrm>
            <a:off x="5886450" y="3667125"/>
            <a:ext cx="1657350" cy="323850"/>
          </a:xfrm>
          <a:prstGeom prst="rect">
            <a:avLst/>
          </a:prstGeom>
          <a:noFill/>
          <a:ln w="0">
            <a:noFill/>
            <a:prstDash val="solid"/>
          </a:ln>
        </p:spPr>
        <p:txBody>
          <a:bodyPr wrap="square" lIns="0" tIns="0" rIns="0" bIns="0" anchor="t">
            <a:normAutofit/>
          </a:bodyPr>
          <a:lstStyle/>
          <a:p>
            <a:pPr algn="l">
              <a:defRPr sz="1725" b="1" i="0">
                <a:solidFill>
                  <a:srgbClr val="E9784D"/>
                </a:solidFill>
                <a:latin typeface="Arial"/>
                <a:ea typeface="Arial"/>
                <a:cs typeface="Arial"/>
              </a:defRPr>
            </a:pPr>
            <a:r>
              <a:rPr sz="1725" b="1" i="0">
                <a:solidFill>
                  <a:srgbClr val="E9784D"/>
                </a:solidFill>
                <a:latin typeface="Arial"/>
                <a:ea typeface="Arial"/>
                <a:cs typeface="Arial"/>
              </a:rPr>
              <a:t>Euclidean</a:t>
            </a:r>
          </a:p>
        </p:txBody>
      </p:sp>
      <p:sp>
        <p:nvSpPr>
          <p:cNvPr id="12" name="Rectangle 11">
            <a:extLst>
              <a:ext uri="{FF2B5EF4-FFF2-40B4-BE49-F238E27FC236}">
                <a16:creationId xmlns:a16="http://schemas.microsoft.com/office/drawing/2014/main" id="{EA9544C8-7AE7-42B8-89A8-35C611493349}"/>
              </a:ext>
            </a:extLst>
          </p:cNvPr>
          <p:cNvSpPr>
            <a:spLocks noGrp="1"/>
          </p:cNvSpPr>
          <p:nvPr/>
        </p:nvSpPr>
        <p:spPr>
          <a:xfrm>
            <a:off x="7620000" y="3657600"/>
            <a:ext cx="3562350" cy="685800"/>
          </a:xfrm>
          <a:prstGeom prst="rect">
            <a:avLst/>
          </a:prstGeom>
          <a:noFill/>
          <a:ln w="0">
            <a:noFill/>
            <a:prstDash val="solid"/>
          </a:ln>
        </p:spPr>
        <p:txBody>
          <a:bodyPr wrap="square" lIns="0" tIns="0" rIns="0" bIns="0" anchor="t">
            <a:normAutofit/>
          </a:bodyPr>
          <a:lstStyle/>
          <a:p>
            <a:pPr algn="l">
              <a:defRPr sz="1650" b="0" i="0">
                <a:solidFill>
                  <a:srgbClr val="18382E"/>
                </a:solidFill>
                <a:latin typeface="Arial"/>
                <a:ea typeface="Arial"/>
                <a:cs typeface="Arial"/>
              </a:defRPr>
            </a:pPr>
            <a:r>
              <a:rPr sz="1650" b="0" i="0">
                <a:solidFill>
                  <a:srgbClr val="18382E"/>
                </a:solidFill>
                <a:latin typeface="Arial"/>
                <a:ea typeface="Arial"/>
                <a:cs typeface="Arial"/>
              </a:rPr>
              <a:t>Measure straight-line distance across the six scaled values.</a:t>
            </a:r>
          </a:p>
        </p:txBody>
      </p:sp>
      <p:sp>
        <p:nvSpPr>
          <p:cNvPr id="13" name="Rectangle 12">
            <a:extLst>
              <a:ext uri="{FF2B5EF4-FFF2-40B4-BE49-F238E27FC236}">
                <a16:creationId xmlns:a16="http://schemas.microsoft.com/office/drawing/2014/main" id="{A500FCF1-77AC-4A0B-AE9D-18B64952BE39}"/>
              </a:ext>
            </a:extLst>
          </p:cNvPr>
          <p:cNvSpPr>
            <a:spLocks noGrp="1"/>
          </p:cNvSpPr>
          <p:nvPr/>
        </p:nvSpPr>
        <p:spPr>
          <a:xfrm>
            <a:off x="5886450" y="4629150"/>
            <a:ext cx="1657350" cy="323850"/>
          </a:xfrm>
          <a:prstGeom prst="rect">
            <a:avLst/>
          </a:prstGeom>
          <a:noFill/>
          <a:ln w="0">
            <a:noFill/>
            <a:prstDash val="solid"/>
          </a:ln>
        </p:spPr>
        <p:txBody>
          <a:bodyPr wrap="square" lIns="0" tIns="0" rIns="0" bIns="0" anchor="t">
            <a:normAutofit/>
          </a:bodyPr>
          <a:lstStyle/>
          <a:p>
            <a:pPr algn="l">
              <a:defRPr sz="1725" b="1" i="0">
                <a:solidFill>
                  <a:srgbClr val="E9784D"/>
                </a:solidFill>
                <a:latin typeface="Arial"/>
                <a:ea typeface="Arial"/>
                <a:cs typeface="Arial"/>
              </a:defRPr>
            </a:pPr>
            <a:r>
              <a:rPr sz="1725" b="1" i="0">
                <a:solidFill>
                  <a:srgbClr val="E9784D"/>
                </a:solidFill>
                <a:latin typeface="Arial"/>
                <a:ea typeface="Arial"/>
                <a:cs typeface="Arial"/>
              </a:rPr>
              <a:t>No labels</a:t>
            </a:r>
          </a:p>
        </p:txBody>
      </p:sp>
      <p:sp>
        <p:nvSpPr>
          <p:cNvPr id="14" name="Rectangle 13">
            <a:extLst>
              <a:ext uri="{FF2B5EF4-FFF2-40B4-BE49-F238E27FC236}">
                <a16:creationId xmlns:a16="http://schemas.microsoft.com/office/drawing/2014/main" id="{A52DA363-9ED4-4A3D-89E5-BD67D1224807}"/>
              </a:ext>
            </a:extLst>
          </p:cNvPr>
          <p:cNvSpPr>
            <a:spLocks noGrp="1"/>
          </p:cNvSpPr>
          <p:nvPr/>
        </p:nvSpPr>
        <p:spPr>
          <a:xfrm>
            <a:off x="7620000" y="4619625"/>
            <a:ext cx="3562350" cy="685800"/>
          </a:xfrm>
          <a:prstGeom prst="rect">
            <a:avLst/>
          </a:prstGeom>
          <a:noFill/>
          <a:ln w="0">
            <a:noFill/>
            <a:prstDash val="solid"/>
          </a:ln>
        </p:spPr>
        <p:txBody>
          <a:bodyPr wrap="square" lIns="0" tIns="0" rIns="0" bIns="0" anchor="t">
            <a:normAutofit/>
          </a:bodyPr>
          <a:lstStyle/>
          <a:p>
            <a:pPr algn="l">
              <a:defRPr sz="1650" b="0" i="0">
                <a:solidFill>
                  <a:srgbClr val="18382E"/>
                </a:solidFill>
                <a:latin typeface="Arial"/>
                <a:ea typeface="Arial"/>
                <a:cs typeface="Arial"/>
              </a:defRPr>
            </a:pPr>
            <a:r>
              <a:rPr sz="1650" b="0" i="0">
                <a:solidFill>
                  <a:srgbClr val="18382E"/>
                </a:solidFill>
                <a:latin typeface="Arial"/>
                <a:ea typeface="Arial"/>
                <a:cs typeface="Arial"/>
              </a:rPr>
              <a:t>The search retrieves nearby rows. It does not predict a destination class.</a:t>
            </a:r>
          </a:p>
        </p:txBody>
      </p:sp>
      <p:sp>
        <p:nvSpPr>
          <p:cNvPr id="15" name="Rectangle 14">
            <a:extLst>
              <a:ext uri="{FF2B5EF4-FFF2-40B4-BE49-F238E27FC236}">
                <a16:creationId xmlns:a16="http://schemas.microsoft.com/office/drawing/2014/main" id="{FE1BFCE4-1327-4B86-88D5-B250F023CE6C}"/>
              </a:ext>
            </a:extLst>
          </p:cNvPr>
          <p:cNvSpPr>
            <a:spLocks noGrp="1"/>
          </p:cNvSpPr>
          <p:nvPr/>
        </p:nvSpPr>
        <p:spPr>
          <a:xfrm>
            <a:off x="5886450" y="5734050"/>
            <a:ext cx="5381625" cy="361950"/>
          </a:xfrm>
          <a:prstGeom prst="rect">
            <a:avLst/>
          </a:prstGeom>
          <a:noFill/>
          <a:ln w="0">
            <a:noFill/>
            <a:prstDash val="solid"/>
          </a:ln>
        </p:spPr>
        <p:txBody>
          <a:bodyPr wrap="square" lIns="0" tIns="0" rIns="0" bIns="0" anchor="t">
            <a:normAutofit/>
          </a:bodyPr>
          <a:lstStyle/>
          <a:p>
            <a:pPr algn="l">
              <a:defRPr sz="1500" b="0" i="0">
                <a:solidFill>
                  <a:srgbClr val="65766D"/>
                </a:solidFill>
                <a:latin typeface="Arial"/>
                <a:ea typeface="Arial"/>
                <a:cs typeface="Arial"/>
              </a:defRPr>
            </a:pPr>
            <a:r>
              <a:rPr sz="1500" b="0" i="0">
                <a:solidFill>
                  <a:srgbClr val="65766D"/>
                </a:solidFill>
                <a:latin typeface="Arial"/>
                <a:ea typeface="Arial"/>
                <a:cs typeface="Arial"/>
              </a:rPr>
              <a:t>The search returns destination row indices and their distances.</a:t>
            </a:r>
          </a:p>
        </p:txBody>
      </p:sp>
      <p:sp>
        <p:nvSpPr>
          <p:cNvPr id="16" name="Rectangle 15">
            <a:extLst>
              <a:ext uri="{FF2B5EF4-FFF2-40B4-BE49-F238E27FC236}">
                <a16:creationId xmlns:a16="http://schemas.microsoft.com/office/drawing/2014/main" id="{05235A61-399A-486C-AC4B-3847475F29AA}"/>
              </a:ext>
            </a:extLst>
          </p:cNvPr>
          <p:cNvSpPr>
            <a:spLocks noGrp="1"/>
          </p:cNvSpPr>
          <p:nvPr/>
        </p:nvSpPr>
        <p:spPr>
          <a:xfrm>
            <a:off x="790575" y="5267325"/>
            <a:ext cx="4438650" cy="428625"/>
          </a:xfrm>
          <a:prstGeom prst="rect">
            <a:avLst/>
          </a:prstGeom>
          <a:noFill/>
          <a:ln w="0">
            <a:noFill/>
            <a:prstDash val="solid"/>
          </a:ln>
        </p:spPr>
        <p:txBody>
          <a:bodyPr wrap="square" lIns="0" tIns="0" rIns="0" bIns="0" anchor="t">
            <a:normAutofit/>
          </a:bodyPr>
          <a:lstStyle/>
          <a:p>
            <a:pPr algn="l">
              <a:defRPr sz="2100" b="1" i="0">
                <a:solidFill>
                  <a:srgbClr val="18382E"/>
                </a:solidFill>
                <a:latin typeface="Arial"/>
                <a:ea typeface="Arial"/>
                <a:cs typeface="Arial"/>
              </a:defRPr>
            </a:pPr>
            <a:r>
              <a:rPr sz="2100" b="1" i="0">
                <a:solidFill>
                  <a:srgbClr val="18382E"/>
                </a:solidFill>
                <a:latin typeface="Arial"/>
                <a:ea typeface="Arial"/>
                <a:cs typeface="Arial"/>
              </a:rPr>
              <a:t>d = √( Σᵢ₌₁⁶ (zᵢ − z′ᵢ)² )</a:t>
            </a:r>
          </a:p>
        </p:txBody>
      </p:sp>
      <p:sp>
        <p:nvSpPr>
          <p:cNvPr id="17" name="Rectangle 16">
            <a:extLst>
              <a:ext uri="{FF2B5EF4-FFF2-40B4-BE49-F238E27FC236}">
                <a16:creationId xmlns:a16="http://schemas.microsoft.com/office/drawing/2014/main" id="{7782D4B6-8D95-4989-84DB-1D95F079F596}"/>
              </a:ext>
            </a:extLst>
          </p:cNvPr>
          <p:cNvSpPr>
            <a:spLocks noGrp="1"/>
          </p:cNvSpPr>
          <p:nvPr/>
        </p:nvSpPr>
        <p:spPr>
          <a:xfrm>
            <a:off x="800100" y="5724525"/>
            <a:ext cx="4438650" cy="295275"/>
          </a:xfrm>
          <a:prstGeom prst="rect">
            <a:avLst/>
          </a:prstGeom>
          <a:noFill/>
          <a:ln w="0">
            <a:noFill/>
            <a:prstDash val="solid"/>
          </a:ln>
        </p:spPr>
        <p:txBody>
          <a:bodyPr wrap="square" lIns="0" tIns="0" rIns="0" bIns="0" anchor="t">
            <a:normAutofit/>
          </a:bodyPr>
          <a:lstStyle/>
          <a:p>
            <a:pPr algn="l">
              <a:defRPr sz="1350" b="0" i="0">
                <a:solidFill>
                  <a:srgbClr val="65766D"/>
                </a:solidFill>
                <a:latin typeface="Arial"/>
                <a:ea typeface="Arial"/>
                <a:cs typeface="Arial"/>
              </a:defRPr>
            </a:pPr>
            <a:r>
              <a:rPr sz="1350" b="0" i="0">
                <a:solidFill>
                  <a:srgbClr val="65766D"/>
                </a:solidFill>
                <a:latin typeface="Arial"/>
                <a:ea typeface="Arial"/>
                <a:cs typeface="Arial"/>
              </a:rPr>
              <a:t>Euclidean distance across six scaled features</a:t>
            </a:r>
          </a:p>
        </p:txBody>
      </p:sp>
    </p:spTree>
    <p:extLst>
      <p:ext uri="{BB962C8B-B14F-4D97-AF65-F5344CB8AC3E}">
        <p14:creationId xmlns:p14="http://schemas.microsoft.com/office/powerpoint/2010/main" val="1288588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A10079B7-7E8F-44E0-8974-C1A6FB7CFA62}"/>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Recommendation pipeline</a:t>
            </a:r>
          </a:p>
        </p:txBody>
      </p:sp>
      <p:sp>
        <p:nvSpPr>
          <p:cNvPr id="2" name="Rectangle 1">
            <a:extLst>
              <a:ext uri="{FF2B5EF4-FFF2-40B4-BE49-F238E27FC236}">
                <a16:creationId xmlns:a16="http://schemas.microsoft.com/office/drawing/2014/main" id="{582DFF44-B5FC-4D64-93DC-2E360B52CDDD}"/>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Each stage uses the same feature order and the same fitted scaler.</a:t>
            </a:r>
          </a:p>
        </p:txBody>
      </p:sp>
      <p:sp>
        <p:nvSpPr>
          <p:cNvPr id="3" name="Rectangle 2">
            <a:extLst>
              <a:ext uri="{FF2B5EF4-FFF2-40B4-BE49-F238E27FC236}">
                <a16:creationId xmlns:a16="http://schemas.microsoft.com/office/drawing/2014/main" id="{9A56BD38-8720-43F8-B4F4-A92CCE1A94C9}"/>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92E3805A-077A-406A-A5BA-1C3528CDD4FF}"/>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08</a:t>
            </a:r>
          </a:p>
        </p:txBody>
      </p:sp>
      <p:sp>
        <p:nvSpPr>
          <p:cNvPr id="5" name="Arrow: Right 4">
            <a:extLst>
              <a:ext uri="{FF2B5EF4-FFF2-40B4-BE49-F238E27FC236}">
                <a16:creationId xmlns:a16="http://schemas.microsoft.com/office/drawing/2014/main" id="{6CC52DA5-B68C-4F99-AD82-43F3A1075557}"/>
              </a:ext>
            </a:extLst>
          </p:cNvPr>
          <p:cNvSpPr>
            <a:spLocks noGrp="1"/>
          </p:cNvSpPr>
          <p:nvPr/>
        </p:nvSpPr>
        <p:spPr>
          <a:xfrm>
            <a:off x="2638425" y="2857500"/>
            <a:ext cx="276225" cy="209550"/>
          </a:xfrm>
          <a:prstGeom prst="rightArrow">
            <a:avLst/>
          </a:prstGeom>
          <a:solidFill>
            <a:srgbClr val="E9784D"/>
          </a:solidFill>
          <a:ln w="9525">
            <a:solidFill>
              <a:srgbClr val="E9784D"/>
            </a:solidFill>
            <a:prstDash val="solid"/>
          </a:ln>
        </p:spPr>
        <p:txBody>
          <a:bodyPr/>
          <a:lstStyle/>
          <a:p>
            <a:endParaRPr lang="en-IN"/>
          </a:p>
        </p:txBody>
      </p:sp>
      <p:sp>
        <p:nvSpPr>
          <p:cNvPr id="6" name="Rectangle 5">
            <a:extLst>
              <a:ext uri="{FF2B5EF4-FFF2-40B4-BE49-F238E27FC236}">
                <a16:creationId xmlns:a16="http://schemas.microsoft.com/office/drawing/2014/main" id="{9FBB6FC3-9466-4707-BB9C-3D710AAECF74}"/>
              </a:ext>
            </a:extLst>
          </p:cNvPr>
          <p:cNvSpPr>
            <a:spLocks noGrp="1"/>
          </p:cNvSpPr>
          <p:nvPr/>
        </p:nvSpPr>
        <p:spPr>
          <a:xfrm>
            <a:off x="666750" y="2438400"/>
            <a:ext cx="1924050" cy="533400"/>
          </a:xfrm>
          <a:prstGeom prst="rect">
            <a:avLst/>
          </a:prstGeom>
          <a:noFill/>
          <a:ln w="0">
            <a:noFill/>
            <a:prstDash val="solid"/>
          </a:ln>
        </p:spPr>
        <p:txBody>
          <a:bodyPr wrap="square" lIns="0" tIns="0" rIns="0" bIns="0" anchor="t">
            <a:normAutofit/>
          </a:bodyPr>
          <a:lstStyle/>
          <a:p>
            <a:pPr algn="l">
              <a:defRPr sz="2925" b="1" i="0">
                <a:solidFill>
                  <a:srgbClr val="E9784D"/>
                </a:solidFill>
                <a:latin typeface="Arial"/>
                <a:ea typeface="Arial"/>
                <a:cs typeface="Arial"/>
              </a:defRPr>
            </a:pPr>
            <a:r>
              <a:rPr sz="2925" b="1" i="0">
                <a:solidFill>
                  <a:srgbClr val="E9784D"/>
                </a:solidFill>
                <a:latin typeface="Arial"/>
                <a:ea typeface="Arial"/>
                <a:cs typeface="Arial"/>
              </a:rPr>
              <a:t>01</a:t>
            </a:r>
          </a:p>
        </p:txBody>
      </p:sp>
      <p:sp>
        <p:nvSpPr>
          <p:cNvPr id="7" name="Rectangle 6">
            <a:extLst>
              <a:ext uri="{FF2B5EF4-FFF2-40B4-BE49-F238E27FC236}">
                <a16:creationId xmlns:a16="http://schemas.microsoft.com/office/drawing/2014/main" id="{E330FCB4-1840-409B-8869-CFD756A87571}"/>
              </a:ext>
            </a:extLst>
          </p:cNvPr>
          <p:cNvSpPr>
            <a:spLocks noGrp="1"/>
          </p:cNvSpPr>
          <p:nvPr/>
        </p:nvSpPr>
        <p:spPr>
          <a:xfrm>
            <a:off x="666750" y="3105150"/>
            <a:ext cx="1857375" cy="28575"/>
          </a:xfrm>
          <a:prstGeom prst="rect">
            <a:avLst/>
          </a:prstGeom>
          <a:solidFill>
            <a:srgbClr val="D8E1DA"/>
          </a:solidFill>
          <a:ln w="0">
            <a:noFill/>
            <a:prstDash val="solid"/>
          </a:ln>
        </p:spPr>
        <p:txBody>
          <a:bodyPr/>
          <a:lstStyle/>
          <a:p>
            <a:endParaRPr lang="en-IN"/>
          </a:p>
        </p:txBody>
      </p:sp>
      <p:sp>
        <p:nvSpPr>
          <p:cNvPr id="8" name="Rectangle 7">
            <a:extLst>
              <a:ext uri="{FF2B5EF4-FFF2-40B4-BE49-F238E27FC236}">
                <a16:creationId xmlns:a16="http://schemas.microsoft.com/office/drawing/2014/main" id="{4E2DBD7F-329A-43FC-A341-A82F58DB496D}"/>
              </a:ext>
            </a:extLst>
          </p:cNvPr>
          <p:cNvSpPr>
            <a:spLocks noGrp="1"/>
          </p:cNvSpPr>
          <p:nvPr/>
        </p:nvSpPr>
        <p:spPr>
          <a:xfrm>
            <a:off x="666750" y="3343275"/>
            <a:ext cx="1924050" cy="457200"/>
          </a:xfrm>
          <a:prstGeom prst="rect">
            <a:avLst/>
          </a:prstGeom>
          <a:noFill/>
          <a:ln w="0">
            <a:noFill/>
            <a:prstDash val="solid"/>
          </a:ln>
        </p:spPr>
        <p:txBody>
          <a:bodyPr wrap="square" lIns="0" tIns="0" rIns="0" bIns="0" anchor="t">
            <a:normAutofit/>
          </a:bodyPr>
          <a:lstStyle/>
          <a:p>
            <a:pPr algn="l">
              <a:defRPr sz="2025" b="1" i="0">
                <a:solidFill>
                  <a:srgbClr val="18382E"/>
                </a:solidFill>
                <a:latin typeface="Arial"/>
                <a:ea typeface="Arial"/>
                <a:cs typeface="Arial"/>
              </a:defRPr>
            </a:pPr>
            <a:r>
              <a:rPr sz="2025" b="1" i="0">
                <a:solidFill>
                  <a:srgbClr val="18382E"/>
                </a:solidFill>
                <a:latin typeface="Arial"/>
                <a:ea typeface="Arial"/>
                <a:cs typeface="Arial"/>
              </a:rPr>
              <a:t>Read</a:t>
            </a:r>
          </a:p>
        </p:txBody>
      </p:sp>
      <p:sp>
        <p:nvSpPr>
          <p:cNvPr id="9" name="Rectangle 8">
            <a:extLst>
              <a:ext uri="{FF2B5EF4-FFF2-40B4-BE49-F238E27FC236}">
                <a16:creationId xmlns:a16="http://schemas.microsoft.com/office/drawing/2014/main" id="{8C741501-992D-4CAA-8FF6-5649552C2234}"/>
              </a:ext>
            </a:extLst>
          </p:cNvPr>
          <p:cNvSpPr>
            <a:spLocks noGrp="1"/>
          </p:cNvSpPr>
          <p:nvPr/>
        </p:nvSpPr>
        <p:spPr>
          <a:xfrm>
            <a:off x="666750" y="3886200"/>
            <a:ext cx="1885950" cy="1200150"/>
          </a:xfrm>
          <a:prstGeom prst="rect">
            <a:avLst/>
          </a:prstGeom>
          <a:noFill/>
          <a:ln w="0">
            <a:noFill/>
            <a:prstDash val="solid"/>
          </a:ln>
        </p:spPr>
        <p:txBody>
          <a:bodyPr wrap="square" lIns="0" tIns="0" rIns="0" bIns="0" anchor="t">
            <a:normAutofit/>
          </a:bodyPr>
          <a:lstStyle/>
          <a:p>
            <a:pPr algn="l">
              <a:defRPr sz="1575" b="0" i="0">
                <a:solidFill>
                  <a:srgbClr val="65766D"/>
                </a:solidFill>
                <a:latin typeface="Arial"/>
                <a:ea typeface="Arial"/>
                <a:cs typeface="Arial"/>
              </a:defRPr>
            </a:pPr>
            <a:r>
              <a:rPr sz="1575" b="0" i="0">
                <a:solidFill>
                  <a:srgbClr val="65766D"/>
                </a:solidFill>
                <a:latin typeface="Arial"/>
                <a:ea typeface="Arial"/>
                <a:cs typeface="Arial"/>
              </a:rPr>
              <a:t>Load the CSV and the traveler's submitted profile.</a:t>
            </a:r>
          </a:p>
        </p:txBody>
      </p:sp>
      <p:sp>
        <p:nvSpPr>
          <p:cNvPr id="10" name="Arrow: Right 9">
            <a:extLst>
              <a:ext uri="{FF2B5EF4-FFF2-40B4-BE49-F238E27FC236}">
                <a16:creationId xmlns:a16="http://schemas.microsoft.com/office/drawing/2014/main" id="{9C1EB20A-3014-46B9-8343-6F657448F4D8}"/>
              </a:ext>
            </a:extLst>
          </p:cNvPr>
          <p:cNvSpPr>
            <a:spLocks noGrp="1"/>
          </p:cNvSpPr>
          <p:nvPr/>
        </p:nvSpPr>
        <p:spPr>
          <a:xfrm>
            <a:off x="4933950" y="2857500"/>
            <a:ext cx="276225" cy="209550"/>
          </a:xfrm>
          <a:prstGeom prst="rightArrow">
            <a:avLst/>
          </a:prstGeom>
          <a:solidFill>
            <a:srgbClr val="E9784D"/>
          </a:solidFill>
          <a:ln w="9525">
            <a:solidFill>
              <a:srgbClr val="E9784D"/>
            </a:solidFill>
            <a:prstDash val="solid"/>
          </a:ln>
        </p:spPr>
        <p:txBody>
          <a:bodyPr/>
          <a:lstStyle/>
          <a:p>
            <a:endParaRPr lang="en-IN"/>
          </a:p>
        </p:txBody>
      </p:sp>
      <p:sp>
        <p:nvSpPr>
          <p:cNvPr id="11" name="Rectangle 10">
            <a:extLst>
              <a:ext uri="{FF2B5EF4-FFF2-40B4-BE49-F238E27FC236}">
                <a16:creationId xmlns:a16="http://schemas.microsoft.com/office/drawing/2014/main" id="{B533D706-855A-41E7-B16D-8BA484A9CEC1}"/>
              </a:ext>
            </a:extLst>
          </p:cNvPr>
          <p:cNvSpPr>
            <a:spLocks noGrp="1"/>
          </p:cNvSpPr>
          <p:nvPr/>
        </p:nvSpPr>
        <p:spPr>
          <a:xfrm>
            <a:off x="2962275" y="2438400"/>
            <a:ext cx="1924050" cy="533400"/>
          </a:xfrm>
          <a:prstGeom prst="rect">
            <a:avLst/>
          </a:prstGeom>
          <a:noFill/>
          <a:ln w="0">
            <a:noFill/>
            <a:prstDash val="solid"/>
          </a:ln>
        </p:spPr>
        <p:txBody>
          <a:bodyPr wrap="square" lIns="0" tIns="0" rIns="0" bIns="0" anchor="t">
            <a:normAutofit/>
          </a:bodyPr>
          <a:lstStyle/>
          <a:p>
            <a:pPr algn="l">
              <a:defRPr sz="2925" b="1" i="0">
                <a:solidFill>
                  <a:srgbClr val="E9784D"/>
                </a:solidFill>
                <a:latin typeface="Arial"/>
                <a:ea typeface="Arial"/>
                <a:cs typeface="Arial"/>
              </a:defRPr>
            </a:pPr>
            <a:r>
              <a:rPr sz="2925" b="1" i="0">
                <a:solidFill>
                  <a:srgbClr val="E9784D"/>
                </a:solidFill>
                <a:latin typeface="Arial"/>
                <a:ea typeface="Arial"/>
                <a:cs typeface="Arial"/>
              </a:rPr>
              <a:t>02</a:t>
            </a:r>
          </a:p>
        </p:txBody>
      </p:sp>
      <p:sp>
        <p:nvSpPr>
          <p:cNvPr id="12" name="Rectangle 11">
            <a:extLst>
              <a:ext uri="{FF2B5EF4-FFF2-40B4-BE49-F238E27FC236}">
                <a16:creationId xmlns:a16="http://schemas.microsoft.com/office/drawing/2014/main" id="{42C1E865-77A5-4A04-87C2-F76A958C3ABA}"/>
              </a:ext>
            </a:extLst>
          </p:cNvPr>
          <p:cNvSpPr>
            <a:spLocks noGrp="1"/>
          </p:cNvSpPr>
          <p:nvPr/>
        </p:nvSpPr>
        <p:spPr>
          <a:xfrm>
            <a:off x="2962275" y="3105150"/>
            <a:ext cx="1857375" cy="28575"/>
          </a:xfrm>
          <a:prstGeom prst="rect">
            <a:avLst/>
          </a:prstGeom>
          <a:solidFill>
            <a:srgbClr val="D8E1DA"/>
          </a:solidFill>
          <a:ln w="0">
            <a:noFill/>
            <a:prstDash val="solid"/>
          </a:ln>
        </p:spPr>
        <p:txBody>
          <a:bodyPr/>
          <a:lstStyle/>
          <a:p>
            <a:endParaRPr lang="en-IN"/>
          </a:p>
        </p:txBody>
      </p:sp>
      <p:sp>
        <p:nvSpPr>
          <p:cNvPr id="13" name="Rectangle 12">
            <a:extLst>
              <a:ext uri="{FF2B5EF4-FFF2-40B4-BE49-F238E27FC236}">
                <a16:creationId xmlns:a16="http://schemas.microsoft.com/office/drawing/2014/main" id="{36CAA847-DCE4-4D66-B20A-8C5C6A0D194A}"/>
              </a:ext>
            </a:extLst>
          </p:cNvPr>
          <p:cNvSpPr>
            <a:spLocks noGrp="1"/>
          </p:cNvSpPr>
          <p:nvPr/>
        </p:nvSpPr>
        <p:spPr>
          <a:xfrm>
            <a:off x="2962275" y="3343275"/>
            <a:ext cx="1924050" cy="457200"/>
          </a:xfrm>
          <a:prstGeom prst="rect">
            <a:avLst/>
          </a:prstGeom>
          <a:noFill/>
          <a:ln w="0">
            <a:noFill/>
            <a:prstDash val="solid"/>
          </a:ln>
        </p:spPr>
        <p:txBody>
          <a:bodyPr wrap="square" lIns="0" tIns="0" rIns="0" bIns="0" anchor="t">
            <a:normAutofit/>
          </a:bodyPr>
          <a:lstStyle/>
          <a:p>
            <a:pPr algn="l">
              <a:defRPr sz="2025" b="1" i="0">
                <a:solidFill>
                  <a:srgbClr val="18382E"/>
                </a:solidFill>
                <a:latin typeface="Arial"/>
                <a:ea typeface="Arial"/>
                <a:cs typeface="Arial"/>
              </a:defRPr>
            </a:pPr>
            <a:r>
              <a:rPr sz="2025" b="1" i="0">
                <a:solidFill>
                  <a:srgbClr val="18382E"/>
                </a:solidFill>
                <a:latin typeface="Arial"/>
                <a:ea typeface="Arial"/>
                <a:cs typeface="Arial"/>
              </a:rPr>
              <a:t>Prepare</a:t>
            </a:r>
          </a:p>
        </p:txBody>
      </p:sp>
      <p:sp>
        <p:nvSpPr>
          <p:cNvPr id="14" name="Rectangle 13">
            <a:extLst>
              <a:ext uri="{FF2B5EF4-FFF2-40B4-BE49-F238E27FC236}">
                <a16:creationId xmlns:a16="http://schemas.microsoft.com/office/drawing/2014/main" id="{F69650BE-4F21-458C-B11D-3B3EDBD6BE09}"/>
              </a:ext>
            </a:extLst>
          </p:cNvPr>
          <p:cNvSpPr>
            <a:spLocks noGrp="1"/>
          </p:cNvSpPr>
          <p:nvPr/>
        </p:nvSpPr>
        <p:spPr>
          <a:xfrm>
            <a:off x="2962275" y="3886200"/>
            <a:ext cx="1885950" cy="1200150"/>
          </a:xfrm>
          <a:prstGeom prst="rect">
            <a:avLst/>
          </a:prstGeom>
          <a:noFill/>
          <a:ln w="0">
            <a:noFill/>
            <a:prstDash val="solid"/>
          </a:ln>
        </p:spPr>
        <p:txBody>
          <a:bodyPr wrap="square" lIns="0" tIns="0" rIns="0" bIns="0" anchor="t">
            <a:normAutofit/>
          </a:bodyPr>
          <a:lstStyle/>
          <a:p>
            <a:pPr algn="l">
              <a:defRPr sz="1575" b="0" i="0">
                <a:solidFill>
                  <a:srgbClr val="65766D"/>
                </a:solidFill>
                <a:latin typeface="Arial"/>
                <a:ea typeface="Arial"/>
                <a:cs typeface="Arial"/>
              </a:defRPr>
            </a:pPr>
            <a:r>
              <a:rPr sz="1575" b="0" i="0">
                <a:solidFill>
                  <a:srgbClr val="65766D"/>
                </a:solidFill>
                <a:latin typeface="Arial"/>
                <a:ea typeface="Arial"/>
                <a:cs typeface="Arial"/>
              </a:rPr>
              <a:t>Select six numeric columns and standardize all destination rows.</a:t>
            </a:r>
          </a:p>
        </p:txBody>
      </p:sp>
      <p:sp>
        <p:nvSpPr>
          <p:cNvPr id="15" name="Arrow: Right 14">
            <a:extLst>
              <a:ext uri="{FF2B5EF4-FFF2-40B4-BE49-F238E27FC236}">
                <a16:creationId xmlns:a16="http://schemas.microsoft.com/office/drawing/2014/main" id="{36750857-44A6-4323-BFAD-7B2B61256CB6}"/>
              </a:ext>
            </a:extLst>
          </p:cNvPr>
          <p:cNvSpPr>
            <a:spLocks noGrp="1"/>
          </p:cNvSpPr>
          <p:nvPr/>
        </p:nvSpPr>
        <p:spPr>
          <a:xfrm>
            <a:off x="7229475" y="2857500"/>
            <a:ext cx="276225" cy="209550"/>
          </a:xfrm>
          <a:prstGeom prst="rightArrow">
            <a:avLst/>
          </a:prstGeom>
          <a:solidFill>
            <a:srgbClr val="E9784D"/>
          </a:solidFill>
          <a:ln w="9525">
            <a:solidFill>
              <a:srgbClr val="E9784D"/>
            </a:solidFill>
            <a:prstDash val="solid"/>
          </a:ln>
        </p:spPr>
        <p:txBody>
          <a:bodyPr/>
          <a:lstStyle/>
          <a:p>
            <a:endParaRPr lang="en-IN"/>
          </a:p>
        </p:txBody>
      </p:sp>
      <p:sp>
        <p:nvSpPr>
          <p:cNvPr id="16" name="Rectangle 15">
            <a:extLst>
              <a:ext uri="{FF2B5EF4-FFF2-40B4-BE49-F238E27FC236}">
                <a16:creationId xmlns:a16="http://schemas.microsoft.com/office/drawing/2014/main" id="{81FCD552-AD8E-4D29-863F-518153D46C12}"/>
              </a:ext>
            </a:extLst>
          </p:cNvPr>
          <p:cNvSpPr>
            <a:spLocks noGrp="1"/>
          </p:cNvSpPr>
          <p:nvPr/>
        </p:nvSpPr>
        <p:spPr>
          <a:xfrm>
            <a:off x="5257800" y="2438400"/>
            <a:ext cx="1924050" cy="533400"/>
          </a:xfrm>
          <a:prstGeom prst="rect">
            <a:avLst/>
          </a:prstGeom>
          <a:noFill/>
          <a:ln w="0">
            <a:noFill/>
            <a:prstDash val="solid"/>
          </a:ln>
        </p:spPr>
        <p:txBody>
          <a:bodyPr wrap="square" lIns="0" tIns="0" rIns="0" bIns="0" anchor="t">
            <a:normAutofit/>
          </a:bodyPr>
          <a:lstStyle/>
          <a:p>
            <a:pPr algn="l">
              <a:defRPr sz="2925" b="1" i="0">
                <a:solidFill>
                  <a:srgbClr val="E9784D"/>
                </a:solidFill>
                <a:latin typeface="Arial"/>
                <a:ea typeface="Arial"/>
                <a:cs typeface="Arial"/>
              </a:defRPr>
            </a:pPr>
            <a:r>
              <a:rPr sz="2925" b="1" i="0">
                <a:solidFill>
                  <a:srgbClr val="E9784D"/>
                </a:solidFill>
                <a:latin typeface="Arial"/>
                <a:ea typeface="Arial"/>
                <a:cs typeface="Arial"/>
              </a:rPr>
              <a:t>03</a:t>
            </a:r>
          </a:p>
        </p:txBody>
      </p:sp>
      <p:sp>
        <p:nvSpPr>
          <p:cNvPr id="17" name="Rectangle 16">
            <a:extLst>
              <a:ext uri="{FF2B5EF4-FFF2-40B4-BE49-F238E27FC236}">
                <a16:creationId xmlns:a16="http://schemas.microsoft.com/office/drawing/2014/main" id="{C568326F-2035-4C4C-8005-5A0845FF782D}"/>
              </a:ext>
            </a:extLst>
          </p:cNvPr>
          <p:cNvSpPr>
            <a:spLocks noGrp="1"/>
          </p:cNvSpPr>
          <p:nvPr/>
        </p:nvSpPr>
        <p:spPr>
          <a:xfrm>
            <a:off x="5257800" y="3105150"/>
            <a:ext cx="1857375" cy="28575"/>
          </a:xfrm>
          <a:prstGeom prst="rect">
            <a:avLst/>
          </a:prstGeom>
          <a:solidFill>
            <a:srgbClr val="E9784D"/>
          </a:solidFill>
          <a:ln w="0">
            <a:noFill/>
            <a:prstDash val="solid"/>
          </a:ln>
        </p:spPr>
        <p:txBody>
          <a:bodyPr/>
          <a:lstStyle/>
          <a:p>
            <a:endParaRPr lang="en-IN"/>
          </a:p>
        </p:txBody>
      </p:sp>
      <p:sp>
        <p:nvSpPr>
          <p:cNvPr id="18" name="Rectangle 17">
            <a:extLst>
              <a:ext uri="{FF2B5EF4-FFF2-40B4-BE49-F238E27FC236}">
                <a16:creationId xmlns:a16="http://schemas.microsoft.com/office/drawing/2014/main" id="{AB0B8BB9-7039-490D-A549-E7DF3AEF4752}"/>
              </a:ext>
            </a:extLst>
          </p:cNvPr>
          <p:cNvSpPr>
            <a:spLocks noGrp="1"/>
          </p:cNvSpPr>
          <p:nvPr/>
        </p:nvSpPr>
        <p:spPr>
          <a:xfrm>
            <a:off x="5257800" y="3343275"/>
            <a:ext cx="1924050" cy="457200"/>
          </a:xfrm>
          <a:prstGeom prst="rect">
            <a:avLst/>
          </a:prstGeom>
          <a:noFill/>
          <a:ln w="0">
            <a:noFill/>
            <a:prstDash val="solid"/>
          </a:ln>
        </p:spPr>
        <p:txBody>
          <a:bodyPr wrap="square" lIns="0" tIns="0" rIns="0" bIns="0" anchor="t">
            <a:normAutofit/>
          </a:bodyPr>
          <a:lstStyle/>
          <a:p>
            <a:pPr algn="l">
              <a:defRPr sz="2025" b="1" i="0">
                <a:solidFill>
                  <a:srgbClr val="18382E"/>
                </a:solidFill>
                <a:latin typeface="Arial"/>
                <a:ea typeface="Arial"/>
                <a:cs typeface="Arial"/>
              </a:defRPr>
            </a:pPr>
            <a:r>
              <a:rPr sz="2025" b="1" i="0">
                <a:solidFill>
                  <a:srgbClr val="18382E"/>
                </a:solidFill>
                <a:latin typeface="Arial"/>
                <a:ea typeface="Arial"/>
                <a:cs typeface="Arial"/>
              </a:rPr>
              <a:t>Filter</a:t>
            </a:r>
          </a:p>
        </p:txBody>
      </p:sp>
      <p:sp>
        <p:nvSpPr>
          <p:cNvPr id="19" name="Rectangle 18">
            <a:extLst>
              <a:ext uri="{FF2B5EF4-FFF2-40B4-BE49-F238E27FC236}">
                <a16:creationId xmlns:a16="http://schemas.microsoft.com/office/drawing/2014/main" id="{F01FA6FC-BE6E-457B-A401-3651598B4F4C}"/>
              </a:ext>
            </a:extLst>
          </p:cNvPr>
          <p:cNvSpPr>
            <a:spLocks noGrp="1"/>
          </p:cNvSpPr>
          <p:nvPr/>
        </p:nvSpPr>
        <p:spPr>
          <a:xfrm>
            <a:off x="5257800" y="3886200"/>
            <a:ext cx="1885950" cy="1200150"/>
          </a:xfrm>
          <a:prstGeom prst="rect">
            <a:avLst/>
          </a:prstGeom>
          <a:noFill/>
          <a:ln w="0">
            <a:noFill/>
            <a:prstDash val="solid"/>
          </a:ln>
        </p:spPr>
        <p:txBody>
          <a:bodyPr wrap="square" lIns="0" tIns="0" rIns="0" bIns="0" anchor="t">
            <a:normAutofit/>
          </a:bodyPr>
          <a:lstStyle/>
          <a:p>
            <a:pPr algn="l">
              <a:defRPr sz="1575" b="0" i="0">
                <a:solidFill>
                  <a:srgbClr val="65766D"/>
                </a:solidFill>
                <a:latin typeface="Arial"/>
                <a:ea typeface="Arial"/>
                <a:cs typeface="Arial"/>
              </a:defRPr>
            </a:pPr>
            <a:r>
              <a:rPr sz="1575" b="0" i="0">
                <a:solidFill>
                  <a:srgbClr val="65766D"/>
                </a:solidFill>
                <a:latin typeface="Arial"/>
                <a:ea typeface="Arial"/>
                <a:cs typeface="Arial"/>
              </a:rPr>
              <a:t>Optionally restrict eligible rows to one region.</a:t>
            </a:r>
          </a:p>
        </p:txBody>
      </p:sp>
      <p:sp>
        <p:nvSpPr>
          <p:cNvPr id="20" name="Arrow: Right 19">
            <a:extLst>
              <a:ext uri="{FF2B5EF4-FFF2-40B4-BE49-F238E27FC236}">
                <a16:creationId xmlns:a16="http://schemas.microsoft.com/office/drawing/2014/main" id="{23C771B6-6F8B-4AAE-82FC-4FD1F0FF4B7C}"/>
              </a:ext>
            </a:extLst>
          </p:cNvPr>
          <p:cNvSpPr>
            <a:spLocks noGrp="1"/>
          </p:cNvSpPr>
          <p:nvPr/>
        </p:nvSpPr>
        <p:spPr>
          <a:xfrm>
            <a:off x="9525000" y="2857500"/>
            <a:ext cx="276225" cy="209550"/>
          </a:xfrm>
          <a:prstGeom prst="rightArrow">
            <a:avLst/>
          </a:prstGeom>
          <a:solidFill>
            <a:srgbClr val="E9784D"/>
          </a:solidFill>
          <a:ln w="9525">
            <a:solidFill>
              <a:srgbClr val="E9784D"/>
            </a:solidFill>
            <a:prstDash val="solid"/>
          </a:ln>
        </p:spPr>
        <p:txBody>
          <a:bodyPr/>
          <a:lstStyle/>
          <a:p>
            <a:endParaRPr lang="en-IN"/>
          </a:p>
        </p:txBody>
      </p:sp>
      <p:sp>
        <p:nvSpPr>
          <p:cNvPr id="21" name="Rectangle 20">
            <a:extLst>
              <a:ext uri="{FF2B5EF4-FFF2-40B4-BE49-F238E27FC236}">
                <a16:creationId xmlns:a16="http://schemas.microsoft.com/office/drawing/2014/main" id="{B6F0FCF2-E450-4E7C-9C4C-830462EC7D11}"/>
              </a:ext>
            </a:extLst>
          </p:cNvPr>
          <p:cNvSpPr>
            <a:spLocks noGrp="1"/>
          </p:cNvSpPr>
          <p:nvPr/>
        </p:nvSpPr>
        <p:spPr>
          <a:xfrm>
            <a:off x="7553325" y="2438400"/>
            <a:ext cx="1924050" cy="533400"/>
          </a:xfrm>
          <a:prstGeom prst="rect">
            <a:avLst/>
          </a:prstGeom>
          <a:noFill/>
          <a:ln w="0">
            <a:noFill/>
            <a:prstDash val="solid"/>
          </a:ln>
        </p:spPr>
        <p:txBody>
          <a:bodyPr wrap="square" lIns="0" tIns="0" rIns="0" bIns="0" anchor="t">
            <a:normAutofit/>
          </a:bodyPr>
          <a:lstStyle/>
          <a:p>
            <a:pPr algn="l">
              <a:defRPr sz="2925" b="1" i="0">
                <a:solidFill>
                  <a:srgbClr val="E9784D"/>
                </a:solidFill>
                <a:latin typeface="Arial"/>
                <a:ea typeface="Arial"/>
                <a:cs typeface="Arial"/>
              </a:defRPr>
            </a:pPr>
            <a:r>
              <a:rPr sz="2925" b="1" i="0">
                <a:solidFill>
                  <a:srgbClr val="E9784D"/>
                </a:solidFill>
                <a:latin typeface="Arial"/>
                <a:ea typeface="Arial"/>
                <a:cs typeface="Arial"/>
              </a:rPr>
              <a:t>04</a:t>
            </a:r>
          </a:p>
        </p:txBody>
      </p:sp>
      <p:sp>
        <p:nvSpPr>
          <p:cNvPr id="22" name="Rectangle 21">
            <a:extLst>
              <a:ext uri="{FF2B5EF4-FFF2-40B4-BE49-F238E27FC236}">
                <a16:creationId xmlns:a16="http://schemas.microsoft.com/office/drawing/2014/main" id="{2EA184C1-029E-4F4B-BFDC-6219503CBC55}"/>
              </a:ext>
            </a:extLst>
          </p:cNvPr>
          <p:cNvSpPr>
            <a:spLocks noGrp="1"/>
          </p:cNvSpPr>
          <p:nvPr/>
        </p:nvSpPr>
        <p:spPr>
          <a:xfrm>
            <a:off x="7553325" y="3105150"/>
            <a:ext cx="1857375" cy="28575"/>
          </a:xfrm>
          <a:prstGeom prst="rect">
            <a:avLst/>
          </a:prstGeom>
          <a:solidFill>
            <a:srgbClr val="D8E1DA"/>
          </a:solidFill>
          <a:ln w="0">
            <a:noFill/>
            <a:prstDash val="solid"/>
          </a:ln>
        </p:spPr>
        <p:txBody>
          <a:bodyPr/>
          <a:lstStyle/>
          <a:p>
            <a:endParaRPr lang="en-IN"/>
          </a:p>
        </p:txBody>
      </p:sp>
      <p:sp>
        <p:nvSpPr>
          <p:cNvPr id="23" name="Rectangle 22">
            <a:extLst>
              <a:ext uri="{FF2B5EF4-FFF2-40B4-BE49-F238E27FC236}">
                <a16:creationId xmlns:a16="http://schemas.microsoft.com/office/drawing/2014/main" id="{E4432701-4AEA-49C2-9549-2914F8F8F15D}"/>
              </a:ext>
            </a:extLst>
          </p:cNvPr>
          <p:cNvSpPr>
            <a:spLocks noGrp="1"/>
          </p:cNvSpPr>
          <p:nvPr/>
        </p:nvSpPr>
        <p:spPr>
          <a:xfrm>
            <a:off x="7553325" y="3343275"/>
            <a:ext cx="1924050" cy="457200"/>
          </a:xfrm>
          <a:prstGeom prst="rect">
            <a:avLst/>
          </a:prstGeom>
          <a:noFill/>
          <a:ln w="0">
            <a:noFill/>
            <a:prstDash val="solid"/>
          </a:ln>
        </p:spPr>
        <p:txBody>
          <a:bodyPr wrap="square" lIns="0" tIns="0" rIns="0" bIns="0" anchor="t">
            <a:normAutofit/>
          </a:bodyPr>
          <a:lstStyle/>
          <a:p>
            <a:pPr algn="l">
              <a:defRPr sz="2025" b="1" i="0">
                <a:solidFill>
                  <a:srgbClr val="18382E"/>
                </a:solidFill>
                <a:latin typeface="Arial"/>
                <a:ea typeface="Arial"/>
                <a:cs typeface="Arial"/>
              </a:defRPr>
            </a:pPr>
            <a:r>
              <a:rPr sz="2025" b="1" i="0">
                <a:solidFill>
                  <a:srgbClr val="18382E"/>
                </a:solidFill>
                <a:latin typeface="Arial"/>
                <a:ea typeface="Arial"/>
                <a:cs typeface="Arial"/>
              </a:rPr>
              <a:t>Rank</a:t>
            </a:r>
          </a:p>
        </p:txBody>
      </p:sp>
      <p:sp>
        <p:nvSpPr>
          <p:cNvPr id="24" name="Rectangle 23">
            <a:extLst>
              <a:ext uri="{FF2B5EF4-FFF2-40B4-BE49-F238E27FC236}">
                <a16:creationId xmlns:a16="http://schemas.microsoft.com/office/drawing/2014/main" id="{971BCB18-662B-41AC-900B-A904010E672D}"/>
              </a:ext>
            </a:extLst>
          </p:cNvPr>
          <p:cNvSpPr>
            <a:spLocks noGrp="1"/>
          </p:cNvSpPr>
          <p:nvPr/>
        </p:nvSpPr>
        <p:spPr>
          <a:xfrm>
            <a:off x="7553325" y="3886200"/>
            <a:ext cx="1885950" cy="1200150"/>
          </a:xfrm>
          <a:prstGeom prst="rect">
            <a:avLst/>
          </a:prstGeom>
          <a:noFill/>
          <a:ln w="0">
            <a:noFill/>
            <a:prstDash val="solid"/>
          </a:ln>
        </p:spPr>
        <p:txBody>
          <a:bodyPr wrap="square" lIns="0" tIns="0" rIns="0" bIns="0" anchor="t">
            <a:normAutofit/>
          </a:bodyPr>
          <a:lstStyle/>
          <a:p>
            <a:pPr algn="l">
              <a:defRPr sz="1575" b="0" i="0">
                <a:solidFill>
                  <a:srgbClr val="65766D"/>
                </a:solidFill>
                <a:latin typeface="Arial"/>
                <a:ea typeface="Arial"/>
                <a:cs typeface="Arial"/>
              </a:defRPr>
            </a:pPr>
            <a:r>
              <a:rPr sz="1575" b="0" i="0">
                <a:solidFill>
                  <a:srgbClr val="65766D"/>
                </a:solidFill>
                <a:latin typeface="Arial"/>
                <a:ea typeface="Arial"/>
                <a:cs typeface="Arial"/>
              </a:rPr>
              <a:t>Transform the profile and query Euclidean neighbors.</a:t>
            </a:r>
          </a:p>
        </p:txBody>
      </p:sp>
      <p:sp>
        <p:nvSpPr>
          <p:cNvPr id="25" name="Rectangle 24">
            <a:extLst>
              <a:ext uri="{FF2B5EF4-FFF2-40B4-BE49-F238E27FC236}">
                <a16:creationId xmlns:a16="http://schemas.microsoft.com/office/drawing/2014/main" id="{F8CF85B2-2BC7-4D1B-9738-17D822C1C418}"/>
              </a:ext>
            </a:extLst>
          </p:cNvPr>
          <p:cNvSpPr>
            <a:spLocks noGrp="1"/>
          </p:cNvSpPr>
          <p:nvPr/>
        </p:nvSpPr>
        <p:spPr>
          <a:xfrm>
            <a:off x="9848850" y="2438400"/>
            <a:ext cx="1924050" cy="533400"/>
          </a:xfrm>
          <a:prstGeom prst="rect">
            <a:avLst/>
          </a:prstGeom>
          <a:noFill/>
          <a:ln w="0">
            <a:noFill/>
            <a:prstDash val="solid"/>
          </a:ln>
        </p:spPr>
        <p:txBody>
          <a:bodyPr wrap="square" lIns="0" tIns="0" rIns="0" bIns="0" anchor="t">
            <a:normAutofit/>
          </a:bodyPr>
          <a:lstStyle/>
          <a:p>
            <a:pPr algn="l">
              <a:defRPr sz="2925" b="1" i="0">
                <a:solidFill>
                  <a:srgbClr val="E9784D"/>
                </a:solidFill>
                <a:latin typeface="Arial"/>
                <a:ea typeface="Arial"/>
                <a:cs typeface="Arial"/>
              </a:defRPr>
            </a:pPr>
            <a:r>
              <a:rPr sz="2925" b="1" i="0">
                <a:solidFill>
                  <a:srgbClr val="E9784D"/>
                </a:solidFill>
                <a:latin typeface="Arial"/>
                <a:ea typeface="Arial"/>
                <a:cs typeface="Arial"/>
              </a:rPr>
              <a:t>05</a:t>
            </a:r>
          </a:p>
        </p:txBody>
      </p:sp>
      <p:sp>
        <p:nvSpPr>
          <p:cNvPr id="26" name="Rectangle 25">
            <a:extLst>
              <a:ext uri="{FF2B5EF4-FFF2-40B4-BE49-F238E27FC236}">
                <a16:creationId xmlns:a16="http://schemas.microsoft.com/office/drawing/2014/main" id="{5E55F437-D762-403D-84DD-95D2BB872AD4}"/>
              </a:ext>
            </a:extLst>
          </p:cNvPr>
          <p:cNvSpPr>
            <a:spLocks noGrp="1"/>
          </p:cNvSpPr>
          <p:nvPr/>
        </p:nvSpPr>
        <p:spPr>
          <a:xfrm>
            <a:off x="9848850" y="3105150"/>
            <a:ext cx="1857375" cy="28575"/>
          </a:xfrm>
          <a:prstGeom prst="rect">
            <a:avLst/>
          </a:prstGeom>
          <a:solidFill>
            <a:srgbClr val="D8E1DA"/>
          </a:solidFill>
          <a:ln w="0">
            <a:noFill/>
            <a:prstDash val="solid"/>
          </a:ln>
        </p:spPr>
        <p:txBody>
          <a:bodyPr/>
          <a:lstStyle/>
          <a:p>
            <a:endParaRPr lang="en-IN"/>
          </a:p>
        </p:txBody>
      </p:sp>
      <p:sp>
        <p:nvSpPr>
          <p:cNvPr id="27" name="Rectangle 26">
            <a:extLst>
              <a:ext uri="{FF2B5EF4-FFF2-40B4-BE49-F238E27FC236}">
                <a16:creationId xmlns:a16="http://schemas.microsoft.com/office/drawing/2014/main" id="{C6614A03-7DFE-4B13-B065-2E569EEF64B0}"/>
              </a:ext>
            </a:extLst>
          </p:cNvPr>
          <p:cNvSpPr>
            <a:spLocks noGrp="1"/>
          </p:cNvSpPr>
          <p:nvPr/>
        </p:nvSpPr>
        <p:spPr>
          <a:xfrm>
            <a:off x="9848850" y="3343275"/>
            <a:ext cx="1924050" cy="457200"/>
          </a:xfrm>
          <a:prstGeom prst="rect">
            <a:avLst/>
          </a:prstGeom>
          <a:noFill/>
          <a:ln w="0">
            <a:noFill/>
            <a:prstDash val="solid"/>
          </a:ln>
        </p:spPr>
        <p:txBody>
          <a:bodyPr wrap="square" lIns="0" tIns="0" rIns="0" bIns="0" anchor="t">
            <a:normAutofit/>
          </a:bodyPr>
          <a:lstStyle/>
          <a:p>
            <a:pPr algn="l">
              <a:defRPr sz="2025" b="1" i="0">
                <a:solidFill>
                  <a:srgbClr val="18382E"/>
                </a:solidFill>
                <a:latin typeface="Arial"/>
                <a:ea typeface="Arial"/>
                <a:cs typeface="Arial"/>
              </a:defRPr>
            </a:pPr>
            <a:r>
              <a:rPr sz="2025" b="1" i="0">
                <a:solidFill>
                  <a:srgbClr val="18382E"/>
                </a:solidFill>
                <a:latin typeface="Arial"/>
                <a:ea typeface="Arial"/>
                <a:cs typeface="Arial"/>
              </a:rPr>
              <a:t>Present</a:t>
            </a:r>
          </a:p>
        </p:txBody>
      </p:sp>
      <p:sp>
        <p:nvSpPr>
          <p:cNvPr id="28" name="Rectangle 27">
            <a:extLst>
              <a:ext uri="{FF2B5EF4-FFF2-40B4-BE49-F238E27FC236}">
                <a16:creationId xmlns:a16="http://schemas.microsoft.com/office/drawing/2014/main" id="{1B5DDDF9-4D18-45C2-B6FC-E1DBC7F3E832}"/>
              </a:ext>
            </a:extLst>
          </p:cNvPr>
          <p:cNvSpPr>
            <a:spLocks noGrp="1"/>
          </p:cNvSpPr>
          <p:nvPr/>
        </p:nvSpPr>
        <p:spPr>
          <a:xfrm>
            <a:off x="9848850" y="3886200"/>
            <a:ext cx="1885950" cy="1200150"/>
          </a:xfrm>
          <a:prstGeom prst="rect">
            <a:avLst/>
          </a:prstGeom>
          <a:noFill/>
          <a:ln w="0">
            <a:noFill/>
            <a:prstDash val="solid"/>
          </a:ln>
        </p:spPr>
        <p:txBody>
          <a:bodyPr wrap="square" lIns="0" tIns="0" rIns="0" bIns="0" anchor="t">
            <a:normAutofit/>
          </a:bodyPr>
          <a:lstStyle/>
          <a:p>
            <a:pPr algn="l">
              <a:defRPr sz="1575" b="0" i="0">
                <a:solidFill>
                  <a:srgbClr val="65766D"/>
                </a:solidFill>
                <a:latin typeface="Arial"/>
                <a:ea typeface="Arial"/>
                <a:cs typeface="Arial"/>
              </a:defRPr>
            </a:pPr>
            <a:r>
              <a:rPr sz="1575" b="0" i="0">
                <a:solidFill>
                  <a:srgbClr val="65766D"/>
                </a:solidFill>
                <a:latin typeface="Arial"/>
                <a:ea typeface="Arial"/>
                <a:cs typeface="Arial"/>
              </a:rPr>
              <a:t>Show up to five destinations with sample trip details.</a:t>
            </a:r>
          </a:p>
        </p:txBody>
      </p:sp>
      <p:sp>
        <p:nvSpPr>
          <p:cNvPr id="29" name="Rectangle: Rounded Corners 28">
            <a:extLst>
              <a:ext uri="{FF2B5EF4-FFF2-40B4-BE49-F238E27FC236}">
                <a16:creationId xmlns:a16="http://schemas.microsoft.com/office/drawing/2014/main" id="{5E3D65A0-54FC-4E93-A21B-3421A67CA70E}"/>
              </a:ext>
            </a:extLst>
          </p:cNvPr>
          <p:cNvSpPr>
            <a:spLocks noGrp="1"/>
          </p:cNvSpPr>
          <p:nvPr/>
        </p:nvSpPr>
        <p:spPr>
          <a:xfrm>
            <a:off x="685800" y="5419725"/>
            <a:ext cx="10572750" cy="542925"/>
          </a:xfrm>
          <a:prstGeom prst="roundRect">
            <a:avLst>
              <a:gd name="adj" fmla="val 17544"/>
            </a:avLst>
          </a:prstGeom>
          <a:solidFill>
            <a:srgbClr val="F3E9DB"/>
          </a:solidFill>
          <a:ln w="0">
            <a:noFill/>
            <a:prstDash val="solid"/>
          </a:ln>
        </p:spPr>
        <p:txBody>
          <a:bodyPr/>
          <a:lstStyle/>
          <a:p>
            <a:endParaRPr lang="en-IN"/>
          </a:p>
        </p:txBody>
      </p:sp>
      <p:sp>
        <p:nvSpPr>
          <p:cNvPr id="30" name="Rectangle 29">
            <a:extLst>
              <a:ext uri="{FF2B5EF4-FFF2-40B4-BE49-F238E27FC236}">
                <a16:creationId xmlns:a16="http://schemas.microsoft.com/office/drawing/2014/main" id="{91590FFB-9195-4A15-9289-3F5ACE14DEF2}"/>
              </a:ext>
            </a:extLst>
          </p:cNvPr>
          <p:cNvSpPr>
            <a:spLocks noGrp="1"/>
          </p:cNvSpPr>
          <p:nvPr/>
        </p:nvSpPr>
        <p:spPr>
          <a:xfrm>
            <a:off x="885825" y="5562600"/>
            <a:ext cx="10163175" cy="295275"/>
          </a:xfrm>
          <a:prstGeom prst="rect">
            <a:avLst/>
          </a:prstGeom>
          <a:noFill/>
          <a:ln w="0">
            <a:noFill/>
            <a:prstDash val="solid"/>
          </a:ln>
        </p:spPr>
        <p:txBody>
          <a:bodyPr wrap="square" lIns="0" tIns="0" rIns="0" bIns="0" anchor="t">
            <a:normAutofit/>
          </a:bodyPr>
          <a:lstStyle/>
          <a:p>
            <a:pPr algn="l">
              <a:defRPr sz="1575" b="1" i="0">
                <a:solidFill>
                  <a:srgbClr val="204C3E"/>
                </a:solidFill>
                <a:latin typeface="Arial"/>
                <a:ea typeface="Arial"/>
                <a:cs typeface="Arial"/>
              </a:defRPr>
            </a:pPr>
            <a:r>
              <a:rPr sz="1575" b="1" i="0">
                <a:solidFill>
                  <a:srgbClr val="204C3E"/>
                </a:solidFill>
                <a:latin typeface="Arial"/>
                <a:ea typeface="Arial"/>
                <a:cs typeface="Arial"/>
              </a:rPr>
              <a:t>Region filtering narrows candidates. It does not change the global scaler.</a:t>
            </a:r>
          </a:p>
        </p:txBody>
      </p:sp>
    </p:spTree>
    <p:extLst>
      <p:ext uri="{BB962C8B-B14F-4D97-AF65-F5344CB8AC3E}">
        <p14:creationId xmlns:p14="http://schemas.microsoft.com/office/powerpoint/2010/main" val="1490776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B1FEC2-527B-46A5-AB08-D6A524C18EB2}"/>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Worked example: the default traveler profile</a:t>
            </a:r>
          </a:p>
        </p:txBody>
      </p:sp>
      <p:sp>
        <p:nvSpPr>
          <p:cNvPr id="2" name="Rectangle 1">
            <a:extLst>
              <a:ext uri="{FF2B5EF4-FFF2-40B4-BE49-F238E27FC236}">
                <a16:creationId xmlns:a16="http://schemas.microsoft.com/office/drawing/2014/main" id="{9CC2ED40-8C66-4007-AB7E-BD0402DEA758}"/>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These are the five results shown when the app uses its default values and All India.</a:t>
            </a:r>
          </a:p>
        </p:txBody>
      </p:sp>
      <p:sp>
        <p:nvSpPr>
          <p:cNvPr id="3" name="Rectangle 2">
            <a:extLst>
              <a:ext uri="{FF2B5EF4-FFF2-40B4-BE49-F238E27FC236}">
                <a16:creationId xmlns:a16="http://schemas.microsoft.com/office/drawing/2014/main" id="{6F9A9B84-F323-46D5-A573-F90029231E3A}"/>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A1E0F78C-0ECC-4A03-BF3B-CBA537E9A43E}"/>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09</a:t>
            </a:r>
          </a:p>
        </p:txBody>
      </p:sp>
      <p:sp>
        <p:nvSpPr>
          <p:cNvPr id="5" name="Rectangle: Rounded Corners 4">
            <a:extLst>
              <a:ext uri="{FF2B5EF4-FFF2-40B4-BE49-F238E27FC236}">
                <a16:creationId xmlns:a16="http://schemas.microsoft.com/office/drawing/2014/main" id="{F78891A9-AA91-4C4F-B6B5-9942EAABFDED}"/>
              </a:ext>
            </a:extLst>
          </p:cNvPr>
          <p:cNvSpPr>
            <a:spLocks noGrp="1"/>
          </p:cNvSpPr>
          <p:nvPr/>
        </p:nvSpPr>
        <p:spPr>
          <a:xfrm>
            <a:off x="628650" y="1609725"/>
            <a:ext cx="10925175" cy="628650"/>
          </a:xfrm>
          <a:prstGeom prst="roundRect">
            <a:avLst>
              <a:gd name="adj" fmla="val 16667"/>
            </a:avLst>
          </a:prstGeom>
          <a:solidFill>
            <a:srgbClr val="E7EFE8"/>
          </a:solidFill>
          <a:ln w="0">
            <a:noFill/>
            <a:prstDash val="solid"/>
          </a:ln>
        </p:spPr>
        <p:txBody>
          <a:bodyPr/>
          <a:lstStyle/>
          <a:p>
            <a:endParaRPr lang="en-IN"/>
          </a:p>
        </p:txBody>
      </p:sp>
      <p:sp>
        <p:nvSpPr>
          <p:cNvPr id="6" name="Rectangle 5">
            <a:extLst>
              <a:ext uri="{FF2B5EF4-FFF2-40B4-BE49-F238E27FC236}">
                <a16:creationId xmlns:a16="http://schemas.microsoft.com/office/drawing/2014/main" id="{D2B25648-06C7-4504-B8AE-E5C729CEA7F8}"/>
              </a:ext>
            </a:extLst>
          </p:cNvPr>
          <p:cNvSpPr>
            <a:spLocks noGrp="1"/>
          </p:cNvSpPr>
          <p:nvPr/>
        </p:nvSpPr>
        <p:spPr>
          <a:xfrm>
            <a:off x="838200" y="1781175"/>
            <a:ext cx="10477500" cy="323850"/>
          </a:xfrm>
          <a:prstGeom prst="rect">
            <a:avLst/>
          </a:prstGeom>
          <a:noFill/>
          <a:ln w="0">
            <a:noFill/>
            <a:prstDash val="solid"/>
          </a:ln>
        </p:spPr>
        <p:txBody>
          <a:bodyPr wrap="square" lIns="0" tIns="0" rIns="0" bIns="0" anchor="t">
            <a:normAutofit/>
          </a:bodyPr>
          <a:lstStyle/>
          <a:p>
            <a:pPr algn="l">
              <a:defRPr sz="1650" b="1" i="0">
                <a:solidFill>
                  <a:srgbClr val="204C3E"/>
                </a:solidFill>
                <a:latin typeface="Arial"/>
                <a:ea typeface="Arial"/>
                <a:cs typeface="Arial"/>
              </a:defRPr>
            </a:pPr>
            <a:r>
              <a:rPr sz="1650" b="1" i="0">
                <a:solidFill>
                  <a:srgbClr val="204C3E"/>
                </a:solidFill>
                <a:latin typeface="Arial"/>
                <a:ea typeface="Arial"/>
                <a:cs typeface="Arial"/>
              </a:rPr>
              <a:t>₹30,000, 5 days, Nature 7, Beach 4, Adventure 6 and Culture 7</a:t>
            </a:r>
          </a:p>
        </p:txBody>
      </p:sp>
      <p:graphicFrame>
        <p:nvGraphicFramePr>
          <p:cNvPr id="15" name="Table 14"/>
          <p:cNvGraphicFramePr/>
          <p:nvPr/>
        </p:nvGraphicFramePr>
        <p:xfrm>
          <a:off x="1190625" y="2619375"/>
          <a:ext cx="9810750" cy="3209925"/>
        </p:xfrm>
        <a:graphic>
          <a:graphicData uri="http://schemas.openxmlformats.org/drawingml/2006/table">
            <a:tbl>
              <a:tblPr firstRow="1" bandRow="1"/>
              <a:tblGrid>
                <a:gridCol w="1000125">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1762125">
                  <a:extLst>
                    <a:ext uri="{9D8B030D-6E8A-4147-A177-3AD203B41FA5}">
                      <a16:colId xmlns:a16="http://schemas.microsoft.com/office/drawing/2014/main" val="20004"/>
                    </a:ext>
                  </a:extLst>
                </a:gridCol>
              </a:tblGrid>
              <a:tr h="495300">
                <a:tc>
                  <a:txBody>
                    <a:bodyPr/>
                    <a:lstStyle/>
                    <a:p>
                      <a:pPr algn="l"/>
                      <a:r>
                        <a:rPr sz="1575" b="1">
                          <a:solidFill>
                            <a:srgbClr val="FFFFFF"/>
                          </a:solidFill>
                          <a:latin typeface="Arial"/>
                          <a:ea typeface="Arial"/>
                          <a:cs typeface="Arial"/>
                        </a:rPr>
                        <a:t>Rank</a:t>
                      </a:r>
                    </a:p>
                  </a:txBody>
                  <a:tcPr anchor="ctr">
                    <a:solidFill>
                      <a:srgbClr val="204C3E"/>
                    </a:solidFill>
                  </a:tcPr>
                </a:tc>
                <a:tc>
                  <a:txBody>
                    <a:bodyPr/>
                    <a:lstStyle/>
                    <a:p>
                      <a:pPr algn="ctr"/>
                      <a:r>
                        <a:rPr sz="1575" b="1">
                          <a:solidFill>
                            <a:srgbClr val="FFFFFF"/>
                          </a:solidFill>
                          <a:latin typeface="Arial"/>
                          <a:ea typeface="Arial"/>
                          <a:cs typeface="Arial"/>
                        </a:rPr>
                        <a:t>Destination</a:t>
                      </a:r>
                    </a:p>
                  </a:txBody>
                  <a:tcPr anchor="ctr">
                    <a:solidFill>
                      <a:srgbClr val="204C3E"/>
                    </a:solidFill>
                  </a:tcPr>
                </a:tc>
                <a:tc>
                  <a:txBody>
                    <a:bodyPr/>
                    <a:lstStyle/>
                    <a:p>
                      <a:pPr algn="ctr"/>
                      <a:r>
                        <a:rPr sz="1575" b="1">
                          <a:solidFill>
                            <a:srgbClr val="FFFFFF"/>
                          </a:solidFill>
                          <a:latin typeface="Arial"/>
                          <a:ea typeface="Arial"/>
                          <a:cs typeface="Arial"/>
                        </a:rPr>
                        <a:t>Est. budget</a:t>
                      </a:r>
                    </a:p>
                  </a:txBody>
                  <a:tcPr anchor="ctr">
                    <a:solidFill>
                      <a:srgbClr val="204C3E"/>
                    </a:solidFill>
                  </a:tcPr>
                </a:tc>
                <a:tc>
                  <a:txBody>
                    <a:bodyPr/>
                    <a:lstStyle/>
                    <a:p>
                      <a:pPr algn="ctr"/>
                      <a:r>
                        <a:rPr sz="1575" b="1">
                          <a:solidFill>
                            <a:srgbClr val="FFFFFF"/>
                          </a:solidFill>
                          <a:latin typeface="Arial"/>
                          <a:ea typeface="Arial"/>
                          <a:cs typeface="Arial"/>
                        </a:rPr>
                        <a:t>Stay</a:t>
                      </a:r>
                    </a:p>
                  </a:txBody>
                  <a:tcPr anchor="ctr">
                    <a:solidFill>
                      <a:srgbClr val="204C3E"/>
                    </a:solidFill>
                  </a:tcPr>
                </a:tc>
                <a:tc>
                  <a:txBody>
                    <a:bodyPr/>
                    <a:lstStyle/>
                    <a:p>
                      <a:pPr algn="ctr"/>
                      <a:r>
                        <a:rPr sz="1575" b="1">
                          <a:solidFill>
                            <a:srgbClr val="FFFFFF"/>
                          </a:solidFill>
                          <a:latin typeface="Arial"/>
                          <a:ea typeface="Arial"/>
                          <a:cs typeface="Arial"/>
                        </a:rPr>
                        <a:t>Distance</a:t>
                      </a:r>
                    </a:p>
                  </a:txBody>
                  <a:tcPr anchor="ctr">
                    <a:solidFill>
                      <a:srgbClr val="204C3E"/>
                    </a:solidFill>
                  </a:tcPr>
                </a:tc>
                <a:extLst>
                  <a:ext uri="{0D108BD9-81ED-4DB2-BD59-A6C34878D82A}">
                    <a16:rowId xmlns:a16="http://schemas.microsoft.com/office/drawing/2014/main" val="10000"/>
                  </a:ext>
                </a:extLst>
              </a:tr>
              <a:tr h="542925">
                <a:tc>
                  <a:txBody>
                    <a:bodyPr/>
                    <a:lstStyle/>
                    <a:p>
                      <a:pPr algn="l"/>
                      <a:r>
                        <a:rPr sz="1650" b="1">
                          <a:solidFill>
                            <a:srgbClr val="18382E"/>
                          </a:solidFill>
                          <a:latin typeface="Arial"/>
                          <a:ea typeface="Arial"/>
                          <a:cs typeface="Arial"/>
                        </a:rPr>
                        <a:t>1</a:t>
                      </a:r>
                    </a:p>
                  </a:txBody>
                  <a:tcPr anchor="ctr">
                    <a:solidFill>
                      <a:srgbClr val="FFFFFF"/>
                    </a:solidFill>
                  </a:tcPr>
                </a:tc>
                <a:tc>
                  <a:txBody>
                    <a:bodyPr/>
                    <a:lstStyle/>
                    <a:p>
                      <a:pPr algn="ctr"/>
                      <a:r>
                        <a:rPr sz="1650" b="0">
                          <a:solidFill>
                            <a:srgbClr val="18382E"/>
                          </a:solidFill>
                          <a:latin typeface="Arial"/>
                          <a:ea typeface="Arial"/>
                          <a:cs typeface="Arial"/>
                        </a:rPr>
                        <a:t>Shimla</a:t>
                      </a:r>
                    </a:p>
                  </a:txBody>
                  <a:tcPr anchor="ctr">
                    <a:solidFill>
                      <a:srgbClr val="FFFFFF"/>
                    </a:solidFill>
                  </a:tcPr>
                </a:tc>
                <a:tc>
                  <a:txBody>
                    <a:bodyPr/>
                    <a:lstStyle/>
                    <a:p>
                      <a:pPr algn="ctr"/>
                      <a:r>
                        <a:rPr sz="1650" b="0">
                          <a:solidFill>
                            <a:srgbClr val="18382E"/>
                          </a:solidFill>
                          <a:latin typeface="Arial"/>
                          <a:ea typeface="Arial"/>
                          <a:cs typeface="Arial"/>
                        </a:rPr>
                        <a:t>₹26,000</a:t>
                      </a:r>
                    </a:p>
                  </a:txBody>
                  <a:tcPr anchor="ctr">
                    <a:solidFill>
                      <a:srgbClr val="FFFFFF"/>
                    </a:solidFill>
                  </a:tcPr>
                </a:tc>
                <a:tc>
                  <a:txBody>
                    <a:bodyPr/>
                    <a:lstStyle/>
                    <a:p>
                      <a:pPr algn="ctr"/>
                      <a:r>
                        <a:rPr sz="1650" b="0">
                          <a:solidFill>
                            <a:srgbClr val="18382E"/>
                          </a:solidFill>
                          <a:latin typeface="Arial"/>
                          <a:ea typeface="Arial"/>
                          <a:cs typeface="Arial"/>
                        </a:rPr>
                        <a:t>5 days</a:t>
                      </a:r>
                    </a:p>
                  </a:txBody>
                  <a:tcPr anchor="ctr">
                    <a:solidFill>
                      <a:srgbClr val="FFFFFF"/>
                    </a:solidFill>
                  </a:tcPr>
                </a:tc>
                <a:tc>
                  <a:txBody>
                    <a:bodyPr/>
                    <a:lstStyle/>
                    <a:p>
                      <a:pPr algn="ctr"/>
                      <a:r>
                        <a:rPr sz="1650" b="0">
                          <a:solidFill>
                            <a:srgbClr val="18382E"/>
                          </a:solidFill>
                          <a:latin typeface="Arial"/>
                          <a:ea typeface="Arial"/>
                          <a:cs typeface="Arial"/>
                        </a:rPr>
                        <a:t>1.21</a:t>
                      </a:r>
                    </a:p>
                  </a:txBody>
                  <a:tcPr anchor="ctr">
                    <a:solidFill>
                      <a:srgbClr val="FFFFFF"/>
                    </a:solidFill>
                  </a:tcPr>
                </a:tc>
                <a:extLst>
                  <a:ext uri="{0D108BD9-81ED-4DB2-BD59-A6C34878D82A}">
                    <a16:rowId xmlns:a16="http://schemas.microsoft.com/office/drawing/2014/main" val="10001"/>
                  </a:ext>
                </a:extLst>
              </a:tr>
              <a:tr h="542925">
                <a:tc>
                  <a:txBody>
                    <a:bodyPr/>
                    <a:lstStyle/>
                    <a:p>
                      <a:pPr algn="l"/>
                      <a:r>
                        <a:rPr sz="1650" b="1">
                          <a:solidFill>
                            <a:srgbClr val="18382E"/>
                          </a:solidFill>
                          <a:latin typeface="Arial"/>
                          <a:ea typeface="Arial"/>
                          <a:cs typeface="Arial"/>
                        </a:rPr>
                        <a:t>2</a:t>
                      </a:r>
                    </a:p>
                  </a:txBody>
                  <a:tcPr anchor="ctr">
                    <a:solidFill>
                      <a:srgbClr val="FFFEFA"/>
                    </a:solidFill>
                  </a:tcPr>
                </a:tc>
                <a:tc>
                  <a:txBody>
                    <a:bodyPr/>
                    <a:lstStyle/>
                    <a:p>
                      <a:pPr algn="ctr"/>
                      <a:r>
                        <a:rPr sz="1650" b="0">
                          <a:solidFill>
                            <a:srgbClr val="18382E"/>
                          </a:solidFill>
                          <a:latin typeface="Arial"/>
                          <a:ea typeface="Arial"/>
                          <a:cs typeface="Arial"/>
                        </a:rPr>
                        <a:t>Darjeeling</a:t>
                      </a:r>
                    </a:p>
                  </a:txBody>
                  <a:tcPr anchor="ctr">
                    <a:solidFill>
                      <a:srgbClr val="FFFEFA"/>
                    </a:solidFill>
                  </a:tcPr>
                </a:tc>
                <a:tc>
                  <a:txBody>
                    <a:bodyPr/>
                    <a:lstStyle/>
                    <a:p>
                      <a:pPr algn="ctr"/>
                      <a:r>
                        <a:rPr sz="1650" b="0">
                          <a:solidFill>
                            <a:srgbClr val="18382E"/>
                          </a:solidFill>
                          <a:latin typeface="Arial"/>
                          <a:ea typeface="Arial"/>
                          <a:cs typeface="Arial"/>
                        </a:rPr>
                        <a:t>₹27,000</a:t>
                      </a:r>
                    </a:p>
                  </a:txBody>
                  <a:tcPr anchor="ctr">
                    <a:solidFill>
                      <a:srgbClr val="FFFEFA"/>
                    </a:solidFill>
                  </a:tcPr>
                </a:tc>
                <a:tc>
                  <a:txBody>
                    <a:bodyPr/>
                    <a:lstStyle/>
                    <a:p>
                      <a:pPr algn="ctr"/>
                      <a:r>
                        <a:rPr sz="1650" b="0">
                          <a:solidFill>
                            <a:srgbClr val="18382E"/>
                          </a:solidFill>
                          <a:latin typeface="Arial"/>
                          <a:ea typeface="Arial"/>
                          <a:cs typeface="Arial"/>
                        </a:rPr>
                        <a:t>5 days</a:t>
                      </a:r>
                    </a:p>
                  </a:txBody>
                  <a:tcPr anchor="ctr">
                    <a:solidFill>
                      <a:srgbClr val="FFFEFA"/>
                    </a:solidFill>
                  </a:tcPr>
                </a:tc>
                <a:tc>
                  <a:txBody>
                    <a:bodyPr/>
                    <a:lstStyle/>
                    <a:p>
                      <a:pPr algn="ctr"/>
                      <a:r>
                        <a:rPr sz="1650" b="0">
                          <a:solidFill>
                            <a:srgbClr val="18382E"/>
                          </a:solidFill>
                          <a:latin typeface="Arial"/>
                          <a:ea typeface="Arial"/>
                          <a:cs typeface="Arial"/>
                        </a:rPr>
                        <a:t>1.36</a:t>
                      </a:r>
                    </a:p>
                  </a:txBody>
                  <a:tcPr anchor="ctr">
                    <a:solidFill>
                      <a:srgbClr val="FFFEFA"/>
                    </a:solidFill>
                  </a:tcPr>
                </a:tc>
                <a:extLst>
                  <a:ext uri="{0D108BD9-81ED-4DB2-BD59-A6C34878D82A}">
                    <a16:rowId xmlns:a16="http://schemas.microsoft.com/office/drawing/2014/main" val="10002"/>
                  </a:ext>
                </a:extLst>
              </a:tr>
              <a:tr h="542925">
                <a:tc>
                  <a:txBody>
                    <a:bodyPr/>
                    <a:lstStyle/>
                    <a:p>
                      <a:pPr algn="l"/>
                      <a:r>
                        <a:rPr sz="1650" b="1">
                          <a:solidFill>
                            <a:srgbClr val="18382E"/>
                          </a:solidFill>
                          <a:latin typeface="Arial"/>
                          <a:ea typeface="Arial"/>
                          <a:cs typeface="Arial"/>
                        </a:rPr>
                        <a:t>3</a:t>
                      </a:r>
                    </a:p>
                  </a:txBody>
                  <a:tcPr anchor="ctr">
                    <a:solidFill>
                      <a:srgbClr val="FFFFFF"/>
                    </a:solidFill>
                  </a:tcPr>
                </a:tc>
                <a:tc>
                  <a:txBody>
                    <a:bodyPr/>
                    <a:lstStyle/>
                    <a:p>
                      <a:pPr algn="ctr"/>
                      <a:r>
                        <a:rPr sz="1650" b="0">
                          <a:solidFill>
                            <a:srgbClr val="18382E"/>
                          </a:solidFill>
                          <a:latin typeface="Arial"/>
                          <a:ea typeface="Arial"/>
                          <a:cs typeface="Arial"/>
                        </a:rPr>
                        <a:t>Shillong</a:t>
                      </a:r>
                    </a:p>
                  </a:txBody>
                  <a:tcPr anchor="ctr">
                    <a:solidFill>
                      <a:srgbClr val="FFFFFF"/>
                    </a:solidFill>
                  </a:tcPr>
                </a:tc>
                <a:tc>
                  <a:txBody>
                    <a:bodyPr/>
                    <a:lstStyle/>
                    <a:p>
                      <a:pPr algn="ctr"/>
                      <a:r>
                        <a:rPr sz="1650" b="0">
                          <a:solidFill>
                            <a:srgbClr val="18382E"/>
                          </a:solidFill>
                          <a:latin typeface="Arial"/>
                          <a:ea typeface="Arial"/>
                          <a:cs typeface="Arial"/>
                        </a:rPr>
                        <a:t>₹30,000</a:t>
                      </a:r>
                    </a:p>
                  </a:txBody>
                  <a:tcPr anchor="ctr">
                    <a:solidFill>
                      <a:srgbClr val="FFFFFF"/>
                    </a:solidFill>
                  </a:tcPr>
                </a:tc>
                <a:tc>
                  <a:txBody>
                    <a:bodyPr/>
                    <a:lstStyle/>
                    <a:p>
                      <a:pPr algn="ctr"/>
                      <a:r>
                        <a:rPr sz="1650" b="0">
                          <a:solidFill>
                            <a:srgbClr val="18382E"/>
                          </a:solidFill>
                          <a:latin typeface="Arial"/>
                          <a:ea typeface="Arial"/>
                          <a:cs typeface="Arial"/>
                        </a:rPr>
                        <a:t>5 days</a:t>
                      </a:r>
                    </a:p>
                  </a:txBody>
                  <a:tcPr anchor="ctr">
                    <a:solidFill>
                      <a:srgbClr val="FFFFFF"/>
                    </a:solidFill>
                  </a:tcPr>
                </a:tc>
                <a:tc>
                  <a:txBody>
                    <a:bodyPr/>
                    <a:lstStyle/>
                    <a:p>
                      <a:pPr algn="ctr"/>
                      <a:r>
                        <a:rPr sz="1650" b="0">
                          <a:solidFill>
                            <a:srgbClr val="18382E"/>
                          </a:solidFill>
                          <a:latin typeface="Arial"/>
                          <a:ea typeface="Arial"/>
                          <a:cs typeface="Arial"/>
                        </a:rPr>
                        <a:t>1.42</a:t>
                      </a:r>
                    </a:p>
                  </a:txBody>
                  <a:tcPr anchor="ctr">
                    <a:solidFill>
                      <a:srgbClr val="FFFFFF"/>
                    </a:solidFill>
                  </a:tcPr>
                </a:tc>
                <a:extLst>
                  <a:ext uri="{0D108BD9-81ED-4DB2-BD59-A6C34878D82A}">
                    <a16:rowId xmlns:a16="http://schemas.microsoft.com/office/drawing/2014/main" val="10003"/>
                  </a:ext>
                </a:extLst>
              </a:tr>
              <a:tr h="542925">
                <a:tc>
                  <a:txBody>
                    <a:bodyPr/>
                    <a:lstStyle/>
                    <a:p>
                      <a:pPr algn="l"/>
                      <a:r>
                        <a:rPr sz="1650" b="1">
                          <a:solidFill>
                            <a:srgbClr val="18382E"/>
                          </a:solidFill>
                          <a:latin typeface="Arial"/>
                          <a:ea typeface="Arial"/>
                          <a:cs typeface="Arial"/>
                        </a:rPr>
                        <a:t>4</a:t>
                      </a:r>
                    </a:p>
                  </a:txBody>
                  <a:tcPr anchor="ctr">
                    <a:solidFill>
                      <a:srgbClr val="FFFEFA"/>
                    </a:solidFill>
                  </a:tcPr>
                </a:tc>
                <a:tc>
                  <a:txBody>
                    <a:bodyPr/>
                    <a:lstStyle/>
                    <a:p>
                      <a:pPr algn="ctr"/>
                      <a:r>
                        <a:rPr sz="1650" b="0">
                          <a:solidFill>
                            <a:srgbClr val="18382E"/>
                          </a:solidFill>
                          <a:latin typeface="Arial"/>
                          <a:ea typeface="Arial"/>
                          <a:cs typeface="Arial"/>
                        </a:rPr>
                        <a:t>Kutch</a:t>
                      </a:r>
                    </a:p>
                  </a:txBody>
                  <a:tcPr anchor="ctr">
                    <a:solidFill>
                      <a:srgbClr val="FFFEFA"/>
                    </a:solidFill>
                  </a:tcPr>
                </a:tc>
                <a:tc>
                  <a:txBody>
                    <a:bodyPr/>
                    <a:lstStyle/>
                    <a:p>
                      <a:pPr algn="ctr"/>
                      <a:r>
                        <a:rPr sz="1650" b="0">
                          <a:solidFill>
                            <a:srgbClr val="18382E"/>
                          </a:solidFill>
                          <a:latin typeface="Arial"/>
                          <a:ea typeface="Arial"/>
                          <a:cs typeface="Arial"/>
                        </a:rPr>
                        <a:t>₹24,000</a:t>
                      </a:r>
                    </a:p>
                  </a:txBody>
                  <a:tcPr anchor="ctr">
                    <a:solidFill>
                      <a:srgbClr val="FFFEFA"/>
                    </a:solidFill>
                  </a:tcPr>
                </a:tc>
                <a:tc>
                  <a:txBody>
                    <a:bodyPr/>
                    <a:lstStyle/>
                    <a:p>
                      <a:pPr algn="ctr"/>
                      <a:r>
                        <a:rPr sz="1650" b="0">
                          <a:solidFill>
                            <a:srgbClr val="18382E"/>
                          </a:solidFill>
                          <a:latin typeface="Arial"/>
                          <a:ea typeface="Arial"/>
                          <a:cs typeface="Arial"/>
                        </a:rPr>
                        <a:t>4 days</a:t>
                      </a:r>
                    </a:p>
                  </a:txBody>
                  <a:tcPr anchor="ctr">
                    <a:solidFill>
                      <a:srgbClr val="FFFEFA"/>
                    </a:solidFill>
                  </a:tcPr>
                </a:tc>
                <a:tc>
                  <a:txBody>
                    <a:bodyPr/>
                    <a:lstStyle/>
                    <a:p>
                      <a:pPr algn="ctr"/>
                      <a:r>
                        <a:rPr sz="1650" b="0">
                          <a:solidFill>
                            <a:srgbClr val="18382E"/>
                          </a:solidFill>
                          <a:latin typeface="Arial"/>
                          <a:ea typeface="Arial"/>
                          <a:cs typeface="Arial"/>
                        </a:rPr>
                        <a:t>1.53</a:t>
                      </a:r>
                    </a:p>
                  </a:txBody>
                  <a:tcPr anchor="ctr">
                    <a:solidFill>
                      <a:srgbClr val="FFFEFA"/>
                    </a:solidFill>
                  </a:tcPr>
                </a:tc>
                <a:extLst>
                  <a:ext uri="{0D108BD9-81ED-4DB2-BD59-A6C34878D82A}">
                    <a16:rowId xmlns:a16="http://schemas.microsoft.com/office/drawing/2014/main" val="10004"/>
                  </a:ext>
                </a:extLst>
              </a:tr>
              <a:tr h="542925">
                <a:tc>
                  <a:txBody>
                    <a:bodyPr/>
                    <a:lstStyle/>
                    <a:p>
                      <a:pPr algn="l"/>
                      <a:r>
                        <a:rPr sz="1650" b="1">
                          <a:solidFill>
                            <a:srgbClr val="18382E"/>
                          </a:solidFill>
                          <a:latin typeface="Arial"/>
                          <a:ea typeface="Arial"/>
                          <a:cs typeface="Arial"/>
                        </a:rPr>
                        <a:t>5</a:t>
                      </a:r>
                    </a:p>
                  </a:txBody>
                  <a:tcPr anchor="ctr">
                    <a:solidFill>
                      <a:srgbClr val="FFFFFF"/>
                    </a:solidFill>
                  </a:tcPr>
                </a:tc>
                <a:tc>
                  <a:txBody>
                    <a:bodyPr/>
                    <a:lstStyle/>
                    <a:p>
                      <a:pPr algn="ctr"/>
                      <a:r>
                        <a:rPr sz="1650" b="0">
                          <a:solidFill>
                            <a:srgbClr val="18382E"/>
                          </a:solidFill>
                          <a:latin typeface="Arial"/>
                          <a:ea typeface="Arial"/>
                          <a:cs typeface="Arial"/>
                        </a:rPr>
                        <a:t>Sundarbans</a:t>
                      </a:r>
                    </a:p>
                  </a:txBody>
                  <a:tcPr anchor="ctr">
                    <a:solidFill>
                      <a:srgbClr val="FFFFFF"/>
                    </a:solidFill>
                  </a:tcPr>
                </a:tc>
                <a:tc>
                  <a:txBody>
                    <a:bodyPr/>
                    <a:lstStyle/>
                    <a:p>
                      <a:pPr algn="ctr"/>
                      <a:r>
                        <a:rPr sz="1650" b="0">
                          <a:solidFill>
                            <a:srgbClr val="18382E"/>
                          </a:solidFill>
                          <a:latin typeface="Arial"/>
                          <a:ea typeface="Arial"/>
                          <a:cs typeface="Arial"/>
                        </a:rPr>
                        <a:t>₹30,000</a:t>
                      </a:r>
                    </a:p>
                  </a:txBody>
                  <a:tcPr anchor="ctr">
                    <a:solidFill>
                      <a:srgbClr val="FFFFFF"/>
                    </a:solidFill>
                  </a:tcPr>
                </a:tc>
                <a:tc>
                  <a:txBody>
                    <a:bodyPr/>
                    <a:lstStyle/>
                    <a:p>
                      <a:pPr algn="ctr"/>
                      <a:r>
                        <a:rPr sz="1650" b="0">
                          <a:solidFill>
                            <a:srgbClr val="18382E"/>
                          </a:solidFill>
                          <a:latin typeface="Arial"/>
                          <a:ea typeface="Arial"/>
                          <a:cs typeface="Arial"/>
                        </a:rPr>
                        <a:t>4 days</a:t>
                      </a:r>
                    </a:p>
                  </a:txBody>
                  <a:tcPr anchor="ctr">
                    <a:solidFill>
                      <a:srgbClr val="FFFFFF"/>
                    </a:solidFill>
                  </a:tcPr>
                </a:tc>
                <a:tc>
                  <a:txBody>
                    <a:bodyPr/>
                    <a:lstStyle/>
                    <a:p>
                      <a:pPr algn="ctr"/>
                      <a:r>
                        <a:rPr sz="1650" b="0">
                          <a:solidFill>
                            <a:srgbClr val="18382E"/>
                          </a:solidFill>
                          <a:latin typeface="Arial"/>
                          <a:ea typeface="Arial"/>
                          <a:cs typeface="Arial"/>
                        </a:rPr>
                        <a:t>1.55</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8" name="Rectangle 7">
            <a:extLst>
              <a:ext uri="{FF2B5EF4-FFF2-40B4-BE49-F238E27FC236}">
                <a16:creationId xmlns:a16="http://schemas.microsoft.com/office/drawing/2014/main" id="{19B792B6-F613-470D-A96E-24651E91B58D}"/>
              </a:ext>
            </a:extLst>
          </p:cNvPr>
          <p:cNvSpPr>
            <a:spLocks noGrp="1"/>
          </p:cNvSpPr>
          <p:nvPr/>
        </p:nvSpPr>
        <p:spPr>
          <a:xfrm>
            <a:off x="1457325" y="5962650"/>
            <a:ext cx="9334500" cy="295275"/>
          </a:xfrm>
          <a:prstGeom prst="rect">
            <a:avLst/>
          </a:prstGeom>
          <a:noFill/>
          <a:ln w="0">
            <a:noFill/>
            <a:prstDash val="solid"/>
          </a:ln>
        </p:spPr>
        <p:txBody>
          <a:bodyPr wrap="square" lIns="0" tIns="0" rIns="0" bIns="0" anchor="t">
            <a:normAutofit/>
          </a:bodyPr>
          <a:lstStyle/>
          <a:p>
            <a:pPr algn="ctr">
              <a:defRPr sz="1425" b="0" i="0">
                <a:solidFill>
                  <a:srgbClr val="65766D"/>
                </a:solidFill>
                <a:latin typeface="Arial"/>
                <a:ea typeface="Arial"/>
                <a:cs typeface="Arial"/>
              </a:defRPr>
            </a:pPr>
            <a:r>
              <a:rPr sz="1425" b="0" i="0">
                <a:solidFill>
                  <a:srgbClr val="65766D"/>
                </a:solidFill>
                <a:latin typeface="Arial"/>
                <a:ea typeface="Arial"/>
                <a:cs typeface="Arial"/>
              </a:rPr>
              <a:t>Lower distance means a closer overall match across the six standardized features.</a:t>
            </a:r>
          </a:p>
        </p:txBody>
      </p:sp>
    </p:spTree>
    <p:extLst>
      <p:ext uri="{BB962C8B-B14F-4D97-AF65-F5344CB8AC3E}">
        <p14:creationId xmlns:p14="http://schemas.microsoft.com/office/powerpoint/2010/main" val="164614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190C909-29AE-4C86-990C-423F13A4D09E}"/>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What Shimla's comparison explains</a:t>
            </a:r>
          </a:p>
        </p:txBody>
      </p:sp>
      <p:sp>
        <p:nvSpPr>
          <p:cNvPr id="2" name="Rectangle 1">
            <a:extLst>
              <a:ext uri="{FF2B5EF4-FFF2-40B4-BE49-F238E27FC236}">
                <a16:creationId xmlns:a16="http://schemas.microsoft.com/office/drawing/2014/main" id="{D398A254-5D0B-41D8-868A-6E0882C543D4}"/>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The expanded result compares the four interest scores with the traveler's ratings.</a:t>
            </a:r>
          </a:p>
        </p:txBody>
      </p:sp>
      <p:sp>
        <p:nvSpPr>
          <p:cNvPr id="3" name="Rectangle 2">
            <a:extLst>
              <a:ext uri="{FF2B5EF4-FFF2-40B4-BE49-F238E27FC236}">
                <a16:creationId xmlns:a16="http://schemas.microsoft.com/office/drawing/2014/main" id="{BEE362A6-C844-435A-A331-11F173C65684}"/>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01DD2ACF-A505-49D5-A2CE-59F280F72980}"/>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10</a:t>
            </a:r>
          </a:p>
        </p:txBody>
      </p:sp>
      <p:sp>
        <p:nvSpPr>
          <p:cNvPr id="5" name="Rectangle 4">
            <a:extLst>
              <a:ext uri="{FF2B5EF4-FFF2-40B4-BE49-F238E27FC236}">
                <a16:creationId xmlns:a16="http://schemas.microsoft.com/office/drawing/2014/main" id="{85B23A0D-19DE-4301-AAD6-60B4EA91579E}"/>
              </a:ext>
            </a:extLst>
          </p:cNvPr>
          <p:cNvSpPr>
            <a:spLocks noGrp="1"/>
          </p:cNvSpPr>
          <p:nvPr/>
        </p:nvSpPr>
        <p:spPr>
          <a:xfrm>
            <a:off x="666750" y="1771650"/>
            <a:ext cx="4476750" cy="323850"/>
          </a:xfrm>
          <a:prstGeom prst="rect">
            <a:avLst/>
          </a:prstGeom>
          <a:noFill/>
          <a:ln w="0">
            <a:noFill/>
            <a:prstDash val="solid"/>
          </a:ln>
        </p:spPr>
        <p:txBody>
          <a:bodyPr wrap="square" lIns="0" tIns="0" rIns="0" bIns="0" anchor="t">
            <a:normAutofit/>
          </a:bodyPr>
          <a:lstStyle/>
          <a:p>
            <a:pPr algn="l">
              <a:defRPr sz="1575" b="1" i="0">
                <a:solidFill>
                  <a:srgbClr val="2D6651"/>
                </a:solidFill>
                <a:latin typeface="Arial"/>
                <a:ea typeface="Arial"/>
                <a:cs typeface="Arial"/>
              </a:defRPr>
            </a:pPr>
            <a:r>
              <a:rPr sz="1575" b="1" i="0">
                <a:solidFill>
                  <a:srgbClr val="2D6651"/>
                </a:solidFill>
                <a:latin typeface="Arial"/>
                <a:ea typeface="Arial"/>
                <a:cs typeface="Arial"/>
              </a:rPr>
              <a:t>Worked example</a:t>
            </a:r>
          </a:p>
        </p:txBody>
      </p:sp>
      <p:sp>
        <p:nvSpPr>
          <p:cNvPr id="6" name="Rectangle 5">
            <a:extLst>
              <a:ext uri="{FF2B5EF4-FFF2-40B4-BE49-F238E27FC236}">
                <a16:creationId xmlns:a16="http://schemas.microsoft.com/office/drawing/2014/main" id="{E6CC1759-3389-4B36-B027-6704F2417A04}"/>
              </a:ext>
            </a:extLst>
          </p:cNvPr>
          <p:cNvSpPr>
            <a:spLocks noGrp="1"/>
          </p:cNvSpPr>
          <p:nvPr/>
        </p:nvSpPr>
        <p:spPr>
          <a:xfrm>
            <a:off x="666750" y="2114550"/>
            <a:ext cx="6381750" cy="438150"/>
          </a:xfrm>
          <a:prstGeom prst="rect">
            <a:avLst/>
          </a:prstGeom>
          <a:noFill/>
          <a:ln w="0">
            <a:noFill/>
            <a:prstDash val="solid"/>
          </a:ln>
        </p:spPr>
        <p:txBody>
          <a:bodyPr wrap="square" lIns="0" tIns="0" rIns="0" bIns="0" anchor="t">
            <a:normAutofit/>
          </a:bodyPr>
          <a:lstStyle/>
          <a:p>
            <a:pPr algn="l">
              <a:defRPr sz="2175" b="1" i="0">
                <a:solidFill>
                  <a:srgbClr val="18382E"/>
                </a:solidFill>
                <a:latin typeface="Arial"/>
                <a:ea typeface="Arial"/>
                <a:cs typeface="Arial"/>
              </a:defRPr>
            </a:pPr>
            <a:r>
              <a:rPr sz="2175" b="1" i="0">
                <a:solidFill>
                  <a:srgbClr val="18382E"/>
                </a:solidFill>
                <a:latin typeface="Arial"/>
                <a:ea typeface="Arial"/>
                <a:cs typeface="Arial"/>
              </a:rPr>
              <a:t>Traveler profile vs Shimla</a:t>
            </a:r>
          </a:p>
        </p:txBody>
      </p:sp>
      <p:graphicFrame>
        <p:nvGraphicFramePr>
          <p:cNvPr id="19" name="Chart"/>
          <p:cNvGraphicFramePr/>
          <p:nvPr/>
        </p:nvGraphicFramePr>
        <p:xfrm>
          <a:off x="514350" y="2714625"/>
          <a:ext cx="6905625" cy="3095625"/>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EACA6046-550F-4B2A-8685-9D4477B9AB7C}"/>
              </a:ext>
            </a:extLst>
          </p:cNvPr>
          <p:cNvSpPr>
            <a:spLocks noGrp="1"/>
          </p:cNvSpPr>
          <p:nvPr/>
        </p:nvSpPr>
        <p:spPr>
          <a:xfrm>
            <a:off x="7924800" y="1962150"/>
            <a:ext cx="3429000" cy="381000"/>
          </a:xfrm>
          <a:prstGeom prst="rect">
            <a:avLst/>
          </a:prstGeom>
          <a:noFill/>
          <a:ln w="0">
            <a:noFill/>
            <a:prstDash val="solid"/>
          </a:ln>
        </p:spPr>
        <p:txBody>
          <a:bodyPr wrap="square" lIns="0" tIns="0" rIns="0" bIns="0" anchor="t">
            <a:normAutofit/>
          </a:bodyPr>
          <a:lstStyle/>
          <a:p>
            <a:pPr algn="l">
              <a:defRPr sz="1950" b="1" i="0">
                <a:solidFill>
                  <a:srgbClr val="18382E"/>
                </a:solidFill>
                <a:latin typeface="Arial"/>
                <a:ea typeface="Arial"/>
                <a:cs typeface="Arial"/>
              </a:defRPr>
            </a:pPr>
            <a:r>
              <a:rPr sz="1950" b="1" i="0">
                <a:solidFill>
                  <a:srgbClr val="18382E"/>
                </a:solidFill>
                <a:latin typeface="Arial"/>
                <a:ea typeface="Arial"/>
                <a:cs typeface="Arial"/>
              </a:rPr>
              <a:t>The interest profile</a:t>
            </a:r>
          </a:p>
        </p:txBody>
      </p:sp>
      <p:sp>
        <p:nvSpPr>
          <p:cNvPr id="9" name="Rectangle 8">
            <a:extLst>
              <a:ext uri="{FF2B5EF4-FFF2-40B4-BE49-F238E27FC236}">
                <a16:creationId xmlns:a16="http://schemas.microsoft.com/office/drawing/2014/main" id="{CBC4B01C-F384-4F22-A249-6D3F92BDAAC7}"/>
              </a:ext>
            </a:extLst>
          </p:cNvPr>
          <p:cNvSpPr>
            <a:spLocks noGrp="1"/>
          </p:cNvSpPr>
          <p:nvPr/>
        </p:nvSpPr>
        <p:spPr>
          <a:xfrm>
            <a:off x="7924800" y="2495550"/>
            <a:ext cx="3371850" cy="1400175"/>
          </a:xfrm>
          <a:prstGeom prst="rect">
            <a:avLst/>
          </a:prstGeom>
          <a:noFill/>
          <a:ln w="0">
            <a:noFill/>
            <a:prstDash val="solid"/>
          </a:ln>
        </p:spPr>
        <p:txBody>
          <a:bodyPr wrap="square" lIns="0" tIns="0" rIns="0" bIns="0" anchor="t">
            <a:normAutofit/>
          </a:bodyPr>
          <a:lstStyle/>
          <a:p>
            <a:pPr algn="l">
              <a:defRPr sz="1650" b="0" i="0">
                <a:solidFill>
                  <a:srgbClr val="18382E"/>
                </a:solidFill>
                <a:latin typeface="Arial"/>
                <a:ea typeface="Arial"/>
                <a:cs typeface="Arial"/>
              </a:defRPr>
            </a:pPr>
            <a:r>
              <a:rPr sz="1650" b="0" i="0">
                <a:solidFill>
                  <a:srgbClr val="18382E"/>
                </a:solidFill>
                <a:latin typeface="Arial"/>
                <a:ea typeface="Arial"/>
                <a:cs typeface="Arial"/>
              </a:rPr>
              <a:t>Nature is close: 7 vs 9. Adventure and Culture match: 6 vs 6 and 7 vs 7. Beach differs: 4 vs 1.</a:t>
            </a:r>
          </a:p>
        </p:txBody>
      </p:sp>
      <p:sp>
        <p:nvSpPr>
          <p:cNvPr id="10" name="Rectangle 9">
            <a:extLst>
              <a:ext uri="{FF2B5EF4-FFF2-40B4-BE49-F238E27FC236}">
                <a16:creationId xmlns:a16="http://schemas.microsoft.com/office/drawing/2014/main" id="{54A19E1D-096A-407E-84DB-17C91ECF1FC6}"/>
              </a:ext>
            </a:extLst>
          </p:cNvPr>
          <p:cNvSpPr>
            <a:spLocks noGrp="1"/>
          </p:cNvSpPr>
          <p:nvPr/>
        </p:nvSpPr>
        <p:spPr>
          <a:xfrm>
            <a:off x="7924800" y="4086225"/>
            <a:ext cx="3238500" cy="9525"/>
          </a:xfrm>
          <a:prstGeom prst="rect">
            <a:avLst/>
          </a:prstGeom>
          <a:solidFill>
            <a:srgbClr val="D8E1DA"/>
          </a:solidFill>
          <a:ln w="0">
            <a:noFill/>
            <a:prstDash val="solid"/>
          </a:ln>
        </p:spPr>
        <p:txBody>
          <a:bodyPr/>
          <a:lstStyle/>
          <a:p>
            <a:endParaRPr lang="en-IN"/>
          </a:p>
        </p:txBody>
      </p:sp>
      <p:sp>
        <p:nvSpPr>
          <p:cNvPr id="11" name="Rectangle 10">
            <a:extLst>
              <a:ext uri="{FF2B5EF4-FFF2-40B4-BE49-F238E27FC236}">
                <a16:creationId xmlns:a16="http://schemas.microsoft.com/office/drawing/2014/main" id="{BE7D4D9A-E0AD-4645-BA5F-4AE65298F7D8}"/>
              </a:ext>
            </a:extLst>
          </p:cNvPr>
          <p:cNvSpPr>
            <a:spLocks noGrp="1"/>
          </p:cNvSpPr>
          <p:nvPr/>
        </p:nvSpPr>
        <p:spPr>
          <a:xfrm>
            <a:off x="7924800" y="4324350"/>
            <a:ext cx="3429000" cy="352425"/>
          </a:xfrm>
          <a:prstGeom prst="rect">
            <a:avLst/>
          </a:prstGeom>
          <a:noFill/>
          <a:ln w="0">
            <a:noFill/>
            <a:prstDash val="solid"/>
          </a:ln>
        </p:spPr>
        <p:txBody>
          <a:bodyPr wrap="square" lIns="0" tIns="0" rIns="0" bIns="0" anchor="t">
            <a:normAutofit/>
          </a:bodyPr>
          <a:lstStyle/>
          <a:p>
            <a:pPr algn="l">
              <a:defRPr sz="1650" b="1" i="0">
                <a:solidFill>
                  <a:srgbClr val="2D6651"/>
                </a:solidFill>
                <a:latin typeface="Arial"/>
                <a:ea typeface="Arial"/>
                <a:cs typeface="Arial"/>
              </a:defRPr>
            </a:pPr>
            <a:r>
              <a:rPr sz="1650" b="1" i="0">
                <a:solidFill>
                  <a:srgbClr val="2D6651"/>
                </a:solidFill>
                <a:latin typeface="Arial"/>
                <a:ea typeface="Arial"/>
                <a:cs typeface="Arial"/>
              </a:rPr>
              <a:t>What the chart leaves out</a:t>
            </a:r>
          </a:p>
        </p:txBody>
      </p:sp>
      <p:sp>
        <p:nvSpPr>
          <p:cNvPr id="12" name="Rectangle 11">
            <a:extLst>
              <a:ext uri="{FF2B5EF4-FFF2-40B4-BE49-F238E27FC236}">
                <a16:creationId xmlns:a16="http://schemas.microsoft.com/office/drawing/2014/main" id="{C088D2BD-EF04-4AD1-80EA-CF0728AC2315}"/>
              </a:ext>
            </a:extLst>
          </p:cNvPr>
          <p:cNvSpPr>
            <a:spLocks noGrp="1"/>
          </p:cNvSpPr>
          <p:nvPr/>
        </p:nvSpPr>
        <p:spPr>
          <a:xfrm>
            <a:off x="7924800" y="4819650"/>
            <a:ext cx="3371850" cy="942975"/>
          </a:xfrm>
          <a:prstGeom prst="rect">
            <a:avLst/>
          </a:prstGeom>
          <a:noFill/>
          <a:ln w="0">
            <a:noFill/>
            <a:prstDash val="solid"/>
          </a:ln>
        </p:spPr>
        <p:txBody>
          <a:bodyPr wrap="square" lIns="0" tIns="0" rIns="0" bIns="0" anchor="t">
            <a:normAutofit/>
          </a:bodyPr>
          <a:lstStyle/>
          <a:p>
            <a:pPr algn="l">
              <a:defRPr sz="1575" b="0" i="0">
                <a:solidFill>
                  <a:srgbClr val="65766D"/>
                </a:solidFill>
                <a:latin typeface="Arial"/>
                <a:ea typeface="Arial"/>
                <a:cs typeface="Arial"/>
              </a:defRPr>
            </a:pPr>
            <a:r>
              <a:rPr sz="1575" b="0" i="0">
                <a:solidFill>
                  <a:srgbClr val="65766D"/>
                </a:solidFill>
                <a:latin typeface="Arial"/>
                <a:ea typeface="Arial"/>
                <a:cs typeface="Arial"/>
              </a:rPr>
              <a:t>Budget and days also affect KNN distance. This chart explains interest similarity only.</a:t>
            </a:r>
          </a:p>
        </p:txBody>
      </p:sp>
    </p:spTree>
    <p:extLst>
      <p:ext uri="{BB962C8B-B14F-4D97-AF65-F5344CB8AC3E}">
        <p14:creationId xmlns:p14="http://schemas.microsoft.com/office/powerpoint/2010/main" val="76655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946FF18-7F30-4E65-9044-381947FE8795}"/>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How to read a recommendation</a:t>
            </a:r>
          </a:p>
        </p:txBody>
      </p:sp>
      <p:sp>
        <p:nvSpPr>
          <p:cNvPr id="2" name="Rectangle 1">
            <a:extLst>
              <a:ext uri="{FF2B5EF4-FFF2-40B4-BE49-F238E27FC236}">
                <a16:creationId xmlns:a16="http://schemas.microsoft.com/office/drawing/2014/main" id="{1D765026-A3BE-4EB6-97E8-0AD6BD60A7E6}"/>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Each result combines a ranked match with enough context to inspect it.</a:t>
            </a:r>
          </a:p>
        </p:txBody>
      </p:sp>
      <p:sp>
        <p:nvSpPr>
          <p:cNvPr id="3" name="Rectangle 2">
            <a:extLst>
              <a:ext uri="{FF2B5EF4-FFF2-40B4-BE49-F238E27FC236}">
                <a16:creationId xmlns:a16="http://schemas.microsoft.com/office/drawing/2014/main" id="{C023194E-72B5-44A6-892B-76C420CA35DE}"/>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EA7115C0-AE18-46DA-B924-EDACB53F3E3A}"/>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11</a:t>
            </a:r>
          </a:p>
        </p:txBody>
      </p:sp>
      <p:sp>
        <p:nvSpPr>
          <p:cNvPr id="5" name="Rectangle: Rounded Corners 4">
            <a:extLst>
              <a:ext uri="{FF2B5EF4-FFF2-40B4-BE49-F238E27FC236}">
                <a16:creationId xmlns:a16="http://schemas.microsoft.com/office/drawing/2014/main" id="{A083B1D8-0114-4F8B-B996-28EC5DEF97F2}"/>
              </a:ext>
            </a:extLst>
          </p:cNvPr>
          <p:cNvSpPr>
            <a:spLocks noGrp="1"/>
          </p:cNvSpPr>
          <p:nvPr/>
        </p:nvSpPr>
        <p:spPr>
          <a:xfrm>
            <a:off x="7810500" y="1733550"/>
            <a:ext cx="3714750" cy="4038600"/>
          </a:xfrm>
          <a:prstGeom prst="roundRect">
            <a:avLst>
              <a:gd name="adj" fmla="val 3590"/>
            </a:avLst>
          </a:prstGeom>
          <a:solidFill>
            <a:srgbClr val="204C3E"/>
          </a:solidFill>
          <a:ln w="0">
            <a:noFill/>
            <a:prstDash val="solid"/>
          </a:ln>
        </p:spPr>
        <p:txBody>
          <a:bodyPr/>
          <a:lstStyle/>
          <a:p>
            <a:endParaRPr lang="en-IN"/>
          </a:p>
        </p:txBody>
      </p:sp>
      <p:sp>
        <p:nvSpPr>
          <p:cNvPr id="6" name="Rectangle 5">
            <a:extLst>
              <a:ext uri="{FF2B5EF4-FFF2-40B4-BE49-F238E27FC236}">
                <a16:creationId xmlns:a16="http://schemas.microsoft.com/office/drawing/2014/main" id="{8AA3BB45-55A8-4AFD-ACE9-EFA7591DF200}"/>
              </a:ext>
            </a:extLst>
          </p:cNvPr>
          <p:cNvSpPr>
            <a:spLocks noGrp="1"/>
          </p:cNvSpPr>
          <p:nvPr/>
        </p:nvSpPr>
        <p:spPr>
          <a:xfrm>
            <a:off x="8134350" y="2114550"/>
            <a:ext cx="3143250" cy="323850"/>
          </a:xfrm>
          <a:prstGeom prst="rect">
            <a:avLst/>
          </a:prstGeom>
          <a:noFill/>
          <a:ln w="0">
            <a:noFill/>
            <a:prstDash val="solid"/>
          </a:ln>
        </p:spPr>
        <p:txBody>
          <a:bodyPr wrap="square" lIns="0" tIns="0" rIns="0" bIns="0" anchor="t">
            <a:normAutofit/>
          </a:bodyPr>
          <a:lstStyle/>
          <a:p>
            <a:pPr algn="l">
              <a:defRPr sz="1350" b="1" i="0">
                <a:solidFill>
                  <a:srgbClr val="C6E1CF"/>
                </a:solidFill>
                <a:latin typeface="Arial"/>
                <a:ea typeface="Arial"/>
                <a:cs typeface="Arial"/>
              </a:defRPr>
            </a:pPr>
            <a:r>
              <a:rPr sz="1350" b="1" i="0">
                <a:solidFill>
                  <a:srgbClr val="C6E1CF"/>
                </a:solidFill>
                <a:latin typeface="Arial"/>
                <a:ea typeface="Arial"/>
                <a:cs typeface="Arial"/>
              </a:rPr>
              <a:t>MATCH DISTANCE</a:t>
            </a:r>
          </a:p>
        </p:txBody>
      </p:sp>
      <p:sp>
        <p:nvSpPr>
          <p:cNvPr id="7" name="Rectangle 6">
            <a:extLst>
              <a:ext uri="{FF2B5EF4-FFF2-40B4-BE49-F238E27FC236}">
                <a16:creationId xmlns:a16="http://schemas.microsoft.com/office/drawing/2014/main" id="{B5785065-0EA1-4309-A670-0F1BAE812AC0}"/>
              </a:ext>
            </a:extLst>
          </p:cNvPr>
          <p:cNvSpPr>
            <a:spLocks noGrp="1"/>
          </p:cNvSpPr>
          <p:nvPr/>
        </p:nvSpPr>
        <p:spPr>
          <a:xfrm>
            <a:off x="8086725" y="2590800"/>
            <a:ext cx="3105150" cy="1057275"/>
          </a:xfrm>
          <a:prstGeom prst="rect">
            <a:avLst/>
          </a:prstGeom>
          <a:noFill/>
          <a:ln w="0">
            <a:noFill/>
            <a:prstDash val="solid"/>
          </a:ln>
        </p:spPr>
        <p:txBody>
          <a:bodyPr wrap="square" lIns="0" tIns="0" rIns="0" bIns="0" anchor="t">
            <a:normAutofit/>
          </a:bodyPr>
          <a:lstStyle/>
          <a:p>
            <a:pPr algn="l">
              <a:defRPr sz="5850" b="1" i="0">
                <a:solidFill>
                  <a:srgbClr val="FFFFFF"/>
                </a:solidFill>
                <a:latin typeface="Arial"/>
                <a:ea typeface="Arial"/>
                <a:cs typeface="Arial"/>
              </a:defRPr>
            </a:pPr>
            <a:r>
              <a:rPr sz="5850" b="1" i="0">
                <a:solidFill>
                  <a:srgbClr val="FFFFFF"/>
                </a:solidFill>
                <a:latin typeface="Arial"/>
                <a:ea typeface="Arial"/>
                <a:cs typeface="Arial"/>
              </a:rPr>
              <a:t>1.21</a:t>
            </a:r>
          </a:p>
        </p:txBody>
      </p:sp>
      <p:sp>
        <p:nvSpPr>
          <p:cNvPr id="8" name="Rectangle 7">
            <a:extLst>
              <a:ext uri="{FF2B5EF4-FFF2-40B4-BE49-F238E27FC236}">
                <a16:creationId xmlns:a16="http://schemas.microsoft.com/office/drawing/2014/main" id="{EC55F952-EDC7-49A4-AFB6-39559B4EB0BF}"/>
              </a:ext>
            </a:extLst>
          </p:cNvPr>
          <p:cNvSpPr>
            <a:spLocks noGrp="1"/>
          </p:cNvSpPr>
          <p:nvPr/>
        </p:nvSpPr>
        <p:spPr>
          <a:xfrm>
            <a:off x="8134350" y="3810000"/>
            <a:ext cx="914400" cy="38100"/>
          </a:xfrm>
          <a:prstGeom prst="rect">
            <a:avLst/>
          </a:prstGeom>
          <a:solidFill>
            <a:srgbClr val="E9784D"/>
          </a:solidFill>
          <a:ln w="0">
            <a:noFill/>
            <a:prstDash val="solid"/>
          </a:ln>
        </p:spPr>
        <p:txBody>
          <a:bodyPr/>
          <a:lstStyle/>
          <a:p>
            <a:endParaRPr lang="en-IN"/>
          </a:p>
        </p:txBody>
      </p:sp>
      <p:sp>
        <p:nvSpPr>
          <p:cNvPr id="9" name="Rectangle 8">
            <a:extLst>
              <a:ext uri="{FF2B5EF4-FFF2-40B4-BE49-F238E27FC236}">
                <a16:creationId xmlns:a16="http://schemas.microsoft.com/office/drawing/2014/main" id="{35B6CCA0-F860-406B-89E2-348D0E11DD50}"/>
              </a:ext>
            </a:extLst>
          </p:cNvPr>
          <p:cNvSpPr>
            <a:spLocks noGrp="1"/>
          </p:cNvSpPr>
          <p:nvPr/>
        </p:nvSpPr>
        <p:spPr>
          <a:xfrm>
            <a:off x="8134350" y="4095750"/>
            <a:ext cx="3105150" cy="466725"/>
          </a:xfrm>
          <a:prstGeom prst="rect">
            <a:avLst/>
          </a:prstGeom>
          <a:noFill/>
          <a:ln w="0">
            <a:noFill/>
            <a:prstDash val="solid"/>
          </a:ln>
        </p:spPr>
        <p:txBody>
          <a:bodyPr wrap="square" lIns="0" tIns="0" rIns="0" bIns="0" anchor="t">
            <a:normAutofit/>
          </a:bodyPr>
          <a:lstStyle/>
          <a:p>
            <a:pPr algn="l">
              <a:defRPr sz="2325" b="1" i="0">
                <a:solidFill>
                  <a:srgbClr val="FFFFFF"/>
                </a:solidFill>
                <a:latin typeface="Arial"/>
                <a:ea typeface="Arial"/>
                <a:cs typeface="Arial"/>
              </a:defRPr>
            </a:pPr>
            <a:r>
              <a:rPr sz="2325" b="1" i="0">
                <a:solidFill>
                  <a:srgbClr val="FFFFFF"/>
                </a:solidFill>
                <a:latin typeface="Arial"/>
                <a:ea typeface="Arial"/>
                <a:cs typeface="Arial"/>
              </a:rPr>
              <a:t>Shimla</a:t>
            </a:r>
          </a:p>
        </p:txBody>
      </p:sp>
      <p:sp>
        <p:nvSpPr>
          <p:cNvPr id="10" name="Rectangle 9">
            <a:extLst>
              <a:ext uri="{FF2B5EF4-FFF2-40B4-BE49-F238E27FC236}">
                <a16:creationId xmlns:a16="http://schemas.microsoft.com/office/drawing/2014/main" id="{441C83F9-EFE5-43CF-B5E8-D95585328400}"/>
              </a:ext>
            </a:extLst>
          </p:cNvPr>
          <p:cNvSpPr>
            <a:spLocks noGrp="1"/>
          </p:cNvSpPr>
          <p:nvPr/>
        </p:nvSpPr>
        <p:spPr>
          <a:xfrm>
            <a:off x="8134350" y="4657725"/>
            <a:ext cx="3095625" cy="847725"/>
          </a:xfrm>
          <a:prstGeom prst="rect">
            <a:avLst/>
          </a:prstGeom>
          <a:noFill/>
          <a:ln w="0">
            <a:noFill/>
            <a:prstDash val="solid"/>
          </a:ln>
        </p:spPr>
        <p:txBody>
          <a:bodyPr wrap="square" lIns="0" tIns="0" rIns="0" bIns="0" anchor="t">
            <a:normAutofit/>
          </a:bodyPr>
          <a:lstStyle/>
          <a:p>
            <a:pPr algn="l">
              <a:defRPr sz="1575" b="0" i="0">
                <a:solidFill>
                  <a:srgbClr val="E1EBE5"/>
                </a:solidFill>
                <a:latin typeface="Arial"/>
                <a:ea typeface="Arial"/>
                <a:cs typeface="Arial"/>
              </a:defRPr>
            </a:pPr>
            <a:r>
              <a:rPr sz="1575" b="0" i="0">
                <a:solidFill>
                  <a:srgbClr val="E1EBE5"/>
                </a:solidFill>
                <a:latin typeface="Arial"/>
                <a:ea typeface="Arial"/>
                <a:cs typeface="Arial"/>
              </a:rPr>
              <a:t>Ranked first for the worked example. The value is a scaled distance, not a percentage.</a:t>
            </a:r>
          </a:p>
        </p:txBody>
      </p:sp>
      <p:sp>
        <p:nvSpPr>
          <p:cNvPr id="11" name="Rectangle 10">
            <a:extLst>
              <a:ext uri="{FF2B5EF4-FFF2-40B4-BE49-F238E27FC236}">
                <a16:creationId xmlns:a16="http://schemas.microsoft.com/office/drawing/2014/main" id="{242C1A0F-19D0-4AB2-8B9A-47352D6F6B08}"/>
              </a:ext>
            </a:extLst>
          </p:cNvPr>
          <p:cNvSpPr>
            <a:spLocks noGrp="1"/>
          </p:cNvSpPr>
          <p:nvPr/>
        </p:nvSpPr>
        <p:spPr>
          <a:xfrm>
            <a:off x="666750" y="1809750"/>
            <a:ext cx="6381750" cy="361950"/>
          </a:xfrm>
          <a:prstGeom prst="rect">
            <a:avLst/>
          </a:prstGeom>
          <a:noFill/>
          <a:ln w="0">
            <a:noFill/>
            <a:prstDash val="solid"/>
          </a:ln>
        </p:spPr>
        <p:txBody>
          <a:bodyPr wrap="square" lIns="0" tIns="0" rIns="0" bIns="0" anchor="t">
            <a:normAutofit/>
          </a:bodyPr>
          <a:lstStyle/>
          <a:p>
            <a:pPr algn="l">
              <a:defRPr sz="1950" b="1" i="0">
                <a:solidFill>
                  <a:srgbClr val="2D6651"/>
                </a:solidFill>
                <a:latin typeface="Arial"/>
                <a:ea typeface="Arial"/>
                <a:cs typeface="Arial"/>
              </a:defRPr>
            </a:pPr>
            <a:r>
              <a:rPr sz="1950" b="1" i="0">
                <a:solidFill>
                  <a:srgbClr val="2D6651"/>
                </a:solidFill>
                <a:latin typeface="Arial"/>
                <a:ea typeface="Arial"/>
                <a:cs typeface="Arial"/>
              </a:rPr>
              <a:t>In each result</a:t>
            </a:r>
          </a:p>
        </p:txBody>
      </p:sp>
      <p:sp>
        <p:nvSpPr>
          <p:cNvPr id="12" name="Rectangle 11">
            <a:extLst>
              <a:ext uri="{FF2B5EF4-FFF2-40B4-BE49-F238E27FC236}">
                <a16:creationId xmlns:a16="http://schemas.microsoft.com/office/drawing/2014/main" id="{648E147A-A87F-4351-A135-9AE9649CCC51}"/>
              </a:ext>
            </a:extLst>
          </p:cNvPr>
          <p:cNvSpPr>
            <a:spLocks noGrp="1"/>
          </p:cNvSpPr>
          <p:nvPr/>
        </p:nvSpPr>
        <p:spPr>
          <a:xfrm>
            <a:off x="685800" y="2371725"/>
            <a:ext cx="476250" cy="342900"/>
          </a:xfrm>
          <a:prstGeom prst="rect">
            <a:avLst/>
          </a:prstGeom>
          <a:noFill/>
          <a:ln w="0">
            <a:noFill/>
            <a:prstDash val="solid"/>
          </a:ln>
        </p:spPr>
        <p:txBody>
          <a:bodyPr wrap="square" lIns="0" tIns="0" rIns="0" bIns="0" anchor="t">
            <a:normAutofit/>
          </a:bodyPr>
          <a:lstStyle/>
          <a:p>
            <a:pPr algn="l">
              <a:defRPr sz="1650" b="1" i="0">
                <a:solidFill>
                  <a:srgbClr val="E9784D"/>
                </a:solidFill>
                <a:latin typeface="Arial"/>
                <a:ea typeface="Arial"/>
                <a:cs typeface="Arial"/>
              </a:defRPr>
            </a:pPr>
            <a:r>
              <a:rPr sz="1650" b="1" i="0">
                <a:solidFill>
                  <a:srgbClr val="E9784D"/>
                </a:solidFill>
                <a:latin typeface="Arial"/>
                <a:ea typeface="Arial"/>
                <a:cs typeface="Arial"/>
              </a:rPr>
              <a:t>01</a:t>
            </a:r>
          </a:p>
        </p:txBody>
      </p:sp>
      <p:sp>
        <p:nvSpPr>
          <p:cNvPr id="13" name="Rectangle 12">
            <a:extLst>
              <a:ext uri="{FF2B5EF4-FFF2-40B4-BE49-F238E27FC236}">
                <a16:creationId xmlns:a16="http://schemas.microsoft.com/office/drawing/2014/main" id="{CFF7A880-C06B-4510-AEA6-B24C441882B5}"/>
              </a:ext>
            </a:extLst>
          </p:cNvPr>
          <p:cNvSpPr>
            <a:spLocks noGrp="1"/>
          </p:cNvSpPr>
          <p:nvPr/>
        </p:nvSpPr>
        <p:spPr>
          <a:xfrm>
            <a:off x="1304925" y="2362200"/>
            <a:ext cx="5334000" cy="323850"/>
          </a:xfrm>
          <a:prstGeom prst="rect">
            <a:avLst/>
          </a:prstGeom>
          <a:noFill/>
          <a:ln w="0">
            <a:noFill/>
            <a:prstDash val="solid"/>
          </a:ln>
        </p:spPr>
        <p:txBody>
          <a:bodyPr wrap="square" lIns="0" tIns="0" rIns="0" bIns="0" anchor="t">
            <a:normAutofit/>
          </a:bodyPr>
          <a:lstStyle/>
          <a:p>
            <a:pPr algn="l">
              <a:defRPr sz="1575" b="1" i="0">
                <a:solidFill>
                  <a:srgbClr val="18382E"/>
                </a:solidFill>
                <a:latin typeface="Arial"/>
                <a:ea typeface="Arial"/>
                <a:cs typeface="Arial"/>
              </a:defRPr>
            </a:pPr>
            <a:r>
              <a:rPr sz="1575" b="1" i="0">
                <a:solidFill>
                  <a:srgbClr val="18382E"/>
                </a:solidFill>
                <a:latin typeface="Arial"/>
                <a:ea typeface="Arial"/>
                <a:cs typeface="Arial"/>
              </a:rPr>
              <a:t>Destination and location</a:t>
            </a:r>
          </a:p>
        </p:txBody>
      </p:sp>
      <p:sp>
        <p:nvSpPr>
          <p:cNvPr id="14" name="Rectangle 13">
            <a:extLst>
              <a:ext uri="{FF2B5EF4-FFF2-40B4-BE49-F238E27FC236}">
                <a16:creationId xmlns:a16="http://schemas.microsoft.com/office/drawing/2014/main" id="{1C32CF58-788C-4908-9769-D7F64B8E72C0}"/>
              </a:ext>
            </a:extLst>
          </p:cNvPr>
          <p:cNvSpPr>
            <a:spLocks noGrp="1"/>
          </p:cNvSpPr>
          <p:nvPr/>
        </p:nvSpPr>
        <p:spPr>
          <a:xfrm>
            <a:off x="1304925" y="2695575"/>
            <a:ext cx="5381625" cy="457200"/>
          </a:xfrm>
          <a:prstGeom prst="rect">
            <a:avLst/>
          </a:prstGeom>
          <a:noFill/>
          <a:ln w="0">
            <a:noFill/>
            <a:prstDash val="solid"/>
          </a:ln>
        </p:spPr>
        <p:txBody>
          <a:bodyPr wrap="square" lIns="0" tIns="0" rIns="0" bIns="0" anchor="t">
            <a:normAutofit/>
          </a:bodyPr>
          <a:lstStyle/>
          <a:p>
            <a:pPr algn="l">
              <a:defRPr sz="1425" b="0" i="0">
                <a:solidFill>
                  <a:srgbClr val="65766D"/>
                </a:solidFill>
                <a:latin typeface="Arial"/>
                <a:ea typeface="Arial"/>
                <a:cs typeface="Arial"/>
              </a:defRPr>
            </a:pPr>
            <a:r>
              <a:rPr sz="1425" b="0" i="0">
                <a:solidFill>
                  <a:srgbClr val="65766D"/>
                </a:solidFill>
                <a:latin typeface="Arial"/>
                <a:ea typeface="Arial"/>
                <a:cs typeface="Arial"/>
              </a:rPr>
              <a:t>Name, state and region identify the matched row.</a:t>
            </a:r>
          </a:p>
        </p:txBody>
      </p:sp>
      <p:sp>
        <p:nvSpPr>
          <p:cNvPr id="15" name="Rectangle 14">
            <a:extLst>
              <a:ext uri="{FF2B5EF4-FFF2-40B4-BE49-F238E27FC236}">
                <a16:creationId xmlns:a16="http://schemas.microsoft.com/office/drawing/2014/main" id="{69CD0B86-AA01-443C-B70A-1996AD2AA63A}"/>
              </a:ext>
            </a:extLst>
          </p:cNvPr>
          <p:cNvSpPr>
            <a:spLocks noGrp="1"/>
          </p:cNvSpPr>
          <p:nvPr/>
        </p:nvSpPr>
        <p:spPr>
          <a:xfrm>
            <a:off x="685800" y="3209925"/>
            <a:ext cx="476250" cy="342900"/>
          </a:xfrm>
          <a:prstGeom prst="rect">
            <a:avLst/>
          </a:prstGeom>
          <a:noFill/>
          <a:ln w="0">
            <a:noFill/>
            <a:prstDash val="solid"/>
          </a:ln>
        </p:spPr>
        <p:txBody>
          <a:bodyPr wrap="square" lIns="0" tIns="0" rIns="0" bIns="0" anchor="t">
            <a:normAutofit/>
          </a:bodyPr>
          <a:lstStyle/>
          <a:p>
            <a:pPr algn="l">
              <a:defRPr sz="1650" b="1" i="0">
                <a:solidFill>
                  <a:srgbClr val="E9784D"/>
                </a:solidFill>
                <a:latin typeface="Arial"/>
                <a:ea typeface="Arial"/>
                <a:cs typeface="Arial"/>
              </a:defRPr>
            </a:pPr>
            <a:r>
              <a:rPr sz="1650" b="1" i="0">
                <a:solidFill>
                  <a:srgbClr val="E9784D"/>
                </a:solidFill>
                <a:latin typeface="Arial"/>
                <a:ea typeface="Arial"/>
                <a:cs typeface="Arial"/>
              </a:rPr>
              <a:t>02</a:t>
            </a:r>
          </a:p>
        </p:txBody>
      </p:sp>
      <p:sp>
        <p:nvSpPr>
          <p:cNvPr id="16" name="Rectangle 15">
            <a:extLst>
              <a:ext uri="{FF2B5EF4-FFF2-40B4-BE49-F238E27FC236}">
                <a16:creationId xmlns:a16="http://schemas.microsoft.com/office/drawing/2014/main" id="{7DF01F78-C62D-4667-B7B4-61687394B055}"/>
              </a:ext>
            </a:extLst>
          </p:cNvPr>
          <p:cNvSpPr>
            <a:spLocks noGrp="1"/>
          </p:cNvSpPr>
          <p:nvPr/>
        </p:nvSpPr>
        <p:spPr>
          <a:xfrm>
            <a:off x="1304925" y="3200400"/>
            <a:ext cx="5334000" cy="323850"/>
          </a:xfrm>
          <a:prstGeom prst="rect">
            <a:avLst/>
          </a:prstGeom>
          <a:noFill/>
          <a:ln w="0">
            <a:noFill/>
            <a:prstDash val="solid"/>
          </a:ln>
        </p:spPr>
        <p:txBody>
          <a:bodyPr wrap="square" lIns="0" tIns="0" rIns="0" bIns="0" anchor="t">
            <a:normAutofit/>
          </a:bodyPr>
          <a:lstStyle/>
          <a:p>
            <a:pPr algn="l">
              <a:defRPr sz="1575" b="1" i="0">
                <a:solidFill>
                  <a:srgbClr val="18382E"/>
                </a:solidFill>
                <a:latin typeface="Arial"/>
                <a:ea typeface="Arial"/>
                <a:cs typeface="Arial"/>
              </a:defRPr>
            </a:pPr>
            <a:r>
              <a:rPr sz="1575" b="1" i="0">
                <a:solidFill>
                  <a:srgbClr val="18382E"/>
                </a:solidFill>
                <a:latin typeface="Arial"/>
                <a:ea typeface="Arial"/>
                <a:cs typeface="Arial"/>
              </a:rPr>
              <a:t>Estimated trip budget and stay</a:t>
            </a:r>
          </a:p>
        </p:txBody>
      </p:sp>
      <p:sp>
        <p:nvSpPr>
          <p:cNvPr id="17" name="Rectangle 16">
            <a:extLst>
              <a:ext uri="{FF2B5EF4-FFF2-40B4-BE49-F238E27FC236}">
                <a16:creationId xmlns:a16="http://schemas.microsoft.com/office/drawing/2014/main" id="{5ACC0018-CDF6-47C8-8AF9-AE1B8E73D19C}"/>
              </a:ext>
            </a:extLst>
          </p:cNvPr>
          <p:cNvSpPr>
            <a:spLocks noGrp="1"/>
          </p:cNvSpPr>
          <p:nvPr/>
        </p:nvSpPr>
        <p:spPr>
          <a:xfrm>
            <a:off x="1304925" y="3533775"/>
            <a:ext cx="5381625" cy="457200"/>
          </a:xfrm>
          <a:prstGeom prst="rect">
            <a:avLst/>
          </a:prstGeom>
          <a:noFill/>
          <a:ln w="0">
            <a:noFill/>
            <a:prstDash val="solid"/>
          </a:ln>
        </p:spPr>
        <p:txBody>
          <a:bodyPr wrap="square" lIns="0" tIns="0" rIns="0" bIns="0" anchor="t">
            <a:normAutofit/>
          </a:bodyPr>
          <a:lstStyle/>
          <a:p>
            <a:pPr algn="l">
              <a:defRPr sz="1425" b="0" i="0">
                <a:solidFill>
                  <a:srgbClr val="65766D"/>
                </a:solidFill>
                <a:latin typeface="Arial"/>
                <a:ea typeface="Arial"/>
                <a:cs typeface="Arial"/>
              </a:defRPr>
            </a:pPr>
            <a:r>
              <a:rPr sz="1425" b="0" i="0">
                <a:solidFill>
                  <a:srgbClr val="65766D"/>
                </a:solidFill>
                <a:latin typeface="Arial"/>
                <a:ea typeface="Arial"/>
                <a:cs typeface="Arial"/>
              </a:rPr>
              <a:t>Read these as illustrative profile values.</a:t>
            </a:r>
          </a:p>
        </p:txBody>
      </p:sp>
      <p:sp>
        <p:nvSpPr>
          <p:cNvPr id="18" name="Rectangle 17">
            <a:extLst>
              <a:ext uri="{FF2B5EF4-FFF2-40B4-BE49-F238E27FC236}">
                <a16:creationId xmlns:a16="http://schemas.microsoft.com/office/drawing/2014/main" id="{7B0F251A-6EA4-465B-877F-8AC2958CF5B5}"/>
              </a:ext>
            </a:extLst>
          </p:cNvPr>
          <p:cNvSpPr>
            <a:spLocks noGrp="1"/>
          </p:cNvSpPr>
          <p:nvPr/>
        </p:nvSpPr>
        <p:spPr>
          <a:xfrm>
            <a:off x="685800" y="4048125"/>
            <a:ext cx="476250" cy="342900"/>
          </a:xfrm>
          <a:prstGeom prst="rect">
            <a:avLst/>
          </a:prstGeom>
          <a:noFill/>
          <a:ln w="0">
            <a:noFill/>
            <a:prstDash val="solid"/>
          </a:ln>
        </p:spPr>
        <p:txBody>
          <a:bodyPr wrap="square" lIns="0" tIns="0" rIns="0" bIns="0" anchor="t">
            <a:normAutofit/>
          </a:bodyPr>
          <a:lstStyle/>
          <a:p>
            <a:pPr algn="l">
              <a:defRPr sz="1650" b="1" i="0">
                <a:solidFill>
                  <a:srgbClr val="E9784D"/>
                </a:solidFill>
                <a:latin typeface="Arial"/>
                <a:ea typeface="Arial"/>
                <a:cs typeface="Arial"/>
              </a:defRPr>
            </a:pPr>
            <a:r>
              <a:rPr sz="1650" b="1" i="0">
                <a:solidFill>
                  <a:srgbClr val="E9784D"/>
                </a:solidFill>
                <a:latin typeface="Arial"/>
                <a:ea typeface="Arial"/>
                <a:cs typeface="Arial"/>
              </a:rPr>
              <a:t>03</a:t>
            </a:r>
          </a:p>
        </p:txBody>
      </p:sp>
      <p:sp>
        <p:nvSpPr>
          <p:cNvPr id="19" name="Rectangle 18">
            <a:extLst>
              <a:ext uri="{FF2B5EF4-FFF2-40B4-BE49-F238E27FC236}">
                <a16:creationId xmlns:a16="http://schemas.microsoft.com/office/drawing/2014/main" id="{E35C8B5F-B38B-4C35-A728-3341B747E0C0}"/>
              </a:ext>
            </a:extLst>
          </p:cNvPr>
          <p:cNvSpPr>
            <a:spLocks noGrp="1"/>
          </p:cNvSpPr>
          <p:nvPr/>
        </p:nvSpPr>
        <p:spPr>
          <a:xfrm>
            <a:off x="1304925" y="4038600"/>
            <a:ext cx="5334000" cy="323850"/>
          </a:xfrm>
          <a:prstGeom prst="rect">
            <a:avLst/>
          </a:prstGeom>
          <a:noFill/>
          <a:ln w="0">
            <a:noFill/>
            <a:prstDash val="solid"/>
          </a:ln>
        </p:spPr>
        <p:txBody>
          <a:bodyPr wrap="square" lIns="0" tIns="0" rIns="0" bIns="0" anchor="t">
            <a:normAutofit/>
          </a:bodyPr>
          <a:lstStyle/>
          <a:p>
            <a:pPr algn="l">
              <a:defRPr sz="1575" b="1" i="0">
                <a:solidFill>
                  <a:srgbClr val="18382E"/>
                </a:solidFill>
                <a:latin typeface="Arial"/>
                <a:ea typeface="Arial"/>
                <a:cs typeface="Arial"/>
              </a:defRPr>
            </a:pPr>
            <a:r>
              <a:rPr sz="1575" b="1" i="0">
                <a:solidFill>
                  <a:srgbClr val="18382E"/>
                </a:solidFill>
                <a:latin typeface="Arial"/>
                <a:ea typeface="Arial"/>
                <a:cs typeface="Arial"/>
              </a:rPr>
              <a:t>Match distance</a:t>
            </a:r>
          </a:p>
        </p:txBody>
      </p:sp>
      <p:sp>
        <p:nvSpPr>
          <p:cNvPr id="20" name="Rectangle 19">
            <a:extLst>
              <a:ext uri="{FF2B5EF4-FFF2-40B4-BE49-F238E27FC236}">
                <a16:creationId xmlns:a16="http://schemas.microsoft.com/office/drawing/2014/main" id="{336EDFB6-048E-4418-BDDF-D111CA1DA807}"/>
              </a:ext>
            </a:extLst>
          </p:cNvPr>
          <p:cNvSpPr>
            <a:spLocks noGrp="1"/>
          </p:cNvSpPr>
          <p:nvPr/>
        </p:nvSpPr>
        <p:spPr>
          <a:xfrm>
            <a:off x="1304925" y="4371975"/>
            <a:ext cx="5381625" cy="457200"/>
          </a:xfrm>
          <a:prstGeom prst="rect">
            <a:avLst/>
          </a:prstGeom>
          <a:noFill/>
          <a:ln w="0">
            <a:noFill/>
            <a:prstDash val="solid"/>
          </a:ln>
        </p:spPr>
        <p:txBody>
          <a:bodyPr wrap="square" lIns="0" tIns="0" rIns="0" bIns="0" anchor="t">
            <a:normAutofit/>
          </a:bodyPr>
          <a:lstStyle/>
          <a:p>
            <a:pPr algn="l">
              <a:defRPr sz="1425" b="0" i="0">
                <a:solidFill>
                  <a:srgbClr val="65766D"/>
                </a:solidFill>
                <a:latin typeface="Arial"/>
                <a:ea typeface="Arial"/>
                <a:cs typeface="Arial"/>
              </a:defRPr>
            </a:pPr>
            <a:r>
              <a:rPr sz="1425" b="0" i="0">
                <a:solidFill>
                  <a:srgbClr val="65766D"/>
                </a:solidFill>
                <a:latin typeface="Arial"/>
                <a:ea typeface="Arial"/>
                <a:cs typeface="Arial"/>
              </a:rPr>
              <a:t>Smaller values mean closer profile distance.</a:t>
            </a:r>
          </a:p>
        </p:txBody>
      </p:sp>
      <p:sp>
        <p:nvSpPr>
          <p:cNvPr id="21" name="Rectangle 20">
            <a:extLst>
              <a:ext uri="{FF2B5EF4-FFF2-40B4-BE49-F238E27FC236}">
                <a16:creationId xmlns:a16="http://schemas.microsoft.com/office/drawing/2014/main" id="{1949AB4F-A8FA-48B0-9AC8-AC2B842A80ED}"/>
              </a:ext>
            </a:extLst>
          </p:cNvPr>
          <p:cNvSpPr>
            <a:spLocks noGrp="1"/>
          </p:cNvSpPr>
          <p:nvPr/>
        </p:nvSpPr>
        <p:spPr>
          <a:xfrm>
            <a:off x="685800" y="4886325"/>
            <a:ext cx="476250" cy="342900"/>
          </a:xfrm>
          <a:prstGeom prst="rect">
            <a:avLst/>
          </a:prstGeom>
          <a:noFill/>
          <a:ln w="0">
            <a:noFill/>
            <a:prstDash val="solid"/>
          </a:ln>
        </p:spPr>
        <p:txBody>
          <a:bodyPr wrap="square" lIns="0" tIns="0" rIns="0" bIns="0" anchor="t">
            <a:normAutofit/>
          </a:bodyPr>
          <a:lstStyle/>
          <a:p>
            <a:pPr algn="l">
              <a:defRPr sz="1650" b="1" i="0">
                <a:solidFill>
                  <a:srgbClr val="E9784D"/>
                </a:solidFill>
                <a:latin typeface="Arial"/>
                <a:ea typeface="Arial"/>
                <a:cs typeface="Arial"/>
              </a:defRPr>
            </a:pPr>
            <a:r>
              <a:rPr sz="1650" b="1" i="0">
                <a:solidFill>
                  <a:srgbClr val="E9784D"/>
                </a:solidFill>
                <a:latin typeface="Arial"/>
                <a:ea typeface="Arial"/>
                <a:cs typeface="Arial"/>
              </a:rPr>
              <a:t>04</a:t>
            </a:r>
          </a:p>
        </p:txBody>
      </p:sp>
      <p:sp>
        <p:nvSpPr>
          <p:cNvPr id="22" name="Rectangle 21">
            <a:extLst>
              <a:ext uri="{FF2B5EF4-FFF2-40B4-BE49-F238E27FC236}">
                <a16:creationId xmlns:a16="http://schemas.microsoft.com/office/drawing/2014/main" id="{E0107E87-F413-4AD1-8D8D-0F0F59441182}"/>
              </a:ext>
            </a:extLst>
          </p:cNvPr>
          <p:cNvSpPr>
            <a:spLocks noGrp="1"/>
          </p:cNvSpPr>
          <p:nvPr/>
        </p:nvSpPr>
        <p:spPr>
          <a:xfrm>
            <a:off x="1304925" y="4876800"/>
            <a:ext cx="5334000" cy="323850"/>
          </a:xfrm>
          <a:prstGeom prst="rect">
            <a:avLst/>
          </a:prstGeom>
          <a:noFill/>
          <a:ln w="0">
            <a:noFill/>
            <a:prstDash val="solid"/>
          </a:ln>
        </p:spPr>
        <p:txBody>
          <a:bodyPr wrap="square" lIns="0" tIns="0" rIns="0" bIns="0" anchor="t">
            <a:normAutofit/>
          </a:bodyPr>
          <a:lstStyle/>
          <a:p>
            <a:pPr algn="l">
              <a:defRPr sz="1575" b="1" i="0">
                <a:solidFill>
                  <a:srgbClr val="18382E"/>
                </a:solidFill>
                <a:latin typeface="Arial"/>
                <a:ea typeface="Arial"/>
                <a:cs typeface="Arial"/>
              </a:defRPr>
            </a:pPr>
            <a:r>
              <a:rPr sz="1575" b="1" i="0">
                <a:solidFill>
                  <a:srgbClr val="18382E"/>
                </a:solidFill>
                <a:latin typeface="Arial"/>
                <a:ea typeface="Arial"/>
                <a:cs typeface="Arial"/>
              </a:rPr>
              <a:t>Interest explanation</a:t>
            </a:r>
          </a:p>
        </p:txBody>
      </p:sp>
      <p:sp>
        <p:nvSpPr>
          <p:cNvPr id="23" name="Rectangle 22">
            <a:extLst>
              <a:ext uri="{FF2B5EF4-FFF2-40B4-BE49-F238E27FC236}">
                <a16:creationId xmlns:a16="http://schemas.microsoft.com/office/drawing/2014/main" id="{DEEA3A65-DF10-4142-A629-1F6305D62152}"/>
              </a:ext>
            </a:extLst>
          </p:cNvPr>
          <p:cNvSpPr>
            <a:spLocks noGrp="1"/>
          </p:cNvSpPr>
          <p:nvPr/>
        </p:nvSpPr>
        <p:spPr>
          <a:xfrm>
            <a:off x="1304925" y="5210175"/>
            <a:ext cx="5381625" cy="457200"/>
          </a:xfrm>
          <a:prstGeom prst="rect">
            <a:avLst/>
          </a:prstGeom>
          <a:noFill/>
          <a:ln w="0">
            <a:noFill/>
            <a:prstDash val="solid"/>
          </a:ln>
        </p:spPr>
        <p:txBody>
          <a:bodyPr wrap="square" lIns="0" tIns="0" rIns="0" bIns="0" anchor="t">
            <a:normAutofit/>
          </a:bodyPr>
          <a:lstStyle/>
          <a:p>
            <a:pPr algn="l">
              <a:defRPr sz="1425" b="0" i="0">
                <a:solidFill>
                  <a:srgbClr val="65766D"/>
                </a:solidFill>
                <a:latin typeface="Arial"/>
                <a:ea typeface="Arial"/>
                <a:cs typeface="Arial"/>
              </a:defRPr>
            </a:pPr>
            <a:r>
              <a:rPr sz="1425" b="0" i="0">
                <a:solidFill>
                  <a:srgbClr val="65766D"/>
                </a:solidFill>
                <a:latin typeface="Arial"/>
                <a:ea typeface="Arial"/>
                <a:cs typeface="Arial"/>
              </a:rPr>
              <a:t>Expand the result to compare the four interest scores.</a:t>
            </a:r>
          </a:p>
        </p:txBody>
      </p:sp>
      <p:sp>
        <p:nvSpPr>
          <p:cNvPr id="24" name="Rectangle 23">
            <a:extLst>
              <a:ext uri="{FF2B5EF4-FFF2-40B4-BE49-F238E27FC236}">
                <a16:creationId xmlns:a16="http://schemas.microsoft.com/office/drawing/2014/main" id="{6BBE1F11-CBE0-48D8-BE02-FF78F7580285}"/>
              </a:ext>
            </a:extLst>
          </p:cNvPr>
          <p:cNvSpPr>
            <a:spLocks noGrp="1"/>
          </p:cNvSpPr>
          <p:nvPr/>
        </p:nvSpPr>
        <p:spPr>
          <a:xfrm>
            <a:off x="676275" y="5934075"/>
            <a:ext cx="6743700" cy="285750"/>
          </a:xfrm>
          <a:prstGeom prst="rect">
            <a:avLst/>
          </a:prstGeom>
          <a:noFill/>
          <a:ln w="0">
            <a:noFill/>
            <a:prstDash val="solid"/>
          </a:ln>
        </p:spPr>
        <p:txBody>
          <a:bodyPr wrap="square" lIns="0" tIns="0" rIns="0" bIns="0" anchor="t">
            <a:normAutofit/>
          </a:bodyPr>
          <a:lstStyle/>
          <a:p>
            <a:pPr algn="l">
              <a:defRPr sz="1500" b="1" i="0">
                <a:solidFill>
                  <a:srgbClr val="204C3E"/>
                </a:solidFill>
                <a:latin typeface="Arial"/>
                <a:ea typeface="Arial"/>
                <a:cs typeface="Arial"/>
              </a:defRPr>
            </a:pPr>
            <a:r>
              <a:rPr sz="1500" b="1" i="0">
                <a:solidFill>
                  <a:srgbClr val="204C3E"/>
                </a:solidFill>
                <a:latin typeface="Arial"/>
                <a:ea typeface="Arial"/>
                <a:cs typeface="Arial"/>
              </a:rPr>
              <a:t>A low distance is not a probability or a guarantee of trip fit.</a:t>
            </a:r>
          </a:p>
        </p:txBody>
      </p:sp>
    </p:spTree>
    <p:extLst>
      <p:ext uri="{BB962C8B-B14F-4D97-AF65-F5344CB8AC3E}">
        <p14:creationId xmlns:p14="http://schemas.microsoft.com/office/powerpoint/2010/main" val="638419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B0E4E50-7B9F-47F0-9B49-1A93BCAADC4E}"/>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How the project is implemented</a:t>
            </a:r>
          </a:p>
        </p:txBody>
      </p:sp>
      <p:sp>
        <p:nvSpPr>
          <p:cNvPr id="2" name="Rectangle 1">
            <a:extLst>
              <a:ext uri="{FF2B5EF4-FFF2-40B4-BE49-F238E27FC236}">
                <a16:creationId xmlns:a16="http://schemas.microsoft.com/office/drawing/2014/main" id="{783B3528-CE86-4D8A-9CF6-62BC077CCBE0}"/>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A small Streamlit app connects the CSV, the distance search and the result view.</a:t>
            </a:r>
          </a:p>
        </p:txBody>
      </p:sp>
      <p:sp>
        <p:nvSpPr>
          <p:cNvPr id="3" name="Rectangle 2">
            <a:extLst>
              <a:ext uri="{FF2B5EF4-FFF2-40B4-BE49-F238E27FC236}">
                <a16:creationId xmlns:a16="http://schemas.microsoft.com/office/drawing/2014/main" id="{D04A3986-D45F-4005-B086-69C4A6CB76D3}"/>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62327198-D6A4-411E-9657-F8E80A796CAA}"/>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12</a:t>
            </a:r>
          </a:p>
        </p:txBody>
      </p:sp>
      <p:sp>
        <p:nvSpPr>
          <p:cNvPr id="5" name="Rectangle 4">
            <a:extLst>
              <a:ext uri="{FF2B5EF4-FFF2-40B4-BE49-F238E27FC236}">
                <a16:creationId xmlns:a16="http://schemas.microsoft.com/office/drawing/2014/main" id="{0975E04B-6CD4-41BC-B868-126A8CD54CA3}"/>
              </a:ext>
            </a:extLst>
          </p:cNvPr>
          <p:cNvSpPr>
            <a:spLocks noGrp="1"/>
          </p:cNvSpPr>
          <p:nvPr/>
        </p:nvSpPr>
        <p:spPr>
          <a:xfrm>
            <a:off x="714375" y="1828800"/>
            <a:ext cx="495300" cy="381000"/>
          </a:xfrm>
          <a:prstGeom prst="rect">
            <a:avLst/>
          </a:prstGeom>
          <a:noFill/>
          <a:ln w="0">
            <a:noFill/>
            <a:prstDash val="solid"/>
          </a:ln>
        </p:spPr>
        <p:txBody>
          <a:bodyPr wrap="square" lIns="0" tIns="0" rIns="0" bIns="0" anchor="t">
            <a:normAutofit/>
          </a:bodyPr>
          <a:lstStyle/>
          <a:p>
            <a:pPr algn="l">
              <a:defRPr sz="1875" b="1" i="0">
                <a:solidFill>
                  <a:srgbClr val="E9784D"/>
                </a:solidFill>
                <a:latin typeface="Arial"/>
                <a:ea typeface="Arial"/>
                <a:cs typeface="Arial"/>
              </a:defRPr>
            </a:pPr>
            <a:r>
              <a:rPr sz="1875" b="1" i="0">
                <a:solidFill>
                  <a:srgbClr val="E9784D"/>
                </a:solidFill>
                <a:latin typeface="Arial"/>
                <a:ea typeface="Arial"/>
                <a:cs typeface="Arial"/>
              </a:rPr>
              <a:t>01</a:t>
            </a:r>
          </a:p>
        </p:txBody>
      </p:sp>
      <p:sp>
        <p:nvSpPr>
          <p:cNvPr id="6" name="Rectangle 5">
            <a:extLst>
              <a:ext uri="{FF2B5EF4-FFF2-40B4-BE49-F238E27FC236}">
                <a16:creationId xmlns:a16="http://schemas.microsoft.com/office/drawing/2014/main" id="{87A4564F-2C9C-4124-A6B3-EDD57E643BC7}"/>
              </a:ext>
            </a:extLst>
          </p:cNvPr>
          <p:cNvSpPr>
            <a:spLocks noGrp="1"/>
          </p:cNvSpPr>
          <p:nvPr/>
        </p:nvSpPr>
        <p:spPr>
          <a:xfrm>
            <a:off x="1409700" y="1828800"/>
            <a:ext cx="2409825" cy="381000"/>
          </a:xfrm>
          <a:prstGeom prst="rect">
            <a:avLst/>
          </a:prstGeom>
          <a:noFill/>
          <a:ln w="0">
            <a:noFill/>
            <a:prstDash val="solid"/>
          </a:ln>
        </p:spPr>
        <p:txBody>
          <a:bodyPr wrap="square" lIns="0" tIns="0" rIns="0" bIns="0" anchor="t">
            <a:normAutofit/>
          </a:bodyPr>
          <a:lstStyle/>
          <a:p>
            <a:pPr algn="l">
              <a:defRPr sz="1950" b="1" i="0">
                <a:solidFill>
                  <a:srgbClr val="18382E"/>
                </a:solidFill>
                <a:latin typeface="Arial"/>
                <a:ea typeface="Arial"/>
                <a:cs typeface="Arial"/>
              </a:defRPr>
            </a:pPr>
            <a:r>
              <a:rPr sz="1950" b="1" i="0">
                <a:solidFill>
                  <a:srgbClr val="18382E"/>
                </a:solidFill>
                <a:latin typeface="Arial"/>
                <a:ea typeface="Arial"/>
                <a:cs typeface="Arial"/>
              </a:rPr>
              <a:t>Streamlit</a:t>
            </a:r>
          </a:p>
        </p:txBody>
      </p:sp>
      <p:sp>
        <p:nvSpPr>
          <p:cNvPr id="7" name="Rectangle 6">
            <a:extLst>
              <a:ext uri="{FF2B5EF4-FFF2-40B4-BE49-F238E27FC236}">
                <a16:creationId xmlns:a16="http://schemas.microsoft.com/office/drawing/2014/main" id="{57318D4F-2A24-49CA-86C2-9B241396AF5C}"/>
              </a:ext>
            </a:extLst>
          </p:cNvPr>
          <p:cNvSpPr>
            <a:spLocks noGrp="1"/>
          </p:cNvSpPr>
          <p:nvPr/>
        </p:nvSpPr>
        <p:spPr>
          <a:xfrm>
            <a:off x="4010025" y="1895475"/>
            <a:ext cx="514350" cy="19050"/>
          </a:xfrm>
          <a:prstGeom prst="rect">
            <a:avLst/>
          </a:prstGeom>
          <a:solidFill>
            <a:srgbClr val="2D6651"/>
          </a:solidFill>
          <a:ln w="0">
            <a:noFill/>
            <a:prstDash val="solid"/>
          </a:ln>
        </p:spPr>
        <p:txBody>
          <a:bodyPr/>
          <a:lstStyle/>
          <a:p>
            <a:endParaRPr lang="en-IN"/>
          </a:p>
        </p:txBody>
      </p:sp>
      <p:sp>
        <p:nvSpPr>
          <p:cNvPr id="8" name="Rectangle 7">
            <a:extLst>
              <a:ext uri="{FF2B5EF4-FFF2-40B4-BE49-F238E27FC236}">
                <a16:creationId xmlns:a16="http://schemas.microsoft.com/office/drawing/2014/main" id="{E8F0A8D8-8952-4D67-9F35-1075EFB8067A}"/>
              </a:ext>
            </a:extLst>
          </p:cNvPr>
          <p:cNvSpPr>
            <a:spLocks noGrp="1"/>
          </p:cNvSpPr>
          <p:nvPr/>
        </p:nvSpPr>
        <p:spPr>
          <a:xfrm>
            <a:off x="4810125" y="1809750"/>
            <a:ext cx="6191250" cy="657225"/>
          </a:xfrm>
          <a:prstGeom prst="rect">
            <a:avLst/>
          </a:prstGeom>
          <a:noFill/>
          <a:ln w="0">
            <a:noFill/>
            <a:prstDash val="solid"/>
          </a:ln>
        </p:spPr>
        <p:txBody>
          <a:bodyPr wrap="square" lIns="0" tIns="0" rIns="0" bIns="0" anchor="t">
            <a:normAutofit/>
          </a:bodyPr>
          <a:lstStyle/>
          <a:p>
            <a:pPr algn="l">
              <a:defRPr sz="1650" b="0" i="0">
                <a:solidFill>
                  <a:srgbClr val="65766D"/>
                </a:solidFill>
                <a:latin typeface="Arial"/>
                <a:ea typeface="Arial"/>
                <a:cs typeface="Arial"/>
              </a:defRPr>
            </a:pPr>
            <a:r>
              <a:rPr sz="1650" b="0" i="0">
                <a:solidFill>
                  <a:srgbClr val="65766D"/>
                </a:solidFill>
                <a:latin typeface="Arial"/>
                <a:ea typeface="Arial"/>
                <a:cs typeface="Arial"/>
              </a:rPr>
              <a:t>Collects budget, days, interests and region. Renders the ranked results.</a:t>
            </a:r>
          </a:p>
        </p:txBody>
      </p:sp>
      <p:sp>
        <p:nvSpPr>
          <p:cNvPr id="9" name="Rectangle 8">
            <a:extLst>
              <a:ext uri="{FF2B5EF4-FFF2-40B4-BE49-F238E27FC236}">
                <a16:creationId xmlns:a16="http://schemas.microsoft.com/office/drawing/2014/main" id="{FD41C668-F718-46BF-8136-EA0D39926DCE}"/>
              </a:ext>
            </a:extLst>
          </p:cNvPr>
          <p:cNvSpPr>
            <a:spLocks noGrp="1"/>
          </p:cNvSpPr>
          <p:nvPr/>
        </p:nvSpPr>
        <p:spPr>
          <a:xfrm>
            <a:off x="1400175" y="2533650"/>
            <a:ext cx="9582150" cy="9525"/>
          </a:xfrm>
          <a:prstGeom prst="rect">
            <a:avLst/>
          </a:prstGeom>
          <a:solidFill>
            <a:srgbClr val="D8E1DA"/>
          </a:solidFill>
          <a:ln w="0">
            <a:noFill/>
            <a:prstDash val="solid"/>
          </a:ln>
        </p:spPr>
        <p:txBody>
          <a:bodyPr/>
          <a:lstStyle/>
          <a:p>
            <a:endParaRPr lang="en-IN"/>
          </a:p>
        </p:txBody>
      </p:sp>
      <p:sp>
        <p:nvSpPr>
          <p:cNvPr id="10" name="Rectangle 9">
            <a:extLst>
              <a:ext uri="{FF2B5EF4-FFF2-40B4-BE49-F238E27FC236}">
                <a16:creationId xmlns:a16="http://schemas.microsoft.com/office/drawing/2014/main" id="{62E1C1A5-E8D1-455F-8C26-EB4B2696D618}"/>
              </a:ext>
            </a:extLst>
          </p:cNvPr>
          <p:cNvSpPr>
            <a:spLocks noGrp="1"/>
          </p:cNvSpPr>
          <p:nvPr/>
        </p:nvSpPr>
        <p:spPr>
          <a:xfrm>
            <a:off x="714375" y="2819400"/>
            <a:ext cx="495300" cy="381000"/>
          </a:xfrm>
          <a:prstGeom prst="rect">
            <a:avLst/>
          </a:prstGeom>
          <a:noFill/>
          <a:ln w="0">
            <a:noFill/>
            <a:prstDash val="solid"/>
          </a:ln>
        </p:spPr>
        <p:txBody>
          <a:bodyPr wrap="square" lIns="0" tIns="0" rIns="0" bIns="0" anchor="t">
            <a:normAutofit/>
          </a:bodyPr>
          <a:lstStyle/>
          <a:p>
            <a:pPr algn="l">
              <a:defRPr sz="1875" b="1" i="0">
                <a:solidFill>
                  <a:srgbClr val="E9784D"/>
                </a:solidFill>
                <a:latin typeface="Arial"/>
                <a:ea typeface="Arial"/>
                <a:cs typeface="Arial"/>
              </a:defRPr>
            </a:pPr>
            <a:r>
              <a:rPr sz="1875" b="1" i="0">
                <a:solidFill>
                  <a:srgbClr val="E9784D"/>
                </a:solidFill>
                <a:latin typeface="Arial"/>
                <a:ea typeface="Arial"/>
                <a:cs typeface="Arial"/>
              </a:rPr>
              <a:t>02</a:t>
            </a:r>
          </a:p>
        </p:txBody>
      </p:sp>
      <p:sp>
        <p:nvSpPr>
          <p:cNvPr id="11" name="Rectangle 10">
            <a:extLst>
              <a:ext uri="{FF2B5EF4-FFF2-40B4-BE49-F238E27FC236}">
                <a16:creationId xmlns:a16="http://schemas.microsoft.com/office/drawing/2014/main" id="{B6291E78-39B2-42E5-BCFA-551C653E3B69}"/>
              </a:ext>
            </a:extLst>
          </p:cNvPr>
          <p:cNvSpPr>
            <a:spLocks noGrp="1"/>
          </p:cNvSpPr>
          <p:nvPr/>
        </p:nvSpPr>
        <p:spPr>
          <a:xfrm>
            <a:off x="1409700" y="2819400"/>
            <a:ext cx="2409825" cy="381000"/>
          </a:xfrm>
          <a:prstGeom prst="rect">
            <a:avLst/>
          </a:prstGeom>
          <a:noFill/>
          <a:ln w="0">
            <a:noFill/>
            <a:prstDash val="solid"/>
          </a:ln>
        </p:spPr>
        <p:txBody>
          <a:bodyPr wrap="square" lIns="0" tIns="0" rIns="0" bIns="0" anchor="t">
            <a:normAutofit/>
          </a:bodyPr>
          <a:lstStyle/>
          <a:p>
            <a:pPr algn="l">
              <a:defRPr sz="1950" b="1" i="0">
                <a:solidFill>
                  <a:srgbClr val="18382E"/>
                </a:solidFill>
                <a:latin typeface="Arial"/>
                <a:ea typeface="Arial"/>
                <a:cs typeface="Arial"/>
              </a:defRPr>
            </a:pPr>
            <a:r>
              <a:rPr sz="1950" b="1" i="0">
                <a:solidFill>
                  <a:srgbClr val="18382E"/>
                </a:solidFill>
                <a:latin typeface="Arial"/>
                <a:ea typeface="Arial"/>
                <a:cs typeface="Arial"/>
              </a:rPr>
              <a:t>Pandas and NumPy</a:t>
            </a:r>
          </a:p>
        </p:txBody>
      </p:sp>
      <p:sp>
        <p:nvSpPr>
          <p:cNvPr id="12" name="Rectangle 11">
            <a:extLst>
              <a:ext uri="{FF2B5EF4-FFF2-40B4-BE49-F238E27FC236}">
                <a16:creationId xmlns:a16="http://schemas.microsoft.com/office/drawing/2014/main" id="{DE4D7649-5C1D-497D-A35C-8171D099F100}"/>
              </a:ext>
            </a:extLst>
          </p:cNvPr>
          <p:cNvSpPr>
            <a:spLocks noGrp="1"/>
          </p:cNvSpPr>
          <p:nvPr/>
        </p:nvSpPr>
        <p:spPr>
          <a:xfrm>
            <a:off x="4010025" y="2886075"/>
            <a:ext cx="514350" cy="19050"/>
          </a:xfrm>
          <a:prstGeom prst="rect">
            <a:avLst/>
          </a:prstGeom>
          <a:solidFill>
            <a:srgbClr val="2D6651"/>
          </a:solidFill>
          <a:ln w="0">
            <a:noFill/>
            <a:prstDash val="solid"/>
          </a:ln>
        </p:spPr>
        <p:txBody>
          <a:bodyPr/>
          <a:lstStyle/>
          <a:p>
            <a:endParaRPr lang="en-IN"/>
          </a:p>
        </p:txBody>
      </p:sp>
      <p:sp>
        <p:nvSpPr>
          <p:cNvPr id="13" name="Rectangle 12">
            <a:extLst>
              <a:ext uri="{FF2B5EF4-FFF2-40B4-BE49-F238E27FC236}">
                <a16:creationId xmlns:a16="http://schemas.microsoft.com/office/drawing/2014/main" id="{B503187C-CFF2-4150-8475-1C4006546C2B}"/>
              </a:ext>
            </a:extLst>
          </p:cNvPr>
          <p:cNvSpPr>
            <a:spLocks noGrp="1"/>
          </p:cNvSpPr>
          <p:nvPr/>
        </p:nvSpPr>
        <p:spPr>
          <a:xfrm>
            <a:off x="4810125" y="2800350"/>
            <a:ext cx="6191250" cy="657225"/>
          </a:xfrm>
          <a:prstGeom prst="rect">
            <a:avLst/>
          </a:prstGeom>
          <a:noFill/>
          <a:ln w="0">
            <a:noFill/>
            <a:prstDash val="solid"/>
          </a:ln>
        </p:spPr>
        <p:txBody>
          <a:bodyPr wrap="square" lIns="0" tIns="0" rIns="0" bIns="0" anchor="t">
            <a:normAutofit/>
          </a:bodyPr>
          <a:lstStyle/>
          <a:p>
            <a:pPr algn="l">
              <a:defRPr sz="1650" b="0" i="0">
                <a:solidFill>
                  <a:srgbClr val="65766D"/>
                </a:solidFill>
                <a:latin typeface="Arial"/>
                <a:ea typeface="Arial"/>
                <a:cs typeface="Arial"/>
              </a:defRPr>
            </a:pPr>
            <a:r>
              <a:rPr sz="1650" b="0" i="0">
                <a:solidFill>
                  <a:srgbClr val="65766D"/>
                </a:solidFill>
                <a:latin typeface="Arial"/>
                <a:ea typeface="Arial"/>
                <a:cs typeface="Arial"/>
              </a:rPr>
              <a:t>Pandas loads and selects CSV columns. NumPy represents the submitted profile and row positions.</a:t>
            </a:r>
          </a:p>
        </p:txBody>
      </p:sp>
      <p:sp>
        <p:nvSpPr>
          <p:cNvPr id="14" name="Rectangle 13">
            <a:extLst>
              <a:ext uri="{FF2B5EF4-FFF2-40B4-BE49-F238E27FC236}">
                <a16:creationId xmlns:a16="http://schemas.microsoft.com/office/drawing/2014/main" id="{604F7746-516F-4638-B211-EB50E1DE6B40}"/>
              </a:ext>
            </a:extLst>
          </p:cNvPr>
          <p:cNvSpPr>
            <a:spLocks noGrp="1"/>
          </p:cNvSpPr>
          <p:nvPr/>
        </p:nvSpPr>
        <p:spPr>
          <a:xfrm>
            <a:off x="1400175" y="3524250"/>
            <a:ext cx="9582150" cy="9525"/>
          </a:xfrm>
          <a:prstGeom prst="rect">
            <a:avLst/>
          </a:prstGeom>
          <a:solidFill>
            <a:srgbClr val="D8E1DA"/>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831CDC4C-2421-4E95-B216-07CF46D023E1}"/>
              </a:ext>
            </a:extLst>
          </p:cNvPr>
          <p:cNvSpPr>
            <a:spLocks noGrp="1"/>
          </p:cNvSpPr>
          <p:nvPr/>
        </p:nvSpPr>
        <p:spPr>
          <a:xfrm>
            <a:off x="714375" y="3810000"/>
            <a:ext cx="495300" cy="381000"/>
          </a:xfrm>
          <a:prstGeom prst="rect">
            <a:avLst/>
          </a:prstGeom>
          <a:noFill/>
          <a:ln w="0">
            <a:noFill/>
            <a:prstDash val="solid"/>
          </a:ln>
        </p:spPr>
        <p:txBody>
          <a:bodyPr wrap="square" lIns="0" tIns="0" rIns="0" bIns="0" anchor="t">
            <a:normAutofit/>
          </a:bodyPr>
          <a:lstStyle/>
          <a:p>
            <a:pPr algn="l">
              <a:defRPr sz="1875" b="1" i="0">
                <a:solidFill>
                  <a:srgbClr val="E9784D"/>
                </a:solidFill>
                <a:latin typeface="Arial"/>
                <a:ea typeface="Arial"/>
                <a:cs typeface="Arial"/>
              </a:defRPr>
            </a:pPr>
            <a:r>
              <a:rPr sz="1875" b="1" i="0">
                <a:solidFill>
                  <a:srgbClr val="E9784D"/>
                </a:solidFill>
                <a:latin typeface="Arial"/>
                <a:ea typeface="Arial"/>
                <a:cs typeface="Arial"/>
              </a:rPr>
              <a:t>03</a:t>
            </a:r>
          </a:p>
        </p:txBody>
      </p:sp>
      <p:sp>
        <p:nvSpPr>
          <p:cNvPr id="16" name="Rectangle 15">
            <a:extLst>
              <a:ext uri="{FF2B5EF4-FFF2-40B4-BE49-F238E27FC236}">
                <a16:creationId xmlns:a16="http://schemas.microsoft.com/office/drawing/2014/main" id="{CF8C387D-79F4-41A0-BA0D-C2115813FC6C}"/>
              </a:ext>
            </a:extLst>
          </p:cNvPr>
          <p:cNvSpPr>
            <a:spLocks noGrp="1"/>
          </p:cNvSpPr>
          <p:nvPr/>
        </p:nvSpPr>
        <p:spPr>
          <a:xfrm>
            <a:off x="1409700" y="3810000"/>
            <a:ext cx="2409825" cy="381000"/>
          </a:xfrm>
          <a:prstGeom prst="rect">
            <a:avLst/>
          </a:prstGeom>
          <a:noFill/>
          <a:ln w="0">
            <a:noFill/>
            <a:prstDash val="solid"/>
          </a:ln>
        </p:spPr>
        <p:txBody>
          <a:bodyPr wrap="square" lIns="0" tIns="0" rIns="0" bIns="0" anchor="t">
            <a:normAutofit/>
          </a:bodyPr>
          <a:lstStyle/>
          <a:p>
            <a:pPr algn="l">
              <a:defRPr sz="1950" b="1" i="0">
                <a:solidFill>
                  <a:srgbClr val="18382E"/>
                </a:solidFill>
                <a:latin typeface="Arial"/>
                <a:ea typeface="Arial"/>
                <a:cs typeface="Arial"/>
              </a:defRPr>
            </a:pPr>
            <a:r>
              <a:rPr sz="1950" b="1" i="0">
                <a:solidFill>
                  <a:srgbClr val="18382E"/>
                </a:solidFill>
                <a:latin typeface="Arial"/>
                <a:ea typeface="Arial"/>
                <a:cs typeface="Arial"/>
              </a:rPr>
              <a:t>scikit-learn</a:t>
            </a:r>
          </a:p>
        </p:txBody>
      </p:sp>
      <p:sp>
        <p:nvSpPr>
          <p:cNvPr id="17" name="Rectangle 16">
            <a:extLst>
              <a:ext uri="{FF2B5EF4-FFF2-40B4-BE49-F238E27FC236}">
                <a16:creationId xmlns:a16="http://schemas.microsoft.com/office/drawing/2014/main" id="{9C861DFF-504C-40DC-B09E-20532A519933}"/>
              </a:ext>
            </a:extLst>
          </p:cNvPr>
          <p:cNvSpPr>
            <a:spLocks noGrp="1"/>
          </p:cNvSpPr>
          <p:nvPr/>
        </p:nvSpPr>
        <p:spPr>
          <a:xfrm>
            <a:off x="4010025" y="3876675"/>
            <a:ext cx="514350" cy="19050"/>
          </a:xfrm>
          <a:prstGeom prst="rect">
            <a:avLst/>
          </a:prstGeom>
          <a:solidFill>
            <a:srgbClr val="2D6651"/>
          </a:solidFill>
          <a:ln w="0">
            <a:noFill/>
            <a:prstDash val="solid"/>
          </a:ln>
        </p:spPr>
        <p:txBody>
          <a:bodyPr/>
          <a:lstStyle/>
          <a:p>
            <a:endParaRPr lang="en-IN"/>
          </a:p>
        </p:txBody>
      </p:sp>
      <p:sp>
        <p:nvSpPr>
          <p:cNvPr id="18" name="Rectangle 17">
            <a:extLst>
              <a:ext uri="{FF2B5EF4-FFF2-40B4-BE49-F238E27FC236}">
                <a16:creationId xmlns:a16="http://schemas.microsoft.com/office/drawing/2014/main" id="{D5705F0C-3208-4D0B-9E2B-A4C605704CE4}"/>
              </a:ext>
            </a:extLst>
          </p:cNvPr>
          <p:cNvSpPr>
            <a:spLocks noGrp="1"/>
          </p:cNvSpPr>
          <p:nvPr/>
        </p:nvSpPr>
        <p:spPr>
          <a:xfrm>
            <a:off x="4810125" y="3790950"/>
            <a:ext cx="6191250" cy="657225"/>
          </a:xfrm>
          <a:prstGeom prst="rect">
            <a:avLst/>
          </a:prstGeom>
          <a:noFill/>
          <a:ln w="0">
            <a:noFill/>
            <a:prstDash val="solid"/>
          </a:ln>
        </p:spPr>
        <p:txBody>
          <a:bodyPr wrap="square" lIns="0" tIns="0" rIns="0" bIns="0" anchor="t">
            <a:normAutofit/>
          </a:bodyPr>
          <a:lstStyle/>
          <a:p>
            <a:pPr algn="l">
              <a:defRPr sz="1650" b="0" i="0">
                <a:solidFill>
                  <a:srgbClr val="65766D"/>
                </a:solidFill>
                <a:latin typeface="Arial"/>
                <a:ea typeface="Arial"/>
                <a:cs typeface="Arial"/>
              </a:defRPr>
            </a:pPr>
            <a:r>
              <a:rPr sz="1650" b="0" i="0">
                <a:solidFill>
                  <a:srgbClr val="65766D"/>
                </a:solidFill>
                <a:latin typeface="Arial"/>
                <a:ea typeface="Arial"/>
                <a:cs typeface="Arial"/>
              </a:rPr>
              <a:t>StandardScaler transforms features. NearestNeighbors retrieves the closest profiles.</a:t>
            </a:r>
          </a:p>
        </p:txBody>
      </p:sp>
      <p:sp>
        <p:nvSpPr>
          <p:cNvPr id="19" name="Rectangle 18">
            <a:extLst>
              <a:ext uri="{FF2B5EF4-FFF2-40B4-BE49-F238E27FC236}">
                <a16:creationId xmlns:a16="http://schemas.microsoft.com/office/drawing/2014/main" id="{FC1FC4A4-E6CA-4851-BF81-5843C714801D}"/>
              </a:ext>
            </a:extLst>
          </p:cNvPr>
          <p:cNvSpPr>
            <a:spLocks noGrp="1"/>
          </p:cNvSpPr>
          <p:nvPr/>
        </p:nvSpPr>
        <p:spPr>
          <a:xfrm>
            <a:off x="1400175" y="4514850"/>
            <a:ext cx="9582150" cy="9525"/>
          </a:xfrm>
          <a:prstGeom prst="rect">
            <a:avLst/>
          </a:prstGeom>
          <a:solidFill>
            <a:srgbClr val="D8E1DA"/>
          </a:solidFill>
          <a:ln w="0">
            <a:noFill/>
            <a:prstDash val="solid"/>
          </a:ln>
        </p:spPr>
        <p:txBody>
          <a:bodyPr/>
          <a:lstStyle/>
          <a:p>
            <a:endParaRPr lang="en-IN"/>
          </a:p>
        </p:txBody>
      </p:sp>
      <p:sp>
        <p:nvSpPr>
          <p:cNvPr id="20" name="Rectangle 19">
            <a:extLst>
              <a:ext uri="{FF2B5EF4-FFF2-40B4-BE49-F238E27FC236}">
                <a16:creationId xmlns:a16="http://schemas.microsoft.com/office/drawing/2014/main" id="{225FA926-1B92-4279-91C7-9556A99EB3B1}"/>
              </a:ext>
            </a:extLst>
          </p:cNvPr>
          <p:cNvSpPr>
            <a:spLocks noGrp="1"/>
          </p:cNvSpPr>
          <p:nvPr/>
        </p:nvSpPr>
        <p:spPr>
          <a:xfrm>
            <a:off x="714375" y="4800600"/>
            <a:ext cx="495300" cy="381000"/>
          </a:xfrm>
          <a:prstGeom prst="rect">
            <a:avLst/>
          </a:prstGeom>
          <a:noFill/>
          <a:ln w="0">
            <a:noFill/>
            <a:prstDash val="solid"/>
          </a:ln>
        </p:spPr>
        <p:txBody>
          <a:bodyPr wrap="square" lIns="0" tIns="0" rIns="0" bIns="0" anchor="t">
            <a:normAutofit/>
          </a:bodyPr>
          <a:lstStyle/>
          <a:p>
            <a:pPr algn="l">
              <a:defRPr sz="1875" b="1" i="0">
                <a:solidFill>
                  <a:srgbClr val="E9784D"/>
                </a:solidFill>
                <a:latin typeface="Arial"/>
                <a:ea typeface="Arial"/>
                <a:cs typeface="Arial"/>
              </a:defRPr>
            </a:pPr>
            <a:r>
              <a:rPr sz="1875" b="1" i="0">
                <a:solidFill>
                  <a:srgbClr val="E9784D"/>
                </a:solidFill>
                <a:latin typeface="Arial"/>
                <a:ea typeface="Arial"/>
                <a:cs typeface="Arial"/>
              </a:rPr>
              <a:t>04</a:t>
            </a:r>
          </a:p>
        </p:txBody>
      </p:sp>
      <p:sp>
        <p:nvSpPr>
          <p:cNvPr id="21" name="Rectangle 20">
            <a:extLst>
              <a:ext uri="{FF2B5EF4-FFF2-40B4-BE49-F238E27FC236}">
                <a16:creationId xmlns:a16="http://schemas.microsoft.com/office/drawing/2014/main" id="{9AF55F76-D487-441C-BE5A-1C640F91DD4D}"/>
              </a:ext>
            </a:extLst>
          </p:cNvPr>
          <p:cNvSpPr>
            <a:spLocks noGrp="1"/>
          </p:cNvSpPr>
          <p:nvPr/>
        </p:nvSpPr>
        <p:spPr>
          <a:xfrm>
            <a:off x="1409700" y="4800600"/>
            <a:ext cx="2409825" cy="381000"/>
          </a:xfrm>
          <a:prstGeom prst="rect">
            <a:avLst/>
          </a:prstGeom>
          <a:noFill/>
          <a:ln w="0">
            <a:noFill/>
            <a:prstDash val="solid"/>
          </a:ln>
        </p:spPr>
        <p:txBody>
          <a:bodyPr wrap="square" lIns="0" tIns="0" rIns="0" bIns="0" anchor="t">
            <a:normAutofit/>
          </a:bodyPr>
          <a:lstStyle/>
          <a:p>
            <a:pPr algn="l">
              <a:defRPr sz="1950" b="1" i="0">
                <a:solidFill>
                  <a:srgbClr val="18382E"/>
                </a:solidFill>
                <a:latin typeface="Arial"/>
                <a:ea typeface="Arial"/>
                <a:cs typeface="Arial"/>
              </a:defRPr>
            </a:pPr>
            <a:r>
              <a:rPr sz="1950" b="1" i="0">
                <a:solidFill>
                  <a:srgbClr val="18382E"/>
                </a:solidFill>
                <a:latin typeface="Arial"/>
                <a:ea typeface="Arial"/>
                <a:cs typeface="Arial"/>
              </a:rPr>
              <a:t>CSV dataset</a:t>
            </a:r>
          </a:p>
        </p:txBody>
      </p:sp>
      <p:sp>
        <p:nvSpPr>
          <p:cNvPr id="22" name="Rectangle 21">
            <a:extLst>
              <a:ext uri="{FF2B5EF4-FFF2-40B4-BE49-F238E27FC236}">
                <a16:creationId xmlns:a16="http://schemas.microsoft.com/office/drawing/2014/main" id="{E19AAC2F-E33A-4C2C-A451-BCF446F9057F}"/>
              </a:ext>
            </a:extLst>
          </p:cNvPr>
          <p:cNvSpPr>
            <a:spLocks noGrp="1"/>
          </p:cNvSpPr>
          <p:nvPr/>
        </p:nvSpPr>
        <p:spPr>
          <a:xfrm>
            <a:off x="4010025" y="4867275"/>
            <a:ext cx="514350" cy="19050"/>
          </a:xfrm>
          <a:prstGeom prst="rect">
            <a:avLst/>
          </a:prstGeom>
          <a:solidFill>
            <a:srgbClr val="2D6651"/>
          </a:solidFill>
          <a:ln w="0">
            <a:noFill/>
            <a:prstDash val="solid"/>
          </a:ln>
        </p:spPr>
        <p:txBody>
          <a:bodyPr/>
          <a:lstStyle/>
          <a:p>
            <a:endParaRPr lang="en-IN"/>
          </a:p>
        </p:txBody>
      </p:sp>
      <p:sp>
        <p:nvSpPr>
          <p:cNvPr id="23" name="Rectangle 22">
            <a:extLst>
              <a:ext uri="{FF2B5EF4-FFF2-40B4-BE49-F238E27FC236}">
                <a16:creationId xmlns:a16="http://schemas.microsoft.com/office/drawing/2014/main" id="{853B2B6C-B671-40BF-984E-A586A1C0A64B}"/>
              </a:ext>
            </a:extLst>
          </p:cNvPr>
          <p:cNvSpPr>
            <a:spLocks noGrp="1"/>
          </p:cNvSpPr>
          <p:nvPr/>
        </p:nvSpPr>
        <p:spPr>
          <a:xfrm>
            <a:off x="4810125" y="4781550"/>
            <a:ext cx="6191250" cy="657225"/>
          </a:xfrm>
          <a:prstGeom prst="rect">
            <a:avLst/>
          </a:prstGeom>
          <a:noFill/>
          <a:ln w="0">
            <a:noFill/>
            <a:prstDash val="solid"/>
          </a:ln>
        </p:spPr>
        <p:txBody>
          <a:bodyPr wrap="square" lIns="0" tIns="0" rIns="0" bIns="0" anchor="t">
            <a:normAutofit/>
          </a:bodyPr>
          <a:lstStyle/>
          <a:p>
            <a:pPr algn="l">
              <a:defRPr sz="1650" b="0" i="0">
                <a:solidFill>
                  <a:srgbClr val="65766D"/>
                </a:solidFill>
                <a:latin typeface="Arial"/>
                <a:ea typeface="Arial"/>
                <a:cs typeface="Arial"/>
              </a:defRPr>
            </a:pPr>
            <a:r>
              <a:rPr sz="1650" b="0" i="0">
                <a:solidFill>
                  <a:srgbClr val="65766D"/>
                </a:solidFill>
                <a:latin typeface="Arial"/>
                <a:ea typeface="Arial"/>
                <a:cs typeface="Arial"/>
              </a:rPr>
              <a:t>Stores 35 destination profiles, interest scores and location metadata.</a:t>
            </a:r>
          </a:p>
        </p:txBody>
      </p:sp>
      <p:sp>
        <p:nvSpPr>
          <p:cNvPr id="24" name="Rectangle: Rounded Corners 23">
            <a:extLst>
              <a:ext uri="{FF2B5EF4-FFF2-40B4-BE49-F238E27FC236}">
                <a16:creationId xmlns:a16="http://schemas.microsoft.com/office/drawing/2014/main" id="{57B507F1-A80C-4D90-9562-869CA7BDE6C5}"/>
              </a:ext>
            </a:extLst>
          </p:cNvPr>
          <p:cNvSpPr>
            <a:spLocks noGrp="1"/>
          </p:cNvSpPr>
          <p:nvPr/>
        </p:nvSpPr>
        <p:spPr>
          <a:xfrm>
            <a:off x="695325" y="5943600"/>
            <a:ext cx="10506075" cy="304800"/>
          </a:xfrm>
          <a:prstGeom prst="roundRect">
            <a:avLst>
              <a:gd name="adj" fmla="val 21875"/>
            </a:avLst>
          </a:prstGeom>
          <a:solidFill>
            <a:srgbClr val="F3E9DB"/>
          </a:solidFill>
          <a:ln w="0">
            <a:noFill/>
            <a:prstDash val="solid"/>
          </a:ln>
        </p:spPr>
        <p:txBody>
          <a:bodyPr/>
          <a:lstStyle/>
          <a:p>
            <a:endParaRPr lang="en-IN"/>
          </a:p>
        </p:txBody>
      </p:sp>
      <p:sp>
        <p:nvSpPr>
          <p:cNvPr id="25" name="Rectangle 24">
            <a:extLst>
              <a:ext uri="{FF2B5EF4-FFF2-40B4-BE49-F238E27FC236}">
                <a16:creationId xmlns:a16="http://schemas.microsoft.com/office/drawing/2014/main" id="{AE712F9D-C5ED-4A7C-9A67-9C97946B8B72}"/>
              </a:ext>
            </a:extLst>
          </p:cNvPr>
          <p:cNvSpPr>
            <a:spLocks noGrp="1"/>
          </p:cNvSpPr>
          <p:nvPr/>
        </p:nvSpPr>
        <p:spPr>
          <a:xfrm>
            <a:off x="866775" y="5981700"/>
            <a:ext cx="10144125" cy="238125"/>
          </a:xfrm>
          <a:prstGeom prst="rect">
            <a:avLst/>
          </a:prstGeom>
          <a:noFill/>
          <a:ln w="0">
            <a:noFill/>
            <a:prstDash val="solid"/>
          </a:ln>
        </p:spPr>
        <p:txBody>
          <a:bodyPr wrap="square" lIns="0" tIns="0" rIns="0" bIns="0" anchor="t">
            <a:normAutofit/>
          </a:bodyPr>
          <a:lstStyle/>
          <a:p>
            <a:pPr algn="l">
              <a:defRPr sz="1350" b="1" i="0">
                <a:solidFill>
                  <a:srgbClr val="204C3E"/>
                </a:solidFill>
                <a:latin typeface="Arial"/>
                <a:ea typeface="Arial"/>
                <a:cs typeface="Arial"/>
              </a:defRPr>
            </a:pPr>
            <a:r>
              <a:rPr sz="1350" b="1" i="0">
                <a:solidFill>
                  <a:srgbClr val="204C3E"/>
                </a:solidFill>
                <a:latin typeface="Arial"/>
                <a:ea typeface="Arial"/>
                <a:cs typeface="Arial"/>
              </a:rPr>
              <a:t>app.py coordinates the flow. requirements.txt pins the Python packages.</a:t>
            </a:r>
          </a:p>
        </p:txBody>
      </p:sp>
    </p:spTree>
    <p:extLst>
      <p:ext uri="{BB962C8B-B14F-4D97-AF65-F5344CB8AC3E}">
        <p14:creationId xmlns:p14="http://schemas.microsoft.com/office/powerpoint/2010/main" val="797645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36A8C8D-1A3B-4311-ABE8-5ED5D9F9D054}"/>
              </a:ext>
            </a:extLst>
          </p:cNvPr>
          <p:cNvSpPr>
            <a:spLocks noGrp="1"/>
          </p:cNvSpPr>
          <p:nvPr/>
        </p:nvSpPr>
        <p:spPr>
          <a:xfrm>
            <a:off x="609600" y="457200"/>
            <a:ext cx="10906125" cy="609600"/>
          </a:xfrm>
          <a:prstGeom prst="rect">
            <a:avLst/>
          </a:prstGeom>
          <a:noFill/>
          <a:ln w="0">
            <a:noFill/>
            <a:prstDash val="solid"/>
          </a:ln>
        </p:spPr>
        <p:txBody>
          <a:bodyPr wrap="square" lIns="0" tIns="0" rIns="0" bIns="0" anchor="t">
            <a:normAutofit/>
          </a:bodyPr>
          <a:lstStyle/>
          <a:p>
            <a:pPr algn="l">
              <a:defRPr sz="3450" b="1" i="0">
                <a:solidFill>
                  <a:srgbClr val="18382E"/>
                </a:solidFill>
                <a:latin typeface="Arial"/>
                <a:ea typeface="Arial"/>
                <a:cs typeface="Arial"/>
              </a:defRPr>
            </a:pPr>
            <a:r>
              <a:rPr sz="3450" b="1" i="0">
                <a:solidFill>
                  <a:srgbClr val="18382E"/>
                </a:solidFill>
                <a:latin typeface="Arial"/>
                <a:ea typeface="Arial"/>
                <a:cs typeface="Arial"/>
              </a:rPr>
              <a:t>Limits of the current recommendation</a:t>
            </a:r>
          </a:p>
        </p:txBody>
      </p:sp>
      <p:sp>
        <p:nvSpPr>
          <p:cNvPr id="2" name="Rectangle 1">
            <a:extLst>
              <a:ext uri="{FF2B5EF4-FFF2-40B4-BE49-F238E27FC236}">
                <a16:creationId xmlns:a16="http://schemas.microsoft.com/office/drawing/2014/main" id="{025819A6-0C8B-40AE-845C-1D8343424989}"/>
              </a:ext>
            </a:extLst>
          </p:cNvPr>
          <p:cNvSpPr>
            <a:spLocks noGrp="1"/>
          </p:cNvSpPr>
          <p:nvPr/>
        </p:nvSpPr>
        <p:spPr>
          <a:xfrm>
            <a:off x="628650" y="1104900"/>
            <a:ext cx="10668000" cy="438150"/>
          </a:xfrm>
          <a:prstGeom prst="rect">
            <a:avLst/>
          </a:prstGeom>
          <a:noFill/>
          <a:ln w="0">
            <a:noFill/>
            <a:prstDash val="solid"/>
          </a:ln>
        </p:spPr>
        <p:txBody>
          <a:bodyPr wrap="square" lIns="0" tIns="0" rIns="0" bIns="0" anchor="t">
            <a:normAutofit/>
          </a:bodyPr>
          <a:lstStyle/>
          <a:p>
            <a:pPr algn="l">
              <a:defRPr sz="1725" b="0" i="0">
                <a:solidFill>
                  <a:srgbClr val="65766D"/>
                </a:solidFill>
                <a:latin typeface="Arial"/>
                <a:ea typeface="Arial"/>
                <a:cs typeface="Arial"/>
              </a:defRPr>
            </a:pPr>
            <a:r>
              <a:rPr sz="1725" b="0" i="0">
                <a:solidFill>
                  <a:srgbClr val="65766D"/>
                </a:solidFill>
                <a:latin typeface="Arial"/>
                <a:ea typeface="Arial"/>
                <a:cs typeface="Arial"/>
              </a:rPr>
              <a:t>The output depends on the coverage and assumptions in this small sample dataset.</a:t>
            </a:r>
          </a:p>
        </p:txBody>
      </p:sp>
      <p:sp>
        <p:nvSpPr>
          <p:cNvPr id="3" name="Rectangle 2">
            <a:extLst>
              <a:ext uri="{FF2B5EF4-FFF2-40B4-BE49-F238E27FC236}">
                <a16:creationId xmlns:a16="http://schemas.microsoft.com/office/drawing/2014/main" id="{C850422F-E348-4E1A-8428-139FB20DEBF0}"/>
              </a:ext>
            </a:extLst>
          </p:cNvPr>
          <p:cNvSpPr>
            <a:spLocks noGrp="1"/>
          </p:cNvSpPr>
          <p:nvPr/>
        </p:nvSpPr>
        <p:spPr>
          <a:xfrm>
            <a:off x="609600" y="6381750"/>
            <a:ext cx="10972800" cy="9525"/>
          </a:xfrm>
          <a:prstGeom prst="rect">
            <a:avLst/>
          </a:prstGeom>
          <a:solidFill>
            <a:srgbClr val="D8E1DA"/>
          </a:solidFill>
          <a:ln w="0">
            <a:noFill/>
            <a:prstDash val="solid"/>
          </a:ln>
        </p:spPr>
        <p:txBody>
          <a:bodyPr/>
          <a:lstStyle/>
          <a:p>
            <a:endParaRPr lang="en-IN"/>
          </a:p>
        </p:txBody>
      </p:sp>
      <p:sp>
        <p:nvSpPr>
          <p:cNvPr id="4" name="Rectangle 3">
            <a:extLst>
              <a:ext uri="{FF2B5EF4-FFF2-40B4-BE49-F238E27FC236}">
                <a16:creationId xmlns:a16="http://schemas.microsoft.com/office/drawing/2014/main" id="{52F02028-6D3C-4CCD-8F99-2DCB6577E9B2}"/>
              </a:ext>
            </a:extLst>
          </p:cNvPr>
          <p:cNvSpPr>
            <a:spLocks noGrp="1"/>
          </p:cNvSpPr>
          <p:nvPr/>
        </p:nvSpPr>
        <p:spPr>
          <a:xfrm>
            <a:off x="11049000" y="6467475"/>
            <a:ext cx="514350" cy="209550"/>
          </a:xfrm>
          <a:prstGeom prst="rect">
            <a:avLst/>
          </a:prstGeom>
          <a:noFill/>
          <a:ln w="0">
            <a:noFill/>
            <a:prstDash val="solid"/>
          </a:ln>
        </p:spPr>
        <p:txBody>
          <a:bodyPr wrap="square" lIns="0" tIns="0" rIns="0" bIns="0" anchor="t">
            <a:normAutofit/>
          </a:bodyPr>
          <a:lstStyle/>
          <a:p>
            <a:pPr algn="r">
              <a:defRPr sz="1200" b="0" i="0">
                <a:solidFill>
                  <a:srgbClr val="65766D"/>
                </a:solidFill>
                <a:latin typeface="Arial"/>
                <a:ea typeface="Arial"/>
                <a:cs typeface="Arial"/>
              </a:defRPr>
            </a:pPr>
            <a:r>
              <a:rPr sz="1200" b="0" i="0">
                <a:solidFill>
                  <a:srgbClr val="65766D"/>
                </a:solidFill>
                <a:latin typeface="Arial"/>
                <a:ea typeface="Arial"/>
                <a:cs typeface="Arial"/>
              </a:rPr>
              <a:t>13</a:t>
            </a:r>
          </a:p>
        </p:txBody>
      </p:sp>
      <p:sp>
        <p:nvSpPr>
          <p:cNvPr id="5" name="Rectangle 4">
            <a:extLst>
              <a:ext uri="{FF2B5EF4-FFF2-40B4-BE49-F238E27FC236}">
                <a16:creationId xmlns:a16="http://schemas.microsoft.com/office/drawing/2014/main" id="{8C2C73AB-F396-4117-857D-FC348B9E55C0}"/>
              </a:ext>
            </a:extLst>
          </p:cNvPr>
          <p:cNvSpPr>
            <a:spLocks noGrp="1"/>
          </p:cNvSpPr>
          <p:nvPr/>
        </p:nvSpPr>
        <p:spPr>
          <a:xfrm>
            <a:off x="714375" y="1866900"/>
            <a:ext cx="4762500" cy="361950"/>
          </a:xfrm>
          <a:prstGeom prst="rect">
            <a:avLst/>
          </a:prstGeom>
          <a:noFill/>
          <a:ln w="0">
            <a:noFill/>
            <a:prstDash val="solid"/>
          </a:ln>
        </p:spPr>
        <p:txBody>
          <a:bodyPr wrap="square" lIns="0" tIns="0" rIns="0" bIns="0" anchor="t">
            <a:normAutofit/>
          </a:bodyPr>
          <a:lstStyle/>
          <a:p>
            <a:pPr algn="l">
              <a:defRPr sz="1800" b="1" i="0">
                <a:solidFill>
                  <a:srgbClr val="2D6651"/>
                </a:solidFill>
                <a:latin typeface="Arial"/>
                <a:ea typeface="Arial"/>
                <a:cs typeface="Arial"/>
              </a:defRPr>
            </a:pPr>
            <a:r>
              <a:rPr sz="1800" b="1" i="0">
                <a:solidFill>
                  <a:srgbClr val="2D6651"/>
                </a:solidFill>
                <a:latin typeface="Arial"/>
                <a:ea typeface="Arial"/>
                <a:cs typeface="Arial"/>
              </a:rPr>
              <a:t>What the app can do</a:t>
            </a:r>
          </a:p>
        </p:txBody>
      </p:sp>
      <p:sp>
        <p:nvSpPr>
          <p:cNvPr id="6" name="Rectangle 5">
            <a:extLst>
              <a:ext uri="{FF2B5EF4-FFF2-40B4-BE49-F238E27FC236}">
                <a16:creationId xmlns:a16="http://schemas.microsoft.com/office/drawing/2014/main" id="{5A49742D-6DBB-444F-9F80-22A380436E21}"/>
              </a:ext>
            </a:extLst>
          </p:cNvPr>
          <p:cNvSpPr>
            <a:spLocks noGrp="1"/>
          </p:cNvSpPr>
          <p:nvPr/>
        </p:nvSpPr>
        <p:spPr>
          <a:xfrm>
            <a:off x="714375" y="2390775"/>
            <a:ext cx="4762500" cy="2190750"/>
          </a:xfrm>
          <a:prstGeom prst="rect">
            <a:avLst/>
          </a:prstGeom>
          <a:noFill/>
          <a:ln w="0">
            <a:noFill/>
            <a:prstDash val="solid"/>
          </a:ln>
        </p:spPr>
        <p:txBody>
          <a:bodyPr wrap="square" lIns="0" tIns="0" rIns="0" bIns="0" anchor="t">
            <a:normAutofit/>
          </a:bodyPr>
          <a:lstStyle/>
          <a:p>
            <a:pPr algn="l">
              <a:defRPr sz="1800" b="0" i="0">
                <a:solidFill>
                  <a:srgbClr val="18382E"/>
                </a:solidFill>
                <a:latin typeface="Arial"/>
                <a:ea typeface="Arial"/>
                <a:cs typeface="Arial"/>
              </a:defRPr>
            </a:pPr>
            <a:r>
              <a:rPr sz="1800" b="0" i="0">
                <a:solidFill>
                  <a:srgbClr val="18382E"/>
                </a:solidFill>
                <a:latin typeface="Arial"/>
                <a:ea typeface="Arial"/>
                <a:cs typeface="Arial"/>
              </a:rPr>
              <a:t>Rank the stored destination profiles by standardized distance.</a:t>
            </a:r>
          </a:p>
          <a:p>
            <a:endParaRPr sz="1800" b="0" i="0">
              <a:solidFill>
                <a:srgbClr val="18382E"/>
              </a:solidFill>
              <a:latin typeface="Arial"/>
              <a:ea typeface="Arial"/>
              <a:cs typeface="Arial"/>
            </a:endParaRPr>
          </a:p>
          <a:p>
            <a:pPr algn="l">
              <a:defRPr sz="1800" b="0" i="0">
                <a:solidFill>
                  <a:srgbClr val="18382E"/>
                </a:solidFill>
                <a:latin typeface="Arial"/>
                <a:ea typeface="Arial"/>
                <a:cs typeface="Arial"/>
              </a:defRPr>
            </a:pPr>
            <a:r>
              <a:rPr sz="1800" b="0" i="0">
                <a:solidFill>
                  <a:srgbClr val="18382E"/>
                </a:solidFill>
                <a:latin typeface="Arial"/>
                <a:ea typeface="Arial"/>
                <a:cs typeface="Arial"/>
              </a:rPr>
              <a:t>Narrow the candidate set to one of the listed regions.</a:t>
            </a:r>
          </a:p>
          <a:p>
            <a:endParaRPr sz="1800" b="0" i="0">
              <a:solidFill>
                <a:srgbClr val="18382E"/>
              </a:solidFill>
              <a:latin typeface="Arial"/>
              <a:ea typeface="Arial"/>
              <a:cs typeface="Arial"/>
            </a:endParaRPr>
          </a:p>
          <a:p>
            <a:pPr algn="l">
              <a:defRPr sz="1800" b="0" i="0">
                <a:solidFill>
                  <a:srgbClr val="18382E"/>
                </a:solidFill>
                <a:latin typeface="Arial"/>
                <a:ea typeface="Arial"/>
                <a:cs typeface="Arial"/>
              </a:defRPr>
            </a:pPr>
            <a:r>
              <a:rPr sz="1800" b="0" i="0">
                <a:solidFill>
                  <a:srgbClr val="18382E"/>
                </a:solidFill>
                <a:latin typeface="Arial"/>
                <a:ea typeface="Arial"/>
                <a:cs typeface="Arial"/>
              </a:rPr>
              <a:t>Show how the interest scores compare.</a:t>
            </a:r>
          </a:p>
        </p:txBody>
      </p:sp>
      <p:sp>
        <p:nvSpPr>
          <p:cNvPr id="7" name="Rectangle 6">
            <a:extLst>
              <a:ext uri="{FF2B5EF4-FFF2-40B4-BE49-F238E27FC236}">
                <a16:creationId xmlns:a16="http://schemas.microsoft.com/office/drawing/2014/main" id="{04A8344A-30B0-41FF-AD44-570246E6AB0D}"/>
              </a:ext>
            </a:extLst>
          </p:cNvPr>
          <p:cNvSpPr>
            <a:spLocks noGrp="1"/>
          </p:cNvSpPr>
          <p:nvPr/>
        </p:nvSpPr>
        <p:spPr>
          <a:xfrm>
            <a:off x="6029325" y="1876425"/>
            <a:ext cx="19050" cy="4019550"/>
          </a:xfrm>
          <a:prstGeom prst="rect">
            <a:avLst/>
          </a:prstGeom>
          <a:solidFill>
            <a:srgbClr val="D8E1DA"/>
          </a:solidFill>
          <a:ln w="0">
            <a:noFill/>
            <a:prstDash val="solid"/>
          </a:ln>
        </p:spPr>
        <p:txBody>
          <a:bodyPr/>
          <a:lstStyle/>
          <a:p>
            <a:endParaRPr lang="en-IN"/>
          </a:p>
        </p:txBody>
      </p:sp>
      <p:sp>
        <p:nvSpPr>
          <p:cNvPr id="8" name="Rectangle 7">
            <a:extLst>
              <a:ext uri="{FF2B5EF4-FFF2-40B4-BE49-F238E27FC236}">
                <a16:creationId xmlns:a16="http://schemas.microsoft.com/office/drawing/2014/main" id="{060457B1-2B0C-46D0-9A9D-99A0DCD0E678}"/>
              </a:ext>
            </a:extLst>
          </p:cNvPr>
          <p:cNvSpPr>
            <a:spLocks noGrp="1"/>
          </p:cNvSpPr>
          <p:nvPr/>
        </p:nvSpPr>
        <p:spPr>
          <a:xfrm>
            <a:off x="6619875" y="1866900"/>
            <a:ext cx="4857750" cy="400050"/>
          </a:xfrm>
          <a:prstGeom prst="rect">
            <a:avLst/>
          </a:prstGeom>
          <a:noFill/>
          <a:ln w="0">
            <a:noFill/>
            <a:prstDash val="solid"/>
          </a:ln>
        </p:spPr>
        <p:txBody>
          <a:bodyPr wrap="square" lIns="0" tIns="0" rIns="0" bIns="0" anchor="t">
            <a:normAutofit/>
          </a:bodyPr>
          <a:lstStyle/>
          <a:p>
            <a:pPr algn="l">
              <a:defRPr sz="1800" b="1" i="0">
                <a:solidFill>
                  <a:srgbClr val="E9784D"/>
                </a:solidFill>
                <a:latin typeface="Arial"/>
                <a:ea typeface="Arial"/>
                <a:cs typeface="Arial"/>
              </a:defRPr>
            </a:pPr>
            <a:r>
              <a:rPr sz="1800" b="1" i="0">
                <a:solidFill>
                  <a:srgbClr val="E9784D"/>
                </a:solidFill>
                <a:latin typeface="Arial"/>
                <a:ea typeface="Arial"/>
                <a:cs typeface="Arial"/>
              </a:rPr>
              <a:t>What the results do not represent</a:t>
            </a:r>
          </a:p>
        </p:txBody>
      </p:sp>
      <p:sp>
        <p:nvSpPr>
          <p:cNvPr id="9" name="Rectangle 8">
            <a:extLst>
              <a:ext uri="{FF2B5EF4-FFF2-40B4-BE49-F238E27FC236}">
                <a16:creationId xmlns:a16="http://schemas.microsoft.com/office/drawing/2014/main" id="{4B88E492-3F14-485D-9126-5BE961A166E6}"/>
              </a:ext>
            </a:extLst>
          </p:cNvPr>
          <p:cNvSpPr>
            <a:spLocks noGrp="1"/>
          </p:cNvSpPr>
          <p:nvPr/>
        </p:nvSpPr>
        <p:spPr>
          <a:xfrm>
            <a:off x="6619875" y="2390775"/>
            <a:ext cx="4857750" cy="2638425"/>
          </a:xfrm>
          <a:prstGeom prst="rect">
            <a:avLst/>
          </a:prstGeom>
          <a:noFill/>
          <a:ln w="0">
            <a:noFill/>
            <a:prstDash val="solid"/>
          </a:ln>
        </p:spPr>
        <p:txBody>
          <a:bodyPr wrap="square" lIns="0" tIns="0" rIns="0" bIns="0" anchor="t">
            <a:normAutofit/>
          </a:bodyPr>
          <a:lstStyle/>
          <a:p>
            <a:pPr algn="l">
              <a:defRPr sz="1725" b="0" i="0">
                <a:solidFill>
                  <a:srgbClr val="18382E"/>
                </a:solidFill>
                <a:latin typeface="Arial"/>
                <a:ea typeface="Arial"/>
                <a:cs typeface="Arial"/>
              </a:defRPr>
            </a:pPr>
            <a:r>
              <a:rPr sz="1725" b="0" i="0">
                <a:solidFill>
                  <a:srgbClr val="18382E"/>
                </a:solidFill>
                <a:latin typeface="Arial"/>
                <a:ea typeface="Arial"/>
                <a:cs typeface="Arial"/>
              </a:rPr>
              <a:t>Live market prices or availability.</a:t>
            </a:r>
          </a:p>
          <a:p>
            <a:endParaRPr sz="1725" b="0" i="0">
              <a:solidFill>
                <a:srgbClr val="18382E"/>
              </a:solidFill>
              <a:latin typeface="Arial"/>
              <a:ea typeface="Arial"/>
              <a:cs typeface="Arial"/>
            </a:endParaRPr>
          </a:p>
          <a:p>
            <a:pPr algn="l">
              <a:defRPr sz="1725" b="0" i="0">
                <a:solidFill>
                  <a:srgbClr val="18382E"/>
                </a:solidFill>
                <a:latin typeface="Arial"/>
                <a:ea typeface="Arial"/>
                <a:cs typeface="Arial"/>
              </a:defRPr>
            </a:pPr>
            <a:r>
              <a:rPr sz="1725" b="0" i="0">
                <a:solidFill>
                  <a:srgbClr val="18382E"/>
                </a:solidFill>
                <a:latin typeface="Arial"/>
                <a:ea typeface="Arial"/>
                <a:cs typeface="Arial"/>
              </a:rPr>
              <a:t>Verified reviews or official interest ratings.</a:t>
            </a:r>
          </a:p>
          <a:p>
            <a:endParaRPr sz="1725" b="0" i="0">
              <a:solidFill>
                <a:srgbClr val="18382E"/>
              </a:solidFill>
              <a:latin typeface="Arial"/>
              <a:ea typeface="Arial"/>
              <a:cs typeface="Arial"/>
            </a:endParaRPr>
          </a:p>
          <a:p>
            <a:pPr algn="l">
              <a:defRPr sz="1725" b="0" i="0">
                <a:solidFill>
                  <a:srgbClr val="18382E"/>
                </a:solidFill>
                <a:latin typeface="Arial"/>
                <a:ea typeface="Arial"/>
                <a:cs typeface="Arial"/>
              </a:defRPr>
            </a:pPr>
            <a:r>
              <a:rPr sz="1725" b="0" i="0">
                <a:solidFill>
                  <a:srgbClr val="18382E"/>
                </a:solidFill>
                <a:latin typeface="Arial"/>
                <a:ea typeface="Arial"/>
                <a:cs typeface="Arial"/>
              </a:rPr>
              <a:t>A strict budget cap, travel time, season or accessibility constraint.</a:t>
            </a:r>
          </a:p>
          <a:p>
            <a:endParaRPr sz="1725" b="0" i="0">
              <a:solidFill>
                <a:srgbClr val="18382E"/>
              </a:solidFill>
              <a:latin typeface="Arial"/>
              <a:ea typeface="Arial"/>
              <a:cs typeface="Arial"/>
            </a:endParaRPr>
          </a:p>
          <a:p>
            <a:pPr algn="l">
              <a:defRPr sz="1725" b="0" i="0">
                <a:solidFill>
                  <a:srgbClr val="18382E"/>
                </a:solidFill>
                <a:latin typeface="Arial"/>
                <a:ea typeface="Arial"/>
                <a:cs typeface="Arial"/>
              </a:defRPr>
            </a:pPr>
            <a:r>
              <a:rPr sz="1725" b="0" i="0">
                <a:solidFill>
                  <a:srgbClr val="18382E"/>
                </a:solidFill>
                <a:latin typeface="Arial"/>
                <a:ea typeface="Arial"/>
                <a:cs typeface="Arial"/>
              </a:rPr>
              <a:t>A guarantee that a trip suits a traveler.</a:t>
            </a:r>
          </a:p>
        </p:txBody>
      </p:sp>
      <p:sp>
        <p:nvSpPr>
          <p:cNvPr id="10" name="Rectangle: Rounded Corners 9">
            <a:extLst>
              <a:ext uri="{FF2B5EF4-FFF2-40B4-BE49-F238E27FC236}">
                <a16:creationId xmlns:a16="http://schemas.microsoft.com/office/drawing/2014/main" id="{8232089E-42A1-4DA5-8282-0ACF2A132949}"/>
              </a:ext>
            </a:extLst>
          </p:cNvPr>
          <p:cNvSpPr>
            <a:spLocks noGrp="1"/>
          </p:cNvSpPr>
          <p:nvPr/>
        </p:nvSpPr>
        <p:spPr>
          <a:xfrm>
            <a:off x="714375" y="5381625"/>
            <a:ext cx="10725150" cy="590550"/>
          </a:xfrm>
          <a:prstGeom prst="roundRect">
            <a:avLst>
              <a:gd name="adj" fmla="val 16129"/>
            </a:avLst>
          </a:prstGeom>
          <a:solidFill>
            <a:srgbClr val="E7EFE8"/>
          </a:solidFill>
          <a:ln w="0">
            <a:noFill/>
            <a:prstDash val="solid"/>
          </a:ln>
        </p:spPr>
        <p:txBody>
          <a:bodyPr/>
          <a:lstStyle/>
          <a:p>
            <a:endParaRPr lang="en-IN"/>
          </a:p>
        </p:txBody>
      </p:sp>
      <p:sp>
        <p:nvSpPr>
          <p:cNvPr id="11" name="Rectangle 10">
            <a:extLst>
              <a:ext uri="{FF2B5EF4-FFF2-40B4-BE49-F238E27FC236}">
                <a16:creationId xmlns:a16="http://schemas.microsoft.com/office/drawing/2014/main" id="{DF8E9D0B-F3EC-4D9E-83B3-D3DE2B87D264}"/>
              </a:ext>
            </a:extLst>
          </p:cNvPr>
          <p:cNvSpPr>
            <a:spLocks noGrp="1"/>
          </p:cNvSpPr>
          <p:nvPr/>
        </p:nvSpPr>
        <p:spPr>
          <a:xfrm>
            <a:off x="923925" y="5524500"/>
            <a:ext cx="10306050" cy="323850"/>
          </a:xfrm>
          <a:prstGeom prst="rect">
            <a:avLst/>
          </a:prstGeom>
          <a:noFill/>
          <a:ln w="0">
            <a:noFill/>
            <a:prstDash val="solid"/>
          </a:ln>
        </p:spPr>
        <p:txBody>
          <a:bodyPr wrap="square" lIns="0" tIns="0" rIns="0" bIns="0" anchor="t">
            <a:normAutofit/>
          </a:bodyPr>
          <a:lstStyle/>
          <a:p>
            <a:pPr algn="l">
              <a:defRPr sz="1650" b="1" i="0">
                <a:solidFill>
                  <a:srgbClr val="204C3E"/>
                </a:solidFill>
                <a:latin typeface="Arial"/>
                <a:ea typeface="Arial"/>
                <a:cs typeface="Arial"/>
              </a:defRPr>
            </a:pPr>
            <a:r>
              <a:rPr sz="1650" b="1" i="0">
                <a:solidFill>
                  <a:srgbClr val="204C3E"/>
                </a:solidFill>
                <a:latin typeface="Arial"/>
                <a:ea typeface="Arial"/>
                <a:cs typeface="Arial"/>
              </a:rPr>
              <a:t>This is a transparent ML learning demo built on illustrative project data.</a:t>
            </a:r>
          </a:p>
        </p:txBody>
      </p:sp>
    </p:spTree>
    <p:extLst>
      <p:ext uri="{BB962C8B-B14F-4D97-AF65-F5344CB8AC3E}">
        <p14:creationId xmlns:p14="http://schemas.microsoft.com/office/powerpoint/2010/main" val="445522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2820"/>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19907" r="19907"/>
          <a:stretch>
            <a:fillRect/>
          </a:stretch>
        </p:blipFill>
        <p:spPr>
          <a:xfrm>
            <a:off x="6000750" y="0"/>
            <a:ext cx="6191250" cy="6858000"/>
          </a:xfrm>
          <a:prstGeom prst="rect">
            <a:avLst/>
          </a:prstGeom>
        </p:spPr>
      </p:pic>
      <p:sp>
        <p:nvSpPr>
          <p:cNvPr id="2" name="Rectangle 1">
            <a:extLst>
              <a:ext uri="{FF2B5EF4-FFF2-40B4-BE49-F238E27FC236}">
                <a16:creationId xmlns:a16="http://schemas.microsoft.com/office/drawing/2014/main" id="{BA542934-A3C4-476C-B040-84031691FD7D}"/>
              </a:ext>
            </a:extLst>
          </p:cNvPr>
          <p:cNvSpPr>
            <a:spLocks noGrp="1"/>
          </p:cNvSpPr>
          <p:nvPr/>
        </p:nvSpPr>
        <p:spPr>
          <a:xfrm>
            <a:off x="0" y="0"/>
            <a:ext cx="6048375" cy="6858000"/>
          </a:xfrm>
          <a:prstGeom prst="rect">
            <a:avLst/>
          </a:prstGeom>
          <a:solidFill>
            <a:srgbClr val="112820"/>
          </a:solidFill>
          <a:ln w="0">
            <a:noFill/>
            <a:prstDash val="solid"/>
          </a:ln>
        </p:spPr>
        <p:txBody>
          <a:bodyPr/>
          <a:lstStyle/>
          <a:p>
            <a:endParaRPr lang="en-IN"/>
          </a:p>
        </p:txBody>
      </p:sp>
      <p:sp>
        <p:nvSpPr>
          <p:cNvPr id="3" name="Rectangle 2">
            <a:extLst>
              <a:ext uri="{FF2B5EF4-FFF2-40B4-BE49-F238E27FC236}">
                <a16:creationId xmlns:a16="http://schemas.microsoft.com/office/drawing/2014/main" id="{42D28E1A-1B39-40DE-ACAE-4E904F8B1545}"/>
              </a:ext>
            </a:extLst>
          </p:cNvPr>
          <p:cNvSpPr>
            <a:spLocks noGrp="1"/>
          </p:cNvSpPr>
          <p:nvPr/>
        </p:nvSpPr>
        <p:spPr>
          <a:xfrm>
            <a:off x="685800" y="1104900"/>
            <a:ext cx="4572000" cy="304800"/>
          </a:xfrm>
          <a:prstGeom prst="rect">
            <a:avLst/>
          </a:prstGeom>
          <a:noFill/>
          <a:ln w="0">
            <a:noFill/>
            <a:prstDash val="solid"/>
          </a:ln>
        </p:spPr>
        <p:txBody>
          <a:bodyPr wrap="square" lIns="0" tIns="0" rIns="0" bIns="0" anchor="t">
            <a:normAutofit/>
          </a:bodyPr>
          <a:lstStyle/>
          <a:p>
            <a:pPr algn="l">
              <a:defRPr sz="1350" b="1" i="0">
                <a:solidFill>
                  <a:srgbClr val="B9D9C5"/>
                </a:solidFill>
                <a:latin typeface="Arial"/>
                <a:ea typeface="Arial"/>
                <a:cs typeface="Arial"/>
              </a:defRPr>
            </a:pPr>
            <a:r>
              <a:rPr sz="1350" b="1" i="0">
                <a:solidFill>
                  <a:srgbClr val="B9D9C5"/>
                </a:solidFill>
                <a:latin typeface="Arial"/>
                <a:ea typeface="Arial"/>
                <a:cs typeface="Arial"/>
              </a:rPr>
              <a:t>KEY TAKEAWAY</a:t>
            </a:r>
          </a:p>
        </p:txBody>
      </p:sp>
      <p:sp>
        <p:nvSpPr>
          <p:cNvPr id="4" name="Rectangle 3">
            <a:extLst>
              <a:ext uri="{FF2B5EF4-FFF2-40B4-BE49-F238E27FC236}">
                <a16:creationId xmlns:a16="http://schemas.microsoft.com/office/drawing/2014/main" id="{36F557AD-545E-4791-A3EF-6D0AFF1F1880}"/>
              </a:ext>
            </a:extLst>
          </p:cNvPr>
          <p:cNvSpPr>
            <a:spLocks noGrp="1"/>
          </p:cNvSpPr>
          <p:nvPr/>
        </p:nvSpPr>
        <p:spPr>
          <a:xfrm>
            <a:off x="685800" y="1809750"/>
            <a:ext cx="4953000" cy="1943100"/>
          </a:xfrm>
          <a:prstGeom prst="rect">
            <a:avLst/>
          </a:prstGeom>
          <a:noFill/>
          <a:ln w="0">
            <a:noFill/>
            <a:prstDash val="solid"/>
          </a:ln>
        </p:spPr>
        <p:txBody>
          <a:bodyPr wrap="square" lIns="0" tIns="0" rIns="0" bIns="0" anchor="t">
            <a:normAutofit/>
          </a:bodyPr>
          <a:lstStyle/>
          <a:p>
            <a:pPr algn="l">
              <a:defRPr sz="3750" b="1" i="0">
                <a:solidFill>
                  <a:srgbClr val="FFFFFF"/>
                </a:solidFill>
                <a:latin typeface="Arial"/>
                <a:ea typeface="Arial"/>
                <a:cs typeface="Arial"/>
              </a:defRPr>
            </a:pPr>
            <a:r>
              <a:rPr sz="3750" b="1" i="0">
                <a:solidFill>
                  <a:srgbClr val="FFFFFF"/>
                </a:solidFill>
                <a:latin typeface="Arial"/>
                <a:ea typeface="Arial"/>
                <a:cs typeface="Arial"/>
              </a:rPr>
              <a:t>A clear path from</a:t>
            </a:r>
          </a:p>
          <a:p>
            <a:pPr algn="l">
              <a:defRPr sz="3750" b="1" i="0">
                <a:solidFill>
                  <a:srgbClr val="FFFFFF"/>
                </a:solidFill>
                <a:latin typeface="Arial"/>
                <a:ea typeface="Arial"/>
                <a:cs typeface="Arial"/>
              </a:defRPr>
            </a:pPr>
            <a:r>
              <a:rPr sz="3750" b="1" i="0">
                <a:solidFill>
                  <a:srgbClr val="FFFFFF"/>
                </a:solidFill>
                <a:latin typeface="Arial"/>
                <a:ea typeface="Arial"/>
                <a:cs typeface="Arial"/>
              </a:rPr>
              <a:t>travel preferences to</a:t>
            </a:r>
          </a:p>
          <a:p>
            <a:pPr algn="l">
              <a:defRPr sz="3750" b="1" i="0">
                <a:solidFill>
                  <a:srgbClr val="FFFFFF"/>
                </a:solidFill>
                <a:latin typeface="Arial"/>
                <a:ea typeface="Arial"/>
                <a:cs typeface="Arial"/>
              </a:defRPr>
            </a:pPr>
            <a:r>
              <a:rPr sz="3750" b="1" i="0">
                <a:solidFill>
                  <a:srgbClr val="FFFFFF"/>
                </a:solidFill>
                <a:latin typeface="Arial"/>
                <a:ea typeface="Arial"/>
                <a:cs typeface="Arial"/>
              </a:rPr>
              <a:t>a ranked shortlist</a:t>
            </a:r>
          </a:p>
        </p:txBody>
      </p:sp>
      <p:sp>
        <p:nvSpPr>
          <p:cNvPr id="5" name="Rectangle 4">
            <a:extLst>
              <a:ext uri="{FF2B5EF4-FFF2-40B4-BE49-F238E27FC236}">
                <a16:creationId xmlns:a16="http://schemas.microsoft.com/office/drawing/2014/main" id="{D30CB387-CAA7-4A34-96B1-0A95DC624B10}"/>
              </a:ext>
            </a:extLst>
          </p:cNvPr>
          <p:cNvSpPr>
            <a:spLocks noGrp="1"/>
          </p:cNvSpPr>
          <p:nvPr/>
        </p:nvSpPr>
        <p:spPr>
          <a:xfrm>
            <a:off x="704850" y="4095750"/>
            <a:ext cx="914400" cy="47625"/>
          </a:xfrm>
          <a:prstGeom prst="rect">
            <a:avLst/>
          </a:prstGeom>
          <a:solidFill>
            <a:srgbClr val="E9784D"/>
          </a:solidFill>
          <a:ln w="0">
            <a:noFill/>
            <a:prstDash val="solid"/>
          </a:ln>
        </p:spPr>
        <p:txBody>
          <a:bodyPr/>
          <a:lstStyle/>
          <a:p>
            <a:endParaRPr lang="en-IN"/>
          </a:p>
        </p:txBody>
      </p:sp>
      <p:sp>
        <p:nvSpPr>
          <p:cNvPr id="6" name="Rectangle 5">
            <a:extLst>
              <a:ext uri="{FF2B5EF4-FFF2-40B4-BE49-F238E27FC236}">
                <a16:creationId xmlns:a16="http://schemas.microsoft.com/office/drawing/2014/main" id="{6BED4895-8ED2-4822-8B5A-03EE604EC432}"/>
              </a:ext>
            </a:extLst>
          </p:cNvPr>
          <p:cNvSpPr>
            <a:spLocks noGrp="1"/>
          </p:cNvSpPr>
          <p:nvPr/>
        </p:nvSpPr>
        <p:spPr>
          <a:xfrm>
            <a:off x="704850" y="4448175"/>
            <a:ext cx="4524375" cy="1257300"/>
          </a:xfrm>
          <a:prstGeom prst="rect">
            <a:avLst/>
          </a:prstGeom>
          <a:noFill/>
          <a:ln w="0">
            <a:noFill/>
            <a:prstDash val="solid"/>
          </a:ln>
        </p:spPr>
        <p:txBody>
          <a:bodyPr wrap="square" lIns="0" tIns="0" rIns="0" bIns="0" anchor="t">
            <a:normAutofit/>
          </a:bodyPr>
          <a:lstStyle/>
          <a:p>
            <a:pPr algn="l">
              <a:defRPr sz="1800" b="0" i="0">
                <a:solidFill>
                  <a:srgbClr val="E5EEE8"/>
                </a:solidFill>
                <a:latin typeface="Arial"/>
                <a:ea typeface="Arial"/>
                <a:cs typeface="Arial"/>
              </a:defRPr>
            </a:pPr>
            <a:r>
              <a:rPr sz="1800" b="0" i="0">
                <a:solidFill>
                  <a:srgbClr val="E5EEE8"/>
                </a:solidFill>
                <a:latin typeface="Arial"/>
                <a:ea typeface="Arial"/>
                <a:cs typeface="Arial"/>
              </a:rPr>
              <a:t>Six standardized profile features.</a:t>
            </a:r>
          </a:p>
          <a:p>
            <a:pPr algn="l">
              <a:defRPr sz="1800" b="0" i="0">
                <a:solidFill>
                  <a:srgbClr val="E5EEE8"/>
                </a:solidFill>
                <a:latin typeface="Arial"/>
                <a:ea typeface="Arial"/>
                <a:cs typeface="Arial"/>
              </a:defRPr>
            </a:pPr>
            <a:r>
              <a:rPr sz="1800" b="0" i="0">
                <a:solidFill>
                  <a:srgbClr val="E5EEE8"/>
                </a:solidFill>
                <a:latin typeface="Arial"/>
                <a:ea typeface="Arial"/>
                <a:cs typeface="Arial"/>
              </a:rPr>
              <a:t>Five nearest destination examples.</a:t>
            </a:r>
          </a:p>
          <a:p>
            <a:pPr algn="l">
              <a:defRPr sz="1800" b="0" i="0">
                <a:solidFill>
                  <a:srgbClr val="E5EEE8"/>
                </a:solidFill>
                <a:latin typeface="Arial"/>
                <a:ea typeface="Arial"/>
                <a:cs typeface="Arial"/>
              </a:defRPr>
            </a:pPr>
            <a:r>
              <a:rPr sz="1800" b="0" i="0">
                <a:solidFill>
                  <a:srgbClr val="E5EEE8"/>
                </a:solidFill>
                <a:latin typeface="Arial"/>
                <a:ea typeface="Arial"/>
                <a:cs typeface="Arial"/>
              </a:rPr>
              <a:t>A distance the user can inspect.</a:t>
            </a:r>
          </a:p>
        </p:txBody>
      </p:sp>
      <p:sp>
        <p:nvSpPr>
          <p:cNvPr id="7" name="Rectangle 6">
            <a:extLst>
              <a:ext uri="{FF2B5EF4-FFF2-40B4-BE49-F238E27FC236}">
                <a16:creationId xmlns:a16="http://schemas.microsoft.com/office/drawing/2014/main" id="{C6985E66-2391-4CAB-9C46-DD32A1108C45}"/>
              </a:ext>
            </a:extLst>
          </p:cNvPr>
          <p:cNvSpPr>
            <a:spLocks noGrp="1"/>
          </p:cNvSpPr>
          <p:nvPr/>
        </p:nvSpPr>
        <p:spPr>
          <a:xfrm>
            <a:off x="704850" y="6019800"/>
            <a:ext cx="3714750" cy="333375"/>
          </a:xfrm>
          <a:prstGeom prst="rect">
            <a:avLst/>
          </a:prstGeom>
          <a:noFill/>
          <a:ln w="0">
            <a:noFill/>
            <a:prstDash val="solid"/>
          </a:ln>
        </p:spPr>
        <p:txBody>
          <a:bodyPr wrap="square" lIns="0" tIns="0" rIns="0" bIns="0" anchor="t">
            <a:normAutofit/>
          </a:bodyPr>
          <a:lstStyle/>
          <a:p>
            <a:pPr algn="l">
              <a:defRPr sz="1800" b="1" i="0">
                <a:solidFill>
                  <a:srgbClr val="FFFFFF"/>
                </a:solidFill>
                <a:latin typeface="Arial"/>
                <a:ea typeface="Arial"/>
                <a:cs typeface="Arial"/>
              </a:defRPr>
            </a:pPr>
            <a:r>
              <a:rPr sz="1800" b="1" i="0">
                <a:solidFill>
                  <a:srgbClr val="FFFFFF"/>
                </a:solidFill>
                <a:latin typeface="Arial"/>
                <a:ea typeface="Arial"/>
                <a:cs typeface="Arial"/>
              </a:rPr>
              <a:t>Questions</a:t>
            </a:r>
          </a:p>
        </p:txBody>
      </p:sp>
    </p:spTree>
    <p:extLst>
      <p:ext uri="{BB962C8B-B14F-4D97-AF65-F5344CB8AC3E}">
        <p14:creationId xmlns:p14="http://schemas.microsoft.com/office/powerpoint/2010/main" val="2192202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2257</Words>
  <Application>Microsoft Office PowerPoint</Application>
  <DocSecurity>0</DocSecurity>
  <PresentationFormat>Widescreen</PresentationFormat>
  <Paragraphs>271</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Kirtesh Zilpe</cp:lastModifiedBy>
  <cp:revision>2</cp:revision>
  <dcterms:created xsi:type="dcterms:W3CDTF">2026-09-27T13:13:53Z</dcterms:created>
  <dcterms:modified xsi:type="dcterms:W3CDTF">2026-09-27T13:43:51Z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2026-09-27T13:43:07Z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341e1eaf-e07c-485a-8f0b-9dca14c5cea2</vt:lpwstr>
  </property>
  <property fmtid="{D5CDD505-2E9C-101B-9397-08002B2CF9AE}" pid="7" name="MSIP_Label_defa4170-0d19-0005-0004-bc88714345d2_ActionId">
    <vt:lpwstr>8703a493-6457-4646-846c-4b6288756b80</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